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Arimo" panose="020B0604020202020204" charset="0"/>
      <p:regular r:id="rId23"/>
    </p:embeddedFont>
    <p:embeddedFont>
      <p:font typeface="Cooper Hewitt Bold" panose="020B0604020202020204" charset="0"/>
      <p:regular r:id="rId24"/>
    </p:embeddedFont>
    <p:embeddedFont>
      <p:font typeface="Montserrat" panose="00000500000000000000" pitchFamily="2" charset="0"/>
      <p:regular r:id="rId25"/>
      <p:bold r:id="rId26"/>
      <p:italic r:id="rId27"/>
      <p:boldItalic r:id="rId28"/>
    </p:embeddedFont>
    <p:embeddedFont>
      <p:font typeface="Montserrat Bold" panose="00000800000000000000" charset="0"/>
      <p:regular r:id="rId29"/>
    </p:embeddedFont>
    <p:embeddedFont>
      <p:font typeface="Nunito Sans Condensed Bold" panose="020B0604020202020204" charset="0"/>
      <p:regular r:id="rId30"/>
    </p:embeddedFont>
    <p:embeddedFont>
      <p:font typeface="Poppins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9.jpe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jpeg"/><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jpeg"/><Relationship Id="rId7" Type="http://schemas.openxmlformats.org/officeDocument/2006/relationships/image" Target="../media/image27.svg"/><Relationship Id="rId2" Type="http://schemas.openxmlformats.org/officeDocument/2006/relationships/image" Target="../media/image22.sv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jpeg"/><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29.jpeg"/><Relationship Id="rId4" Type="http://schemas.openxmlformats.org/officeDocument/2006/relationships/image" Target="../media/image18.svg"/></Relationships>
</file>

<file path=ppt/slides/_rels/slide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31.sv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33.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32.jpe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43.png"/><Relationship Id="rId3" Type="http://schemas.openxmlformats.org/officeDocument/2006/relationships/image" Target="../media/image7.jpeg"/><Relationship Id="rId7" Type="http://schemas.openxmlformats.org/officeDocument/2006/relationships/image" Target="../media/image37.svg"/><Relationship Id="rId12" Type="http://schemas.openxmlformats.org/officeDocument/2006/relationships/image" Target="../media/image42.png"/><Relationship Id="rId2" Type="http://schemas.openxmlformats.org/officeDocument/2006/relationships/hyperlink" Target="https://www.kaggle.com/datasets/shivamb/disney-movies-and-tv-shows" TargetMode="External"/><Relationship Id="rId16"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36.svg"/><Relationship Id="rId11" Type="http://schemas.openxmlformats.org/officeDocument/2006/relationships/image" Target="../media/image41.png"/><Relationship Id="rId5" Type="http://schemas.openxmlformats.org/officeDocument/2006/relationships/image" Target="../media/image35.sv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4.svg"/><Relationship Id="rId9" Type="http://schemas.openxmlformats.org/officeDocument/2006/relationships/image" Target="../media/image39.png"/><Relationship Id="rId14" Type="http://schemas.openxmlformats.org/officeDocument/2006/relationships/image" Target="../media/image44.pn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47.jpe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49.svg"/></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50.jpeg"/><Relationship Id="rId4" Type="http://schemas.openxmlformats.org/officeDocument/2006/relationships/image" Target="../media/image18.svg"/></Relationships>
</file>

<file path=ppt/slides/_rels/slide12.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svg"/></Relationships>
</file>

<file path=ppt/slides/_rels/slide13.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2.svg"/></Relationships>
</file>

<file path=ppt/slides/_rels/slide14.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2.svg"/></Relationships>
</file>

<file path=ppt/slides/_rels/slide15.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2.svg"/></Relationships>
</file>

<file path=ppt/slides/_rels/slide16.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57.png"/><Relationship Id="rId4" Type="http://schemas.openxmlformats.org/officeDocument/2006/relationships/image" Target="../media/image52.svg"/></Relationships>
</file>

<file path=ppt/slides/_rels/slide1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59.svg"/></Relationships>
</file>

<file path=ppt/slides/_rels/slide18.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8.svg"/><Relationship Id="rId7" Type="http://schemas.openxmlformats.org/officeDocument/2006/relationships/image" Target="../media/image63.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2.svg"/><Relationship Id="rId5" Type="http://schemas.openxmlformats.org/officeDocument/2006/relationships/image" Target="../media/image59.svg"/><Relationship Id="rId4" Type="http://schemas.openxmlformats.org/officeDocument/2006/relationships/image" Target="../media/image61.svg"/></Relationships>
</file>

<file path=ppt/slides/_rels/slide19.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65.jpeg"/><Relationship Id="rId4" Type="http://schemas.openxmlformats.org/officeDocument/2006/relationships/image" Target="../media/image18.svg"/></Relationships>
</file>

<file path=ppt/slides/_rels/slide20.xml.rels><?xml version="1.0" encoding="UTF-8" standalone="yes"?>
<Relationships xmlns="http://schemas.openxmlformats.org/package/2006/relationships"><Relationship Id="rId3" Type="http://schemas.openxmlformats.org/officeDocument/2006/relationships/image" Target="../media/image66.svg"/><Relationship Id="rId7" Type="http://schemas.openxmlformats.org/officeDocument/2006/relationships/image" Target="../media/image70.jpeg"/><Relationship Id="rId2" Type="http://schemas.openxmlformats.org/officeDocument/2006/relationships/image" Target="../media/image7.jpeg"/><Relationship Id="rId1" Type="http://schemas.openxmlformats.org/officeDocument/2006/relationships/slideLayout" Target="../slideLayouts/slideLayout7.xml"/><Relationship Id="rId6" Type="http://schemas.openxmlformats.org/officeDocument/2006/relationships/image" Target="../media/image69.svg"/><Relationship Id="rId5" Type="http://schemas.openxmlformats.org/officeDocument/2006/relationships/image" Target="../media/image68.jpeg"/><Relationship Id="rId4" Type="http://schemas.openxmlformats.org/officeDocument/2006/relationships/image" Target="../media/image67.svg"/></Relationships>
</file>

<file path=ppt/slides/_rels/slide21.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1.svg"/><Relationship Id="rId7" Type="http://schemas.openxmlformats.org/officeDocument/2006/relationships/image" Target="../media/image75.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4.svg"/><Relationship Id="rId5" Type="http://schemas.openxmlformats.org/officeDocument/2006/relationships/image" Target="../media/image73.svg"/><Relationship Id="rId4" Type="http://schemas.openxmlformats.org/officeDocument/2006/relationships/image" Target="../media/image7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60120"/>
            <a:ext cx="18288000" cy="12211050"/>
            <a:chOff x="0" y="0"/>
            <a:chExt cx="24384000" cy="16281400"/>
          </a:xfrm>
        </p:grpSpPr>
        <p:sp>
          <p:nvSpPr>
            <p:cNvPr id="3" name="Freeform 3"/>
            <p:cNvSpPr/>
            <p:nvPr/>
          </p:nvSpPr>
          <p:spPr>
            <a:xfrm>
              <a:off x="0" y="0"/>
              <a:ext cx="24384000" cy="16281400"/>
            </a:xfrm>
            <a:custGeom>
              <a:avLst/>
              <a:gdLst/>
              <a:ahLst/>
              <a:cxnLst/>
              <a:rect l="l" t="t" r="r" b="b"/>
              <a:pathLst>
                <a:path w="24384000" h="16281400">
                  <a:moveTo>
                    <a:pt x="0" y="0"/>
                  </a:moveTo>
                  <a:lnTo>
                    <a:pt x="24384000" y="0"/>
                  </a:lnTo>
                  <a:lnTo>
                    <a:pt x="24384000" y="16281400"/>
                  </a:lnTo>
                  <a:lnTo>
                    <a:pt x="0" y="16281400"/>
                  </a:lnTo>
                  <a:lnTo>
                    <a:pt x="0" y="0"/>
                  </a:lnTo>
                  <a:close/>
                </a:path>
              </a:pathLst>
            </a:custGeom>
            <a:blipFill>
              <a:blip r:embed="rId2">
                <a:alphaModFix amt="9000"/>
              </a:blip>
              <a:stretch>
                <a:fillRect/>
              </a:stretch>
            </a:blipFill>
          </p:spPr>
        </p:sp>
      </p:grpSp>
      <p:sp>
        <p:nvSpPr>
          <p:cNvPr id="4" name="Freeform 4"/>
          <p:cNvSpPr/>
          <p:nvPr/>
        </p:nvSpPr>
        <p:spPr>
          <a:xfrm>
            <a:off x="-66551" y="-66551"/>
            <a:ext cx="18421093" cy="10417045"/>
          </a:xfrm>
          <a:custGeom>
            <a:avLst/>
            <a:gdLst/>
            <a:ahLst/>
            <a:cxnLst/>
            <a:rect l="l" t="t" r="r" b="b"/>
            <a:pathLst>
              <a:path w="18421093" h="10417045">
                <a:moveTo>
                  <a:pt x="0" y="0"/>
                </a:moveTo>
                <a:lnTo>
                  <a:pt x="18421093" y="0"/>
                </a:lnTo>
                <a:lnTo>
                  <a:pt x="18421093" y="10417045"/>
                </a:lnTo>
                <a:lnTo>
                  <a:pt x="0" y="10417045"/>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2096960" y="1538211"/>
            <a:ext cx="6191040" cy="7259050"/>
            <a:chOff x="0" y="0"/>
            <a:chExt cx="8254721" cy="9678734"/>
          </a:xfrm>
        </p:grpSpPr>
        <p:sp>
          <p:nvSpPr>
            <p:cNvPr id="6" name="Freeform 6"/>
            <p:cNvSpPr/>
            <p:nvPr/>
          </p:nvSpPr>
          <p:spPr>
            <a:xfrm>
              <a:off x="0" y="0"/>
              <a:ext cx="8255254" cy="9679178"/>
            </a:xfrm>
            <a:custGeom>
              <a:avLst/>
              <a:gdLst/>
              <a:ahLst/>
              <a:cxnLst/>
              <a:rect l="l" t="t" r="r" b="b"/>
              <a:pathLst>
                <a:path w="8255254" h="9679178">
                  <a:moveTo>
                    <a:pt x="4836160" y="0"/>
                  </a:moveTo>
                  <a:cubicBezTo>
                    <a:pt x="4758055" y="0"/>
                    <a:pt x="4679950" y="2032"/>
                    <a:pt x="4601845" y="5842"/>
                  </a:cubicBezTo>
                  <a:cubicBezTo>
                    <a:pt x="4522724" y="9779"/>
                    <a:pt x="4443730" y="15494"/>
                    <a:pt x="4364990" y="23368"/>
                  </a:cubicBezTo>
                  <a:cubicBezTo>
                    <a:pt x="4286250" y="31242"/>
                    <a:pt x="4207637" y="40767"/>
                    <a:pt x="4129278" y="52451"/>
                  </a:cubicBezTo>
                  <a:cubicBezTo>
                    <a:pt x="4050919" y="64135"/>
                    <a:pt x="3972941" y="77597"/>
                    <a:pt x="3895217" y="93091"/>
                  </a:cubicBezTo>
                  <a:cubicBezTo>
                    <a:pt x="3817493" y="108585"/>
                    <a:pt x="3740277" y="125857"/>
                    <a:pt x="3663442" y="145161"/>
                  </a:cubicBezTo>
                  <a:cubicBezTo>
                    <a:pt x="3586607" y="164465"/>
                    <a:pt x="3510280" y="185547"/>
                    <a:pt x="3434461" y="208534"/>
                  </a:cubicBezTo>
                  <a:cubicBezTo>
                    <a:pt x="3358642" y="231521"/>
                    <a:pt x="3283458" y="256413"/>
                    <a:pt x="3208909" y="283083"/>
                  </a:cubicBezTo>
                  <a:cubicBezTo>
                    <a:pt x="3134360" y="309753"/>
                    <a:pt x="3060446" y="338201"/>
                    <a:pt x="2987294" y="368554"/>
                  </a:cubicBezTo>
                  <a:cubicBezTo>
                    <a:pt x="2914142" y="398907"/>
                    <a:pt x="2841752" y="430911"/>
                    <a:pt x="2770124" y="464820"/>
                  </a:cubicBezTo>
                  <a:cubicBezTo>
                    <a:pt x="2698496" y="498729"/>
                    <a:pt x="2627757" y="534289"/>
                    <a:pt x="2557907" y="571627"/>
                  </a:cubicBezTo>
                  <a:cubicBezTo>
                    <a:pt x="2488057" y="608965"/>
                    <a:pt x="2419223" y="647954"/>
                    <a:pt x="2351278" y="688721"/>
                  </a:cubicBezTo>
                  <a:cubicBezTo>
                    <a:pt x="2283333" y="729488"/>
                    <a:pt x="2216404" y="771779"/>
                    <a:pt x="2150618" y="815848"/>
                  </a:cubicBezTo>
                  <a:cubicBezTo>
                    <a:pt x="2084832" y="859917"/>
                    <a:pt x="2020062" y="905383"/>
                    <a:pt x="1956435" y="952627"/>
                  </a:cubicBezTo>
                  <a:cubicBezTo>
                    <a:pt x="1892808" y="999871"/>
                    <a:pt x="1830451" y="1048512"/>
                    <a:pt x="1769237" y="1098804"/>
                  </a:cubicBezTo>
                  <a:cubicBezTo>
                    <a:pt x="1708023" y="1149096"/>
                    <a:pt x="1648079" y="1200785"/>
                    <a:pt x="1589405" y="1253998"/>
                  </a:cubicBezTo>
                  <a:cubicBezTo>
                    <a:pt x="1530731" y="1307211"/>
                    <a:pt x="1473327" y="1361821"/>
                    <a:pt x="1417320" y="1417828"/>
                  </a:cubicBezTo>
                  <a:cubicBezTo>
                    <a:pt x="1361313" y="1473835"/>
                    <a:pt x="1306703" y="1531112"/>
                    <a:pt x="1253490" y="1589913"/>
                  </a:cubicBezTo>
                  <a:cubicBezTo>
                    <a:pt x="1200277" y="1648714"/>
                    <a:pt x="1148588" y="1708531"/>
                    <a:pt x="1098296" y="1769745"/>
                  </a:cubicBezTo>
                  <a:cubicBezTo>
                    <a:pt x="1048004" y="1830959"/>
                    <a:pt x="999363" y="1893443"/>
                    <a:pt x="952119" y="1956943"/>
                  </a:cubicBezTo>
                  <a:cubicBezTo>
                    <a:pt x="904875" y="2020443"/>
                    <a:pt x="859409" y="2085340"/>
                    <a:pt x="815340" y="2151126"/>
                  </a:cubicBezTo>
                  <a:cubicBezTo>
                    <a:pt x="771271" y="2216912"/>
                    <a:pt x="728980" y="2283841"/>
                    <a:pt x="688213" y="2351786"/>
                  </a:cubicBezTo>
                  <a:cubicBezTo>
                    <a:pt x="647446" y="2419731"/>
                    <a:pt x="608457" y="2488565"/>
                    <a:pt x="571119" y="2558415"/>
                  </a:cubicBezTo>
                  <a:cubicBezTo>
                    <a:pt x="533781" y="2628265"/>
                    <a:pt x="498221" y="2699004"/>
                    <a:pt x="464312" y="2770632"/>
                  </a:cubicBezTo>
                  <a:cubicBezTo>
                    <a:pt x="430403" y="2842260"/>
                    <a:pt x="398399" y="2914650"/>
                    <a:pt x="368046" y="2987802"/>
                  </a:cubicBezTo>
                  <a:cubicBezTo>
                    <a:pt x="337693" y="3060954"/>
                    <a:pt x="309245" y="3134868"/>
                    <a:pt x="282575" y="3209417"/>
                  </a:cubicBezTo>
                  <a:cubicBezTo>
                    <a:pt x="255905" y="3283966"/>
                    <a:pt x="231013" y="3359150"/>
                    <a:pt x="208026" y="3434969"/>
                  </a:cubicBezTo>
                  <a:cubicBezTo>
                    <a:pt x="185039" y="3510788"/>
                    <a:pt x="163957" y="3587115"/>
                    <a:pt x="144653" y="3663950"/>
                  </a:cubicBezTo>
                  <a:cubicBezTo>
                    <a:pt x="125349" y="3740785"/>
                    <a:pt x="108077" y="3818001"/>
                    <a:pt x="92583" y="3895725"/>
                  </a:cubicBezTo>
                  <a:cubicBezTo>
                    <a:pt x="77089" y="3973449"/>
                    <a:pt x="63627" y="4051427"/>
                    <a:pt x="51943" y="4129786"/>
                  </a:cubicBezTo>
                  <a:cubicBezTo>
                    <a:pt x="40259" y="4208145"/>
                    <a:pt x="31115" y="4286250"/>
                    <a:pt x="23241" y="4364990"/>
                  </a:cubicBezTo>
                  <a:cubicBezTo>
                    <a:pt x="15367" y="4443730"/>
                    <a:pt x="9652" y="4522851"/>
                    <a:pt x="5842" y="4601972"/>
                  </a:cubicBezTo>
                  <a:cubicBezTo>
                    <a:pt x="2032" y="4681093"/>
                    <a:pt x="0" y="4760087"/>
                    <a:pt x="0" y="4839208"/>
                  </a:cubicBezTo>
                  <a:lnTo>
                    <a:pt x="0" y="4839335"/>
                  </a:lnTo>
                  <a:cubicBezTo>
                    <a:pt x="0" y="4918583"/>
                    <a:pt x="1905" y="4997704"/>
                    <a:pt x="5842" y="5076825"/>
                  </a:cubicBezTo>
                  <a:cubicBezTo>
                    <a:pt x="9779" y="5155946"/>
                    <a:pt x="15494" y="5234940"/>
                    <a:pt x="23368" y="5313680"/>
                  </a:cubicBezTo>
                  <a:cubicBezTo>
                    <a:pt x="31242" y="5392420"/>
                    <a:pt x="40767" y="5471033"/>
                    <a:pt x="52451" y="5549392"/>
                  </a:cubicBezTo>
                  <a:cubicBezTo>
                    <a:pt x="64135" y="5627751"/>
                    <a:pt x="77597" y="5705729"/>
                    <a:pt x="93091" y="5783453"/>
                  </a:cubicBezTo>
                  <a:cubicBezTo>
                    <a:pt x="108585" y="5861177"/>
                    <a:pt x="125857" y="5938393"/>
                    <a:pt x="145161" y="6015228"/>
                  </a:cubicBezTo>
                  <a:cubicBezTo>
                    <a:pt x="164465" y="6092063"/>
                    <a:pt x="185547" y="6168390"/>
                    <a:pt x="208534" y="6244209"/>
                  </a:cubicBezTo>
                  <a:cubicBezTo>
                    <a:pt x="231521" y="6320028"/>
                    <a:pt x="256413" y="6395212"/>
                    <a:pt x="283083" y="6469761"/>
                  </a:cubicBezTo>
                  <a:cubicBezTo>
                    <a:pt x="309753" y="6544310"/>
                    <a:pt x="338201" y="6618224"/>
                    <a:pt x="368554" y="6691376"/>
                  </a:cubicBezTo>
                  <a:cubicBezTo>
                    <a:pt x="398907" y="6764528"/>
                    <a:pt x="430911" y="6836918"/>
                    <a:pt x="464820" y="6908547"/>
                  </a:cubicBezTo>
                  <a:cubicBezTo>
                    <a:pt x="498729" y="6980174"/>
                    <a:pt x="534289" y="7050913"/>
                    <a:pt x="571627" y="7120763"/>
                  </a:cubicBezTo>
                  <a:cubicBezTo>
                    <a:pt x="608965" y="7190613"/>
                    <a:pt x="647954" y="7259447"/>
                    <a:pt x="688721" y="7327392"/>
                  </a:cubicBezTo>
                  <a:cubicBezTo>
                    <a:pt x="729488" y="7395337"/>
                    <a:pt x="771779" y="7462266"/>
                    <a:pt x="815848" y="7528052"/>
                  </a:cubicBezTo>
                  <a:cubicBezTo>
                    <a:pt x="859917" y="7593838"/>
                    <a:pt x="905383" y="7658608"/>
                    <a:pt x="952627" y="7722235"/>
                  </a:cubicBezTo>
                  <a:cubicBezTo>
                    <a:pt x="999871" y="7785862"/>
                    <a:pt x="1048512" y="7848219"/>
                    <a:pt x="1098804" y="7909433"/>
                  </a:cubicBezTo>
                  <a:cubicBezTo>
                    <a:pt x="1149096" y="7970647"/>
                    <a:pt x="1200785" y="8030591"/>
                    <a:pt x="1253998" y="8089265"/>
                  </a:cubicBezTo>
                  <a:cubicBezTo>
                    <a:pt x="1307211" y="8147939"/>
                    <a:pt x="1361821" y="8205343"/>
                    <a:pt x="1417828" y="8261350"/>
                  </a:cubicBezTo>
                  <a:cubicBezTo>
                    <a:pt x="1473835" y="8317357"/>
                    <a:pt x="1531112" y="8371967"/>
                    <a:pt x="1589913" y="8425180"/>
                  </a:cubicBezTo>
                  <a:cubicBezTo>
                    <a:pt x="1648714" y="8478393"/>
                    <a:pt x="1708531" y="8530082"/>
                    <a:pt x="1769745" y="8580374"/>
                  </a:cubicBezTo>
                  <a:cubicBezTo>
                    <a:pt x="1830959" y="8630666"/>
                    <a:pt x="1893443" y="8679307"/>
                    <a:pt x="1956943" y="8726551"/>
                  </a:cubicBezTo>
                  <a:cubicBezTo>
                    <a:pt x="2020443" y="8773795"/>
                    <a:pt x="2085340" y="8819261"/>
                    <a:pt x="2151126" y="8863330"/>
                  </a:cubicBezTo>
                  <a:cubicBezTo>
                    <a:pt x="2216912" y="8907399"/>
                    <a:pt x="2283841" y="8949690"/>
                    <a:pt x="2351786" y="8990457"/>
                  </a:cubicBezTo>
                  <a:cubicBezTo>
                    <a:pt x="2419731" y="9031224"/>
                    <a:pt x="2488565" y="9070213"/>
                    <a:pt x="2558415" y="9107551"/>
                  </a:cubicBezTo>
                  <a:cubicBezTo>
                    <a:pt x="2628265" y="9144889"/>
                    <a:pt x="2699004" y="9180449"/>
                    <a:pt x="2770632" y="9214358"/>
                  </a:cubicBezTo>
                  <a:cubicBezTo>
                    <a:pt x="2842260" y="9248267"/>
                    <a:pt x="2914650" y="9280272"/>
                    <a:pt x="2987802" y="9310624"/>
                  </a:cubicBezTo>
                  <a:cubicBezTo>
                    <a:pt x="3060954" y="9340977"/>
                    <a:pt x="3134868" y="9369425"/>
                    <a:pt x="3209417" y="9396095"/>
                  </a:cubicBezTo>
                  <a:cubicBezTo>
                    <a:pt x="3283966" y="9422765"/>
                    <a:pt x="3359150" y="9447657"/>
                    <a:pt x="3434969" y="9470644"/>
                  </a:cubicBezTo>
                  <a:cubicBezTo>
                    <a:pt x="3510788" y="9493631"/>
                    <a:pt x="3587115" y="9514713"/>
                    <a:pt x="3663950" y="9534017"/>
                  </a:cubicBezTo>
                  <a:cubicBezTo>
                    <a:pt x="3740785" y="9553322"/>
                    <a:pt x="3818001" y="9570593"/>
                    <a:pt x="3895725" y="9586087"/>
                  </a:cubicBezTo>
                  <a:cubicBezTo>
                    <a:pt x="3973449" y="9601581"/>
                    <a:pt x="4051427" y="9615043"/>
                    <a:pt x="4129786" y="9626727"/>
                  </a:cubicBezTo>
                  <a:cubicBezTo>
                    <a:pt x="4208145" y="9638411"/>
                    <a:pt x="4286758" y="9648063"/>
                    <a:pt x="4365498" y="9655810"/>
                  </a:cubicBezTo>
                  <a:cubicBezTo>
                    <a:pt x="4444238" y="9663557"/>
                    <a:pt x="4523232" y="9669399"/>
                    <a:pt x="4602353" y="9673336"/>
                  </a:cubicBezTo>
                  <a:cubicBezTo>
                    <a:pt x="4681474" y="9677273"/>
                    <a:pt x="4760595" y="9679178"/>
                    <a:pt x="4839843" y="9679178"/>
                  </a:cubicBezTo>
                  <a:cubicBezTo>
                    <a:pt x="4919091" y="9679178"/>
                    <a:pt x="4998212" y="9677273"/>
                    <a:pt x="5077333" y="9673336"/>
                  </a:cubicBezTo>
                  <a:cubicBezTo>
                    <a:pt x="5156454" y="9669399"/>
                    <a:pt x="5235448" y="9663684"/>
                    <a:pt x="5314188" y="9655810"/>
                  </a:cubicBezTo>
                  <a:cubicBezTo>
                    <a:pt x="5392928" y="9647936"/>
                    <a:pt x="5471541" y="9638411"/>
                    <a:pt x="5549900" y="9626727"/>
                  </a:cubicBezTo>
                  <a:cubicBezTo>
                    <a:pt x="5628259" y="9615043"/>
                    <a:pt x="5706237" y="9601581"/>
                    <a:pt x="5783961" y="9586087"/>
                  </a:cubicBezTo>
                  <a:cubicBezTo>
                    <a:pt x="5861685" y="9570593"/>
                    <a:pt x="5938901" y="9553322"/>
                    <a:pt x="6015736" y="9534017"/>
                  </a:cubicBezTo>
                  <a:cubicBezTo>
                    <a:pt x="6092571" y="9514713"/>
                    <a:pt x="6168898" y="9493631"/>
                    <a:pt x="6244717" y="9470644"/>
                  </a:cubicBezTo>
                  <a:cubicBezTo>
                    <a:pt x="6320536" y="9447657"/>
                    <a:pt x="6395720" y="9422765"/>
                    <a:pt x="6470269" y="9396095"/>
                  </a:cubicBezTo>
                  <a:cubicBezTo>
                    <a:pt x="6544818" y="9369425"/>
                    <a:pt x="6618732" y="9340977"/>
                    <a:pt x="6691884" y="9310624"/>
                  </a:cubicBezTo>
                  <a:cubicBezTo>
                    <a:pt x="6765036" y="9280272"/>
                    <a:pt x="6837426" y="9248267"/>
                    <a:pt x="6909054" y="9214358"/>
                  </a:cubicBezTo>
                  <a:cubicBezTo>
                    <a:pt x="6980682" y="9180449"/>
                    <a:pt x="7051421" y="9144889"/>
                    <a:pt x="7121271" y="9107551"/>
                  </a:cubicBezTo>
                  <a:cubicBezTo>
                    <a:pt x="7191121" y="9070213"/>
                    <a:pt x="7259955" y="9031224"/>
                    <a:pt x="7327900" y="8990457"/>
                  </a:cubicBezTo>
                  <a:cubicBezTo>
                    <a:pt x="7395845" y="8949690"/>
                    <a:pt x="7462774" y="8907399"/>
                    <a:pt x="7528560" y="8863330"/>
                  </a:cubicBezTo>
                  <a:cubicBezTo>
                    <a:pt x="7594346" y="8819261"/>
                    <a:pt x="7659116" y="8773795"/>
                    <a:pt x="7722743" y="8726551"/>
                  </a:cubicBezTo>
                  <a:cubicBezTo>
                    <a:pt x="7786370" y="8679307"/>
                    <a:pt x="7848727" y="8630666"/>
                    <a:pt x="7909941" y="8580374"/>
                  </a:cubicBezTo>
                  <a:cubicBezTo>
                    <a:pt x="7971155" y="8530082"/>
                    <a:pt x="8031099" y="8478393"/>
                    <a:pt x="8089773" y="8425180"/>
                  </a:cubicBezTo>
                  <a:cubicBezTo>
                    <a:pt x="8146161" y="8374126"/>
                    <a:pt x="8201279" y="8321675"/>
                    <a:pt x="8255254" y="8267954"/>
                  </a:cubicBezTo>
                  <a:lnTo>
                    <a:pt x="8255254" y="1410843"/>
                  </a:lnTo>
                  <a:cubicBezTo>
                    <a:pt x="8201406" y="1357122"/>
                    <a:pt x="8146161" y="1304798"/>
                    <a:pt x="8089773" y="1253617"/>
                  </a:cubicBezTo>
                  <a:cubicBezTo>
                    <a:pt x="8031099" y="1200404"/>
                    <a:pt x="7971155" y="1148715"/>
                    <a:pt x="7909941" y="1098423"/>
                  </a:cubicBezTo>
                  <a:cubicBezTo>
                    <a:pt x="7848727" y="1048131"/>
                    <a:pt x="7786243" y="999490"/>
                    <a:pt x="7722743" y="952246"/>
                  </a:cubicBezTo>
                  <a:cubicBezTo>
                    <a:pt x="7659243" y="905002"/>
                    <a:pt x="7594346" y="859536"/>
                    <a:pt x="7528560" y="815467"/>
                  </a:cubicBezTo>
                  <a:cubicBezTo>
                    <a:pt x="7462774" y="771398"/>
                    <a:pt x="7395845" y="729107"/>
                    <a:pt x="7327900" y="688340"/>
                  </a:cubicBezTo>
                  <a:cubicBezTo>
                    <a:pt x="7259955" y="647573"/>
                    <a:pt x="7191121" y="608584"/>
                    <a:pt x="7121271" y="571246"/>
                  </a:cubicBezTo>
                  <a:cubicBezTo>
                    <a:pt x="7051421" y="533908"/>
                    <a:pt x="6980682" y="498348"/>
                    <a:pt x="6909054" y="464439"/>
                  </a:cubicBezTo>
                  <a:cubicBezTo>
                    <a:pt x="6837426" y="430530"/>
                    <a:pt x="6765036" y="398526"/>
                    <a:pt x="6691884" y="368173"/>
                  </a:cubicBezTo>
                  <a:cubicBezTo>
                    <a:pt x="6618732" y="337820"/>
                    <a:pt x="6544818" y="309372"/>
                    <a:pt x="6470269" y="282702"/>
                  </a:cubicBezTo>
                  <a:cubicBezTo>
                    <a:pt x="6395720" y="256032"/>
                    <a:pt x="6320536" y="231140"/>
                    <a:pt x="6244717" y="208153"/>
                  </a:cubicBezTo>
                  <a:cubicBezTo>
                    <a:pt x="6168898" y="185166"/>
                    <a:pt x="6092571" y="164084"/>
                    <a:pt x="6015736" y="144780"/>
                  </a:cubicBezTo>
                  <a:cubicBezTo>
                    <a:pt x="5938901" y="125476"/>
                    <a:pt x="5861685" y="108204"/>
                    <a:pt x="5783961" y="92710"/>
                  </a:cubicBezTo>
                  <a:cubicBezTo>
                    <a:pt x="5706237" y="77216"/>
                    <a:pt x="5628259" y="63754"/>
                    <a:pt x="5549900" y="52070"/>
                  </a:cubicBezTo>
                  <a:cubicBezTo>
                    <a:pt x="5471541" y="40386"/>
                    <a:pt x="5392928" y="30734"/>
                    <a:pt x="5314188" y="22987"/>
                  </a:cubicBezTo>
                  <a:cubicBezTo>
                    <a:pt x="5235448" y="15240"/>
                    <a:pt x="5155946" y="9652"/>
                    <a:pt x="5076825" y="5842"/>
                  </a:cubicBezTo>
                  <a:cubicBezTo>
                    <a:pt x="4998720" y="2032"/>
                    <a:pt x="4920615" y="0"/>
                    <a:pt x="4842510" y="0"/>
                  </a:cubicBezTo>
                  <a:close/>
                </a:path>
              </a:pathLst>
            </a:custGeom>
            <a:blipFill>
              <a:blip r:embed="rId4"/>
              <a:stretch>
                <a:fillRect l="-29201" r="-46474" b="-41"/>
              </a:stretch>
            </a:blipFill>
          </p:spPr>
        </p:sp>
      </p:grpSp>
      <p:sp>
        <p:nvSpPr>
          <p:cNvPr id="7" name="Freeform 7"/>
          <p:cNvSpPr/>
          <p:nvPr/>
        </p:nvSpPr>
        <p:spPr>
          <a:xfrm>
            <a:off x="7042347" y="7528922"/>
            <a:ext cx="912485" cy="485375"/>
          </a:xfrm>
          <a:custGeom>
            <a:avLst/>
            <a:gdLst/>
            <a:ahLst/>
            <a:cxnLst/>
            <a:rect l="l" t="t" r="r" b="b"/>
            <a:pathLst>
              <a:path w="912485" h="485375">
                <a:moveTo>
                  <a:pt x="0" y="0"/>
                </a:moveTo>
                <a:lnTo>
                  <a:pt x="912485" y="0"/>
                </a:lnTo>
                <a:lnTo>
                  <a:pt x="912485" y="485375"/>
                </a:lnTo>
                <a:lnTo>
                  <a:pt x="0" y="48537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9458392" y="-66551"/>
            <a:ext cx="8896150" cy="10420093"/>
          </a:xfrm>
          <a:custGeom>
            <a:avLst/>
            <a:gdLst/>
            <a:ahLst/>
            <a:cxnLst/>
            <a:rect l="l" t="t" r="r" b="b"/>
            <a:pathLst>
              <a:path w="8896150" h="10420093">
                <a:moveTo>
                  <a:pt x="0" y="0"/>
                </a:moveTo>
                <a:lnTo>
                  <a:pt x="8896150" y="0"/>
                </a:lnTo>
                <a:lnTo>
                  <a:pt x="8896150" y="10420093"/>
                </a:lnTo>
                <a:lnTo>
                  <a:pt x="0" y="1042009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589360" y="2054196"/>
            <a:ext cx="9071004" cy="691741"/>
          </a:xfrm>
          <a:prstGeom prst="rect">
            <a:avLst/>
          </a:prstGeom>
        </p:spPr>
        <p:txBody>
          <a:bodyPr lIns="0" tIns="0" rIns="0" bIns="0" rtlCol="0" anchor="t">
            <a:spAutoFit/>
          </a:bodyPr>
          <a:lstStyle/>
          <a:p>
            <a:pPr algn="l">
              <a:lnSpc>
                <a:spcPts val="5709"/>
              </a:lnSpc>
            </a:pPr>
            <a:r>
              <a:rPr lang="en-US" sz="4078" b="1">
                <a:solidFill>
                  <a:srgbClr val="FFFFFF"/>
                </a:solidFill>
                <a:latin typeface="Montserrat Bold"/>
                <a:ea typeface="Montserrat Bold"/>
                <a:cs typeface="Montserrat Bold"/>
                <a:sym typeface="Montserrat Bold"/>
              </a:rPr>
              <a:t>Analisis Konten Platform Disney+</a:t>
            </a:r>
          </a:p>
        </p:txBody>
      </p:sp>
      <p:sp>
        <p:nvSpPr>
          <p:cNvPr id="10" name="TextBox 10"/>
          <p:cNvSpPr txBox="1"/>
          <p:nvPr/>
        </p:nvSpPr>
        <p:spPr>
          <a:xfrm>
            <a:off x="1028700" y="6068292"/>
            <a:ext cx="6926132" cy="1225582"/>
          </a:xfrm>
          <a:prstGeom prst="rect">
            <a:avLst/>
          </a:prstGeom>
        </p:spPr>
        <p:txBody>
          <a:bodyPr lIns="0" tIns="0" rIns="0" bIns="0" rtlCol="0" anchor="t">
            <a:spAutoFit/>
          </a:bodyPr>
          <a:lstStyle/>
          <a:p>
            <a:pPr algn="l">
              <a:lnSpc>
                <a:spcPts val="5738"/>
              </a:lnSpc>
            </a:pPr>
            <a:r>
              <a:rPr lang="en-US" sz="4098" b="1" dirty="0">
                <a:solidFill>
                  <a:srgbClr val="00357B"/>
                </a:solidFill>
                <a:latin typeface="Montserrat Bold"/>
                <a:ea typeface="Montserrat Bold"/>
                <a:cs typeface="Montserrat Bold"/>
                <a:sym typeface="Montserrat Bold"/>
              </a:rPr>
              <a:t>Milestone 2</a:t>
            </a:r>
          </a:p>
          <a:p>
            <a:pPr algn="l">
              <a:lnSpc>
                <a:spcPts val="4058"/>
              </a:lnSpc>
            </a:pPr>
            <a:r>
              <a:rPr lang="en-US" sz="2898" dirty="0">
                <a:solidFill>
                  <a:srgbClr val="FFFFFF"/>
                </a:solidFill>
                <a:latin typeface="Montserrat"/>
                <a:ea typeface="Montserrat"/>
                <a:cs typeface="Montserrat"/>
                <a:sym typeface="Montserrat"/>
              </a:rPr>
              <a:t>Presented By: Mardi </a:t>
            </a:r>
            <a:r>
              <a:rPr lang="en-US" sz="2898" dirty="0" err="1">
                <a:solidFill>
                  <a:srgbClr val="FFFFFF"/>
                </a:solidFill>
                <a:latin typeface="Montserrat"/>
                <a:ea typeface="Montserrat"/>
                <a:cs typeface="Montserrat"/>
                <a:sym typeface="Montserrat"/>
              </a:rPr>
              <a:t>Wicaksana</a:t>
            </a:r>
            <a:endParaRPr lang="en-US" sz="2898" dirty="0">
              <a:solidFill>
                <a:srgbClr val="FFFFFF"/>
              </a:solidFill>
              <a:latin typeface="Montserrat"/>
              <a:ea typeface="Montserrat"/>
              <a:cs typeface="Montserrat"/>
              <a:sym typeface="Montserrat"/>
            </a:endParaRPr>
          </a:p>
        </p:txBody>
      </p:sp>
      <p:pic>
        <p:nvPicPr>
          <p:cNvPr id="1026" name="Picture 2" descr="Ulasan Disney+: Layanan Streaming Ramah Keluarga untuk Marvel, Mickey, Star  Wars, dan Lainnya | PCMag">
            <a:extLst>
              <a:ext uri="{FF2B5EF4-FFF2-40B4-BE49-F238E27FC236}">
                <a16:creationId xmlns:a16="http://schemas.microsoft.com/office/drawing/2014/main" id="{2DF1C49B-C085-89CB-A631-88DD0822AB3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19400" y="2868539"/>
            <a:ext cx="4800600" cy="27003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1028700" y="1028700"/>
            <a:ext cx="8518922" cy="8229600"/>
          </a:xfrm>
          <a:custGeom>
            <a:avLst/>
            <a:gdLst/>
            <a:ahLst/>
            <a:cxnLst/>
            <a:rect l="l" t="t" r="r" b="b"/>
            <a:pathLst>
              <a:path w="8518922" h="8229600">
                <a:moveTo>
                  <a:pt x="0" y="0"/>
                </a:moveTo>
                <a:lnTo>
                  <a:pt x="8518922" y="0"/>
                </a:lnTo>
                <a:lnTo>
                  <a:pt x="8518922" y="8229600"/>
                </a:lnTo>
                <a:lnTo>
                  <a:pt x="0" y="822960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347587" y="1406823"/>
            <a:ext cx="7879928" cy="4490628"/>
            <a:chOff x="0" y="0"/>
            <a:chExt cx="10506570" cy="5987504"/>
          </a:xfrm>
        </p:grpSpPr>
        <p:sp>
          <p:nvSpPr>
            <p:cNvPr id="6" name="Freeform 6"/>
            <p:cNvSpPr/>
            <p:nvPr/>
          </p:nvSpPr>
          <p:spPr>
            <a:xfrm>
              <a:off x="0" y="0"/>
              <a:ext cx="10506583" cy="5987542"/>
            </a:xfrm>
            <a:custGeom>
              <a:avLst/>
              <a:gdLst/>
              <a:ahLst/>
              <a:cxnLst/>
              <a:rect l="l" t="t" r="r" b="b"/>
              <a:pathLst>
                <a:path w="10506583" h="5987542">
                  <a:moveTo>
                    <a:pt x="546100" y="0"/>
                  </a:moveTo>
                  <a:cubicBezTo>
                    <a:pt x="244475" y="0"/>
                    <a:pt x="0" y="244475"/>
                    <a:pt x="0" y="546100"/>
                  </a:cubicBezTo>
                  <a:lnTo>
                    <a:pt x="0" y="5441442"/>
                  </a:lnTo>
                  <a:cubicBezTo>
                    <a:pt x="0" y="5743067"/>
                    <a:pt x="244475" y="5987542"/>
                    <a:pt x="546100" y="5987542"/>
                  </a:cubicBezTo>
                  <a:lnTo>
                    <a:pt x="9960483" y="5987542"/>
                  </a:lnTo>
                  <a:cubicBezTo>
                    <a:pt x="10262108" y="5987542"/>
                    <a:pt x="10506583" y="5743067"/>
                    <a:pt x="10506583" y="5441442"/>
                  </a:cubicBezTo>
                  <a:lnTo>
                    <a:pt x="10506583" y="546100"/>
                  </a:lnTo>
                  <a:cubicBezTo>
                    <a:pt x="10506583" y="244475"/>
                    <a:pt x="10262108" y="0"/>
                    <a:pt x="9960483" y="0"/>
                  </a:cubicBezTo>
                  <a:close/>
                </a:path>
              </a:pathLst>
            </a:custGeom>
            <a:blipFill>
              <a:blip r:embed="rId4"/>
              <a:stretch>
                <a:fillRect l="-145" t="-14858" r="-182" b="-2648"/>
              </a:stretch>
            </a:blipFill>
          </p:spPr>
        </p:sp>
      </p:grpSp>
      <p:sp>
        <p:nvSpPr>
          <p:cNvPr id="7" name="Freeform 7"/>
          <p:cNvSpPr/>
          <p:nvPr/>
        </p:nvSpPr>
        <p:spPr>
          <a:xfrm>
            <a:off x="1336157" y="1395393"/>
            <a:ext cx="7902769" cy="4513364"/>
          </a:xfrm>
          <a:custGeom>
            <a:avLst/>
            <a:gdLst/>
            <a:ahLst/>
            <a:cxnLst/>
            <a:rect l="l" t="t" r="r" b="b"/>
            <a:pathLst>
              <a:path w="7902769" h="4513364">
                <a:moveTo>
                  <a:pt x="0" y="0"/>
                </a:moveTo>
                <a:lnTo>
                  <a:pt x="7902769" y="0"/>
                </a:lnTo>
                <a:lnTo>
                  <a:pt x="7902769" y="4513365"/>
                </a:lnTo>
                <a:lnTo>
                  <a:pt x="0" y="451336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9762830" y="2866939"/>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9762830" y="3590839"/>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0" name="Freeform 10"/>
          <p:cNvSpPr/>
          <p:nvPr/>
        </p:nvSpPr>
        <p:spPr>
          <a:xfrm>
            <a:off x="9762830" y="4314739"/>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1" name="Freeform 11"/>
          <p:cNvSpPr/>
          <p:nvPr/>
        </p:nvSpPr>
        <p:spPr>
          <a:xfrm>
            <a:off x="9762830" y="5038639"/>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2" name="Freeform 12"/>
          <p:cNvSpPr/>
          <p:nvPr/>
        </p:nvSpPr>
        <p:spPr>
          <a:xfrm>
            <a:off x="9762830" y="5762539"/>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3" name="Freeform 13"/>
          <p:cNvSpPr/>
          <p:nvPr/>
        </p:nvSpPr>
        <p:spPr>
          <a:xfrm>
            <a:off x="9762830" y="6486439"/>
            <a:ext cx="190500" cy="190500"/>
          </a:xfrm>
          <a:custGeom>
            <a:avLst/>
            <a:gdLst/>
            <a:ahLst/>
            <a:cxnLst/>
            <a:rect l="l" t="t" r="r" b="b"/>
            <a:pathLst>
              <a:path w="190500" h="190500">
                <a:moveTo>
                  <a:pt x="0" y="0"/>
                </a:moveTo>
                <a:lnTo>
                  <a:pt x="190500" y="0"/>
                </a:lnTo>
                <a:lnTo>
                  <a:pt x="190500" y="190500"/>
                </a:lnTo>
                <a:lnTo>
                  <a:pt x="0" y="190500"/>
                </a:lnTo>
                <a:lnTo>
                  <a:pt x="0" y="0"/>
                </a:lnTo>
                <a:close/>
              </a:path>
            </a:pathLst>
          </a:custGeom>
          <a:blipFill>
            <a:blip>
              <a:extLst>
                <a:ext uri="{96DAC541-7B7A-43D3-8B79-37D633B846F1}">
                  <asvg:svgBlip xmlns:asvg="http://schemas.microsoft.com/office/drawing/2016/SVG/main" r:embed="rId11"/>
                </a:ext>
              </a:extLst>
            </a:blip>
            <a:stretch>
              <a:fillRect/>
            </a:stretch>
          </a:blipFill>
        </p:spPr>
      </p:sp>
      <p:sp>
        <p:nvSpPr>
          <p:cNvPr id="14" name="TextBox 14"/>
          <p:cNvSpPr txBox="1"/>
          <p:nvPr/>
        </p:nvSpPr>
        <p:spPr>
          <a:xfrm>
            <a:off x="3514496" y="6594167"/>
            <a:ext cx="3616938" cy="1574387"/>
          </a:xfrm>
          <a:prstGeom prst="rect">
            <a:avLst/>
          </a:prstGeom>
        </p:spPr>
        <p:txBody>
          <a:bodyPr lIns="0" tIns="0" rIns="0" bIns="0" rtlCol="0" anchor="t">
            <a:spAutoFit/>
          </a:bodyPr>
          <a:lstStyle/>
          <a:p>
            <a:pPr algn="ctr">
              <a:lnSpc>
                <a:spcPts val="6098"/>
              </a:lnSpc>
            </a:pPr>
            <a:r>
              <a:rPr lang="en-US" sz="5474" b="1">
                <a:solidFill>
                  <a:srgbClr val="FFFFFF"/>
                </a:solidFill>
                <a:latin typeface="Montserrat Bold"/>
                <a:ea typeface="Montserrat Bold"/>
                <a:cs typeface="Montserrat Bold"/>
                <a:sym typeface="Montserrat Bold"/>
              </a:rPr>
              <a:t>List of CONTENT</a:t>
            </a:r>
          </a:p>
        </p:txBody>
      </p:sp>
      <p:sp>
        <p:nvSpPr>
          <p:cNvPr id="15" name="TextBox 15"/>
          <p:cNvSpPr txBox="1"/>
          <p:nvPr/>
        </p:nvSpPr>
        <p:spPr>
          <a:xfrm>
            <a:off x="10210200" y="2544518"/>
            <a:ext cx="7468200" cy="5838073"/>
          </a:xfrm>
          <a:prstGeom prst="rect">
            <a:avLst/>
          </a:prstGeom>
        </p:spPr>
        <p:txBody>
          <a:bodyPr wrap="square" lIns="0" tIns="0" rIns="0" bIns="0" rtlCol="0" anchor="t">
            <a:spAutoFit/>
          </a:bodyPr>
          <a:lstStyle/>
          <a:p>
            <a:pPr algn="l">
              <a:lnSpc>
                <a:spcPts val="5699"/>
              </a:lnSpc>
            </a:pPr>
            <a:r>
              <a:rPr lang="en-US" sz="4498" b="1" dirty="0">
                <a:solidFill>
                  <a:srgbClr val="00357B"/>
                </a:solidFill>
                <a:latin typeface="Nunito Sans Condensed Bold"/>
                <a:ea typeface="Nunito Sans Condensed Bold"/>
                <a:cs typeface="Nunito Sans Condensed Bold"/>
                <a:sym typeface="Nunito Sans Condensed Bold"/>
              </a:rPr>
              <a:t>Problem Statement </a:t>
            </a:r>
          </a:p>
          <a:p>
            <a:pPr algn="l">
              <a:lnSpc>
                <a:spcPts val="5699"/>
              </a:lnSpc>
            </a:pPr>
            <a:r>
              <a:rPr lang="en-US" sz="4498" b="1" dirty="0">
                <a:solidFill>
                  <a:srgbClr val="00357B"/>
                </a:solidFill>
                <a:latin typeface="Nunito Sans Condensed Bold"/>
                <a:ea typeface="Nunito Sans Condensed Bold"/>
                <a:cs typeface="Nunito Sans Condensed Bold"/>
                <a:sym typeface="Nunito Sans Condensed Bold"/>
              </a:rPr>
              <a:t>Business Question </a:t>
            </a:r>
          </a:p>
          <a:p>
            <a:pPr algn="l">
              <a:lnSpc>
                <a:spcPts val="5699"/>
              </a:lnSpc>
            </a:pPr>
            <a:r>
              <a:rPr lang="en-US" sz="4498" b="1" dirty="0">
                <a:solidFill>
                  <a:srgbClr val="00357B"/>
                </a:solidFill>
                <a:latin typeface="Nunito Sans Condensed Bold"/>
                <a:ea typeface="Nunito Sans Condensed Bold"/>
                <a:cs typeface="Nunito Sans Condensed Bold"/>
                <a:sym typeface="Nunito Sans Condensed Bold"/>
              </a:rPr>
              <a:t>Data Source and Tools </a:t>
            </a:r>
          </a:p>
          <a:p>
            <a:pPr algn="l">
              <a:lnSpc>
                <a:spcPts val="5699"/>
              </a:lnSpc>
            </a:pPr>
            <a:r>
              <a:rPr lang="en-US" sz="4498" b="1" dirty="0">
                <a:solidFill>
                  <a:srgbClr val="00357B"/>
                </a:solidFill>
                <a:latin typeface="Nunito Sans Condensed Bold"/>
                <a:ea typeface="Nunito Sans Condensed Bold"/>
                <a:cs typeface="Nunito Sans Condensed Bold"/>
                <a:sym typeface="Nunito Sans Condensed Bold"/>
              </a:rPr>
              <a:t>Proses Kinerja </a:t>
            </a:r>
          </a:p>
          <a:p>
            <a:pPr algn="l">
              <a:lnSpc>
                <a:spcPts val="5699"/>
              </a:lnSpc>
            </a:pPr>
            <a:r>
              <a:rPr lang="en-US" sz="4498" b="1" dirty="0">
                <a:solidFill>
                  <a:srgbClr val="00357B"/>
                </a:solidFill>
                <a:latin typeface="Nunito Sans Condensed Bold"/>
                <a:ea typeface="Nunito Sans Condensed Bold"/>
                <a:cs typeface="Nunito Sans Condensed Bold"/>
                <a:sym typeface="Nunito Sans Condensed Bold"/>
              </a:rPr>
              <a:t>Hasil </a:t>
            </a:r>
            <a:r>
              <a:rPr lang="en-US" sz="4498" b="1" dirty="0" err="1">
                <a:solidFill>
                  <a:srgbClr val="00357B"/>
                </a:solidFill>
                <a:latin typeface="Nunito Sans Condensed Bold"/>
                <a:ea typeface="Nunito Sans Condensed Bold"/>
                <a:cs typeface="Nunito Sans Condensed Bold"/>
                <a:sym typeface="Nunito Sans Condensed Bold"/>
              </a:rPr>
              <a:t>Analisis</a:t>
            </a:r>
            <a:r>
              <a:rPr lang="en-US" sz="4498" b="1" dirty="0">
                <a:solidFill>
                  <a:srgbClr val="00357B"/>
                </a:solidFill>
                <a:latin typeface="Nunito Sans Condensed Bold"/>
                <a:ea typeface="Nunito Sans Condensed Bold"/>
                <a:cs typeface="Nunito Sans Condensed Bold"/>
                <a:sym typeface="Nunito Sans Condensed Bold"/>
              </a:rPr>
              <a:t> </a:t>
            </a:r>
          </a:p>
          <a:p>
            <a:pPr algn="l">
              <a:lnSpc>
                <a:spcPts val="5699"/>
              </a:lnSpc>
            </a:pPr>
            <a:r>
              <a:rPr lang="en-US" sz="4498" b="1" dirty="0">
                <a:solidFill>
                  <a:srgbClr val="00357B"/>
                </a:solidFill>
                <a:latin typeface="Nunito Sans Condensed Bold"/>
                <a:ea typeface="Nunito Sans Condensed Bold"/>
                <a:cs typeface="Nunito Sans Condensed Bold"/>
                <a:sym typeface="Nunito Sans Condensed Bold"/>
              </a:rPr>
              <a:t>Conclusion and Recommendation</a:t>
            </a:r>
          </a:p>
          <a:p>
            <a:pPr algn="l">
              <a:lnSpc>
                <a:spcPts val="5699"/>
              </a:lnSpc>
            </a:pPr>
            <a:endParaRPr lang="en-US" sz="4498" b="1" dirty="0">
              <a:solidFill>
                <a:srgbClr val="00357B"/>
              </a:solidFill>
              <a:latin typeface="Nunito Sans Condensed Bold"/>
              <a:ea typeface="Nunito Sans Condensed Bold"/>
              <a:cs typeface="Nunito Sans Condensed Bold"/>
              <a:sym typeface="Nunito Sans Condensed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grpSp>
        <p:nvGrpSpPr>
          <p:cNvPr id="4" name="Group 4"/>
          <p:cNvGrpSpPr/>
          <p:nvPr/>
        </p:nvGrpSpPr>
        <p:grpSpPr>
          <a:xfrm>
            <a:off x="97031" y="32442"/>
            <a:ext cx="55540" cy="55550"/>
            <a:chOff x="0" y="0"/>
            <a:chExt cx="55537" cy="55550"/>
          </a:xfrm>
        </p:grpSpPr>
        <p:sp>
          <p:nvSpPr>
            <p:cNvPr id="5" name="Freeform 5"/>
            <p:cNvSpPr/>
            <p:nvPr/>
          </p:nvSpPr>
          <p:spPr>
            <a:xfrm>
              <a:off x="4" y="4"/>
              <a:ext cx="55588" cy="55479"/>
            </a:xfrm>
            <a:custGeom>
              <a:avLst/>
              <a:gdLst/>
              <a:ahLst/>
              <a:cxnLst/>
              <a:rect l="l" t="t" r="r" b="b"/>
              <a:pathLst>
                <a:path w="55588" h="55479">
                  <a:moveTo>
                    <a:pt x="10663" y="49656"/>
                  </a:moveTo>
                  <a:cubicBezTo>
                    <a:pt x="-1528" y="40385"/>
                    <a:pt x="-3560" y="22604"/>
                    <a:pt x="6092" y="10411"/>
                  </a:cubicBezTo>
                  <a:cubicBezTo>
                    <a:pt x="15743" y="-1782"/>
                    <a:pt x="33648" y="-3433"/>
                    <a:pt x="45458" y="6346"/>
                  </a:cubicBezTo>
                  <a:cubicBezTo>
                    <a:pt x="57269" y="16126"/>
                    <a:pt x="58920" y="33526"/>
                    <a:pt x="49522" y="45211"/>
                  </a:cubicBezTo>
                  <a:cubicBezTo>
                    <a:pt x="40125" y="56896"/>
                    <a:pt x="22727" y="58928"/>
                    <a:pt x="10663" y="49656"/>
                  </a:cubicBezTo>
                </a:path>
              </a:pathLst>
            </a:custGeom>
            <a:solidFill>
              <a:srgbClr val="FFFFFF"/>
            </a:solidFill>
          </p:spPr>
        </p:sp>
      </p:grpSp>
      <p:grpSp>
        <p:nvGrpSpPr>
          <p:cNvPr id="6" name="Group 6"/>
          <p:cNvGrpSpPr/>
          <p:nvPr/>
        </p:nvGrpSpPr>
        <p:grpSpPr>
          <a:xfrm>
            <a:off x="2657094" y="61408"/>
            <a:ext cx="30594" cy="30604"/>
            <a:chOff x="0" y="0"/>
            <a:chExt cx="30594" cy="30607"/>
          </a:xfrm>
        </p:grpSpPr>
        <p:sp>
          <p:nvSpPr>
            <p:cNvPr id="7" name="Freeform 7"/>
            <p:cNvSpPr/>
            <p:nvPr/>
          </p:nvSpPr>
          <p:spPr>
            <a:xfrm>
              <a:off x="-28" y="-18"/>
              <a:ext cx="30586" cy="30633"/>
            </a:xfrm>
            <a:custGeom>
              <a:avLst/>
              <a:gdLst/>
              <a:ahLst/>
              <a:cxnLst/>
              <a:rect l="l" t="t" r="r" b="b"/>
              <a:pathLst>
                <a:path w="30586" h="30633">
                  <a:moveTo>
                    <a:pt x="3203" y="24786"/>
                  </a:moveTo>
                  <a:cubicBezTo>
                    <a:pt x="-1877" y="18181"/>
                    <a:pt x="-861" y="8655"/>
                    <a:pt x="5869" y="3320"/>
                  </a:cubicBezTo>
                  <a:cubicBezTo>
                    <a:pt x="12599" y="-2014"/>
                    <a:pt x="22123" y="-744"/>
                    <a:pt x="27329" y="5861"/>
                  </a:cubicBezTo>
                  <a:cubicBezTo>
                    <a:pt x="32536" y="12465"/>
                    <a:pt x="31393" y="22245"/>
                    <a:pt x="24663" y="27453"/>
                  </a:cubicBezTo>
                  <a:cubicBezTo>
                    <a:pt x="17933" y="32660"/>
                    <a:pt x="8409" y="31263"/>
                    <a:pt x="3203" y="24786"/>
                  </a:cubicBezTo>
                </a:path>
              </a:pathLst>
            </a:custGeom>
            <a:solidFill>
              <a:srgbClr val="FFFFFF"/>
            </a:solidFill>
          </p:spPr>
        </p:sp>
      </p:grpSp>
      <p:grpSp>
        <p:nvGrpSpPr>
          <p:cNvPr id="8" name="Group 8"/>
          <p:cNvGrpSpPr/>
          <p:nvPr/>
        </p:nvGrpSpPr>
        <p:grpSpPr>
          <a:xfrm>
            <a:off x="2827582" y="342414"/>
            <a:ext cx="55540" cy="55531"/>
            <a:chOff x="0" y="0"/>
            <a:chExt cx="55537" cy="55524"/>
          </a:xfrm>
        </p:grpSpPr>
        <p:sp>
          <p:nvSpPr>
            <p:cNvPr id="9" name="Freeform 9"/>
            <p:cNvSpPr/>
            <p:nvPr/>
          </p:nvSpPr>
          <p:spPr>
            <a:xfrm>
              <a:off x="-25" y="100"/>
              <a:ext cx="55526" cy="55319"/>
            </a:xfrm>
            <a:custGeom>
              <a:avLst/>
              <a:gdLst/>
              <a:ahLst/>
              <a:cxnLst/>
              <a:rect l="l" t="t" r="r" b="b"/>
              <a:pathLst>
                <a:path w="55526" h="55319">
                  <a:moveTo>
                    <a:pt x="2692" y="39902"/>
                  </a:moveTo>
                  <a:cubicBezTo>
                    <a:pt x="-3785" y="26314"/>
                    <a:pt x="1803" y="9805"/>
                    <a:pt x="15392" y="2948"/>
                  </a:cubicBezTo>
                  <a:cubicBezTo>
                    <a:pt x="28981" y="-3910"/>
                    <a:pt x="46000" y="1551"/>
                    <a:pt x="52731" y="15647"/>
                  </a:cubicBezTo>
                  <a:cubicBezTo>
                    <a:pt x="59462" y="29742"/>
                    <a:pt x="53620" y="46378"/>
                    <a:pt x="39650" y="52728"/>
                  </a:cubicBezTo>
                  <a:cubicBezTo>
                    <a:pt x="25679" y="59077"/>
                    <a:pt x="9296" y="53362"/>
                    <a:pt x="2692" y="39902"/>
                  </a:cubicBezTo>
                </a:path>
              </a:pathLst>
            </a:custGeom>
            <a:solidFill>
              <a:srgbClr val="FFFFFF"/>
            </a:solidFill>
          </p:spPr>
        </p:sp>
      </p:grpSp>
      <p:grpSp>
        <p:nvGrpSpPr>
          <p:cNvPr id="10" name="Group 10"/>
          <p:cNvGrpSpPr/>
          <p:nvPr/>
        </p:nvGrpSpPr>
        <p:grpSpPr>
          <a:xfrm>
            <a:off x="2931404" y="655577"/>
            <a:ext cx="80524" cy="80572"/>
            <a:chOff x="0" y="0"/>
            <a:chExt cx="80518" cy="80569"/>
          </a:xfrm>
        </p:grpSpPr>
        <p:sp>
          <p:nvSpPr>
            <p:cNvPr id="11" name="Freeform 11"/>
            <p:cNvSpPr/>
            <p:nvPr/>
          </p:nvSpPr>
          <p:spPr>
            <a:xfrm>
              <a:off x="34" y="15"/>
              <a:ext cx="80489" cy="80510"/>
            </a:xfrm>
            <a:custGeom>
              <a:avLst/>
              <a:gdLst/>
              <a:ahLst/>
              <a:cxnLst/>
              <a:rect l="l" t="t" r="r" b="b"/>
              <a:pathLst>
                <a:path w="80489" h="80510">
                  <a:moveTo>
                    <a:pt x="1109" y="49767"/>
                  </a:moveTo>
                  <a:cubicBezTo>
                    <a:pt x="-3971" y="28813"/>
                    <a:pt x="8856" y="7224"/>
                    <a:pt x="30317" y="1382"/>
                  </a:cubicBezTo>
                  <a:cubicBezTo>
                    <a:pt x="51779" y="-4460"/>
                    <a:pt x="74003" y="8748"/>
                    <a:pt x="79337" y="30972"/>
                  </a:cubicBezTo>
                  <a:cubicBezTo>
                    <a:pt x="84671" y="53196"/>
                    <a:pt x="70955" y="75040"/>
                    <a:pt x="49113" y="79612"/>
                  </a:cubicBezTo>
                  <a:cubicBezTo>
                    <a:pt x="27270" y="84184"/>
                    <a:pt x="6062" y="70849"/>
                    <a:pt x="1109" y="49767"/>
                  </a:cubicBezTo>
                </a:path>
              </a:pathLst>
            </a:custGeom>
            <a:solidFill>
              <a:srgbClr val="FFFFFF"/>
            </a:solidFill>
          </p:spPr>
        </p:sp>
      </p:grpSp>
      <p:grpSp>
        <p:nvGrpSpPr>
          <p:cNvPr id="12" name="Group 12"/>
          <p:cNvGrpSpPr/>
          <p:nvPr/>
        </p:nvGrpSpPr>
        <p:grpSpPr>
          <a:xfrm>
            <a:off x="2921879" y="1318660"/>
            <a:ext cx="130521" cy="130569"/>
            <a:chOff x="0" y="0"/>
            <a:chExt cx="130518" cy="130569"/>
          </a:xfrm>
        </p:grpSpPr>
        <p:sp>
          <p:nvSpPr>
            <p:cNvPr id="13" name="Freeform 13"/>
            <p:cNvSpPr/>
            <p:nvPr/>
          </p:nvSpPr>
          <p:spPr>
            <a:xfrm>
              <a:off x="8" y="39"/>
              <a:ext cx="130504" cy="130514"/>
            </a:xfrm>
            <a:custGeom>
              <a:avLst/>
              <a:gdLst/>
              <a:ahLst/>
              <a:cxnLst/>
              <a:rect l="l" t="t" r="r" b="b"/>
              <a:pathLst>
                <a:path w="130504" h="130514">
                  <a:moveTo>
                    <a:pt x="51552" y="128737"/>
                  </a:moveTo>
                  <a:cubicBezTo>
                    <a:pt x="16502" y="120228"/>
                    <a:pt x="-5342" y="86320"/>
                    <a:pt x="1135" y="52665"/>
                  </a:cubicBezTo>
                  <a:cubicBezTo>
                    <a:pt x="7612" y="19011"/>
                    <a:pt x="40504" y="-4484"/>
                    <a:pt x="76190" y="723"/>
                  </a:cubicBezTo>
                  <a:cubicBezTo>
                    <a:pt x="111876" y="5803"/>
                    <a:pt x="136386" y="40219"/>
                    <a:pt x="129274" y="77303"/>
                  </a:cubicBezTo>
                  <a:cubicBezTo>
                    <a:pt x="122035" y="114387"/>
                    <a:pt x="86603" y="137246"/>
                    <a:pt x="51679" y="128737"/>
                  </a:cubicBezTo>
                </a:path>
              </a:pathLst>
            </a:custGeom>
            <a:solidFill>
              <a:srgbClr val="FFFFFF"/>
            </a:solidFill>
          </p:spPr>
        </p:sp>
      </p:grpSp>
      <p:grpSp>
        <p:nvGrpSpPr>
          <p:cNvPr id="14" name="Group 14"/>
          <p:cNvGrpSpPr/>
          <p:nvPr/>
        </p:nvGrpSpPr>
        <p:grpSpPr>
          <a:xfrm>
            <a:off x="2963275" y="986161"/>
            <a:ext cx="105556" cy="105594"/>
            <a:chOff x="0" y="0"/>
            <a:chExt cx="105562" cy="105600"/>
          </a:xfrm>
        </p:grpSpPr>
        <p:sp>
          <p:nvSpPr>
            <p:cNvPr id="15" name="Freeform 15"/>
            <p:cNvSpPr/>
            <p:nvPr/>
          </p:nvSpPr>
          <p:spPr>
            <a:xfrm>
              <a:off x="-9" y="30"/>
              <a:ext cx="105561" cy="105518"/>
            </a:xfrm>
            <a:custGeom>
              <a:avLst/>
              <a:gdLst/>
              <a:ahLst/>
              <a:cxnLst/>
              <a:rect l="l" t="t" r="r" b="b"/>
              <a:pathLst>
                <a:path w="105561" h="105518">
                  <a:moveTo>
                    <a:pt x="9" y="53947"/>
                  </a:moveTo>
                  <a:cubicBezTo>
                    <a:pt x="-499" y="26006"/>
                    <a:pt x="21727" y="1875"/>
                    <a:pt x="50684" y="97"/>
                  </a:cubicBezTo>
                  <a:cubicBezTo>
                    <a:pt x="79640" y="-1681"/>
                    <a:pt x="104914" y="21307"/>
                    <a:pt x="105549" y="51661"/>
                  </a:cubicBezTo>
                  <a:cubicBezTo>
                    <a:pt x="106184" y="81761"/>
                    <a:pt x="82180" y="106018"/>
                    <a:pt x="53097" y="105510"/>
                  </a:cubicBezTo>
                  <a:cubicBezTo>
                    <a:pt x="24013" y="105002"/>
                    <a:pt x="644" y="82015"/>
                    <a:pt x="9" y="53947"/>
                  </a:cubicBezTo>
                </a:path>
              </a:pathLst>
            </a:custGeom>
            <a:solidFill>
              <a:srgbClr val="FFFFFF"/>
            </a:solidFill>
          </p:spPr>
        </p:sp>
      </p:grpSp>
      <p:grpSp>
        <p:nvGrpSpPr>
          <p:cNvPr id="16" name="Group 16"/>
          <p:cNvGrpSpPr/>
          <p:nvPr/>
        </p:nvGrpSpPr>
        <p:grpSpPr>
          <a:xfrm>
            <a:off x="3194828" y="153695"/>
            <a:ext cx="69723" cy="69799"/>
            <a:chOff x="0" y="0"/>
            <a:chExt cx="69723" cy="69799"/>
          </a:xfrm>
        </p:grpSpPr>
        <p:sp>
          <p:nvSpPr>
            <p:cNvPr id="17" name="Freeform 17"/>
            <p:cNvSpPr/>
            <p:nvPr/>
          </p:nvSpPr>
          <p:spPr>
            <a:xfrm>
              <a:off x="23" y="6"/>
              <a:ext cx="69640" cy="69832"/>
            </a:xfrm>
            <a:custGeom>
              <a:avLst/>
              <a:gdLst/>
              <a:ahLst/>
              <a:cxnLst/>
              <a:rect l="l" t="t" r="r" b="b"/>
              <a:pathLst>
                <a:path w="69640" h="69832">
                  <a:moveTo>
                    <a:pt x="3406" y="50160"/>
                  </a:moveTo>
                  <a:cubicBezTo>
                    <a:pt x="-4722" y="33269"/>
                    <a:pt x="2136" y="12440"/>
                    <a:pt x="19282" y="3804"/>
                  </a:cubicBezTo>
                  <a:cubicBezTo>
                    <a:pt x="36427" y="-5086"/>
                    <a:pt x="57637" y="2153"/>
                    <a:pt x="66146" y="19806"/>
                  </a:cubicBezTo>
                  <a:cubicBezTo>
                    <a:pt x="74656" y="37460"/>
                    <a:pt x="67035" y="58415"/>
                    <a:pt x="49636" y="66543"/>
                  </a:cubicBezTo>
                  <a:cubicBezTo>
                    <a:pt x="32236" y="74672"/>
                    <a:pt x="11534" y="67178"/>
                    <a:pt x="3406" y="50160"/>
                  </a:cubicBezTo>
                </a:path>
              </a:pathLst>
            </a:custGeom>
            <a:solidFill>
              <a:srgbClr val="FFFFFF"/>
            </a:solidFill>
          </p:spPr>
        </p:sp>
      </p:grpSp>
      <p:grpSp>
        <p:nvGrpSpPr>
          <p:cNvPr id="18" name="Group 18"/>
          <p:cNvGrpSpPr/>
          <p:nvPr/>
        </p:nvGrpSpPr>
        <p:grpSpPr>
          <a:xfrm>
            <a:off x="3325149" y="546916"/>
            <a:ext cx="101156" cy="101117"/>
            <a:chOff x="0" y="0"/>
            <a:chExt cx="101156" cy="101117"/>
          </a:xfrm>
        </p:grpSpPr>
        <p:sp>
          <p:nvSpPr>
            <p:cNvPr id="19" name="Freeform 19"/>
            <p:cNvSpPr/>
            <p:nvPr/>
          </p:nvSpPr>
          <p:spPr>
            <a:xfrm>
              <a:off x="17" y="68"/>
              <a:ext cx="101089" cy="101110"/>
            </a:xfrm>
            <a:custGeom>
              <a:avLst/>
              <a:gdLst/>
              <a:ahLst/>
              <a:cxnLst/>
              <a:rect l="l" t="t" r="r" b="b"/>
              <a:pathLst>
                <a:path w="101089" h="101110">
                  <a:moveTo>
                    <a:pt x="1380" y="62414"/>
                  </a:moveTo>
                  <a:cubicBezTo>
                    <a:pt x="-4970" y="35999"/>
                    <a:pt x="11159" y="8949"/>
                    <a:pt x="38084" y="1710"/>
                  </a:cubicBezTo>
                  <a:cubicBezTo>
                    <a:pt x="65008" y="-5529"/>
                    <a:pt x="93076" y="10854"/>
                    <a:pt x="99680" y="38793"/>
                  </a:cubicBezTo>
                  <a:cubicBezTo>
                    <a:pt x="106284" y="66732"/>
                    <a:pt x="89012" y="94290"/>
                    <a:pt x="61706" y="100005"/>
                  </a:cubicBezTo>
                  <a:cubicBezTo>
                    <a:pt x="34401" y="105719"/>
                    <a:pt x="7730" y="88702"/>
                    <a:pt x="1380" y="62414"/>
                  </a:cubicBezTo>
                </a:path>
              </a:pathLst>
            </a:custGeom>
            <a:solidFill>
              <a:srgbClr val="FFFFFF"/>
            </a:solidFill>
          </p:spPr>
        </p:sp>
      </p:grpSp>
      <p:grpSp>
        <p:nvGrpSpPr>
          <p:cNvPr id="20" name="Group 20"/>
          <p:cNvGrpSpPr/>
          <p:nvPr/>
        </p:nvGrpSpPr>
        <p:grpSpPr>
          <a:xfrm>
            <a:off x="3365173" y="961882"/>
            <a:ext cx="132531" cy="132626"/>
            <a:chOff x="0" y="0"/>
            <a:chExt cx="132525" cy="132626"/>
          </a:xfrm>
        </p:grpSpPr>
        <p:sp>
          <p:nvSpPr>
            <p:cNvPr id="21" name="Freeform 21"/>
            <p:cNvSpPr/>
            <p:nvPr/>
          </p:nvSpPr>
          <p:spPr>
            <a:xfrm>
              <a:off x="-15" y="1"/>
              <a:ext cx="132485" cy="132721"/>
            </a:xfrm>
            <a:custGeom>
              <a:avLst/>
              <a:gdLst/>
              <a:ahLst/>
              <a:cxnLst/>
              <a:rect l="l" t="t" r="r" b="b"/>
              <a:pathLst>
                <a:path w="132485" h="132721">
                  <a:moveTo>
                    <a:pt x="15" y="67818"/>
                  </a:moveTo>
                  <a:cubicBezTo>
                    <a:pt x="-747" y="32638"/>
                    <a:pt x="27192" y="2412"/>
                    <a:pt x="63767" y="126"/>
                  </a:cubicBezTo>
                  <a:cubicBezTo>
                    <a:pt x="100341" y="-2160"/>
                    <a:pt x="131709" y="26923"/>
                    <a:pt x="132471" y="65024"/>
                  </a:cubicBezTo>
                  <a:cubicBezTo>
                    <a:pt x="133233" y="102997"/>
                    <a:pt x="103262" y="133223"/>
                    <a:pt x="66561" y="132715"/>
                  </a:cubicBezTo>
                  <a:cubicBezTo>
                    <a:pt x="29859" y="132207"/>
                    <a:pt x="904" y="102997"/>
                    <a:pt x="15" y="67818"/>
                  </a:cubicBezTo>
                </a:path>
              </a:pathLst>
            </a:custGeom>
            <a:solidFill>
              <a:srgbClr val="FFFFFF"/>
            </a:solidFill>
          </p:spPr>
        </p:sp>
      </p:grpSp>
      <p:grpSp>
        <p:nvGrpSpPr>
          <p:cNvPr id="22" name="Group 22"/>
          <p:cNvGrpSpPr/>
          <p:nvPr/>
        </p:nvGrpSpPr>
        <p:grpSpPr>
          <a:xfrm>
            <a:off x="3665430" y="-87239"/>
            <a:ext cx="87954" cy="87916"/>
            <a:chOff x="0" y="0"/>
            <a:chExt cx="87948" cy="87909"/>
          </a:xfrm>
        </p:grpSpPr>
        <p:sp>
          <p:nvSpPr>
            <p:cNvPr id="23" name="Freeform 23"/>
            <p:cNvSpPr/>
            <p:nvPr/>
          </p:nvSpPr>
          <p:spPr>
            <a:xfrm>
              <a:off x="36321" y="87246"/>
              <a:ext cx="15493" cy="635"/>
            </a:xfrm>
            <a:custGeom>
              <a:avLst/>
              <a:gdLst/>
              <a:ahLst/>
              <a:cxnLst/>
              <a:rect l="l" t="t" r="r" b="b"/>
              <a:pathLst>
                <a:path w="15493" h="635">
                  <a:moveTo>
                    <a:pt x="0" y="0"/>
                  </a:moveTo>
                  <a:cubicBezTo>
                    <a:pt x="2539" y="381"/>
                    <a:pt x="5079" y="635"/>
                    <a:pt x="7746" y="635"/>
                  </a:cubicBezTo>
                  <a:cubicBezTo>
                    <a:pt x="10413" y="635"/>
                    <a:pt x="12826" y="381"/>
                    <a:pt x="15493" y="0"/>
                  </a:cubicBezTo>
                  <a:close/>
                </a:path>
              </a:pathLst>
            </a:custGeom>
            <a:solidFill>
              <a:srgbClr val="FFFFFF"/>
            </a:solidFill>
          </p:spPr>
        </p:sp>
      </p:grpSp>
      <p:grpSp>
        <p:nvGrpSpPr>
          <p:cNvPr id="24" name="Group 24"/>
          <p:cNvGrpSpPr/>
          <p:nvPr/>
        </p:nvGrpSpPr>
        <p:grpSpPr>
          <a:xfrm>
            <a:off x="3829822" y="408375"/>
            <a:ext cx="127483" cy="127587"/>
            <a:chOff x="0" y="0"/>
            <a:chExt cx="127483" cy="127597"/>
          </a:xfrm>
        </p:grpSpPr>
        <p:sp>
          <p:nvSpPr>
            <p:cNvPr id="25" name="Freeform 25"/>
            <p:cNvSpPr/>
            <p:nvPr/>
          </p:nvSpPr>
          <p:spPr>
            <a:xfrm>
              <a:off x="39" y="-35"/>
              <a:ext cx="127527" cy="127689"/>
            </a:xfrm>
            <a:custGeom>
              <a:avLst/>
              <a:gdLst/>
              <a:ahLst/>
              <a:cxnLst/>
              <a:rect l="l" t="t" r="r" b="b"/>
              <a:pathLst>
                <a:path w="127527" h="127689">
                  <a:moveTo>
                    <a:pt x="1739" y="78905"/>
                  </a:moveTo>
                  <a:cubicBezTo>
                    <a:pt x="-6262" y="45757"/>
                    <a:pt x="14058" y="11465"/>
                    <a:pt x="47968" y="2194"/>
                  </a:cubicBezTo>
                  <a:cubicBezTo>
                    <a:pt x="81877" y="-7077"/>
                    <a:pt x="117184" y="13879"/>
                    <a:pt x="125693" y="49186"/>
                  </a:cubicBezTo>
                  <a:cubicBezTo>
                    <a:pt x="134202" y="84494"/>
                    <a:pt x="112231" y="119039"/>
                    <a:pt x="77686" y="126278"/>
                  </a:cubicBezTo>
                  <a:cubicBezTo>
                    <a:pt x="43269" y="133517"/>
                    <a:pt x="9613" y="112181"/>
                    <a:pt x="1739" y="78905"/>
                  </a:cubicBezTo>
                </a:path>
              </a:pathLst>
            </a:custGeom>
            <a:solidFill>
              <a:srgbClr val="FFFFFF"/>
            </a:solidFill>
          </p:spPr>
        </p:sp>
      </p:grpSp>
      <p:grpSp>
        <p:nvGrpSpPr>
          <p:cNvPr id="26" name="Group 26"/>
          <p:cNvGrpSpPr/>
          <p:nvPr/>
        </p:nvGrpSpPr>
        <p:grpSpPr>
          <a:xfrm>
            <a:off x="3880266" y="931764"/>
            <a:ext cx="167059" cy="167135"/>
            <a:chOff x="0" y="0"/>
            <a:chExt cx="167068" cy="167145"/>
          </a:xfrm>
        </p:grpSpPr>
        <p:sp>
          <p:nvSpPr>
            <p:cNvPr id="27" name="Freeform 27"/>
            <p:cNvSpPr/>
            <p:nvPr/>
          </p:nvSpPr>
          <p:spPr>
            <a:xfrm>
              <a:off x="-17" y="-36"/>
              <a:ext cx="167178" cy="167055"/>
            </a:xfrm>
            <a:custGeom>
              <a:avLst/>
              <a:gdLst/>
              <a:ahLst/>
              <a:cxnLst/>
              <a:rect l="l" t="t" r="r" b="b"/>
              <a:pathLst>
                <a:path w="167178" h="167055">
                  <a:moveTo>
                    <a:pt x="17" y="85383"/>
                  </a:moveTo>
                  <a:cubicBezTo>
                    <a:pt x="-872" y="41058"/>
                    <a:pt x="34181" y="2830"/>
                    <a:pt x="80410" y="163"/>
                  </a:cubicBezTo>
                  <a:cubicBezTo>
                    <a:pt x="126386" y="-2758"/>
                    <a:pt x="166011" y="33819"/>
                    <a:pt x="167154" y="81700"/>
                  </a:cubicBezTo>
                  <a:cubicBezTo>
                    <a:pt x="168297" y="129580"/>
                    <a:pt x="130196" y="167682"/>
                    <a:pt x="84093" y="167047"/>
                  </a:cubicBezTo>
                  <a:cubicBezTo>
                    <a:pt x="37864" y="166412"/>
                    <a:pt x="1033" y="129834"/>
                    <a:pt x="17" y="85383"/>
                  </a:cubicBezTo>
                </a:path>
              </a:pathLst>
            </a:custGeom>
            <a:solidFill>
              <a:srgbClr val="FFFFFF"/>
            </a:solidFill>
          </p:spPr>
        </p:sp>
      </p:grpSp>
      <p:grpSp>
        <p:nvGrpSpPr>
          <p:cNvPr id="28" name="Group 28"/>
          <p:cNvGrpSpPr/>
          <p:nvPr/>
        </p:nvGrpSpPr>
        <p:grpSpPr>
          <a:xfrm>
            <a:off x="4477903" y="230591"/>
            <a:ext cx="161382" cy="161458"/>
            <a:chOff x="0" y="0"/>
            <a:chExt cx="161392" cy="161455"/>
          </a:xfrm>
        </p:grpSpPr>
        <p:sp>
          <p:nvSpPr>
            <p:cNvPr id="29" name="Freeform 29"/>
            <p:cNvSpPr/>
            <p:nvPr/>
          </p:nvSpPr>
          <p:spPr>
            <a:xfrm>
              <a:off x="-10" y="-88"/>
              <a:ext cx="161436" cy="161509"/>
            </a:xfrm>
            <a:custGeom>
              <a:avLst/>
              <a:gdLst/>
              <a:ahLst/>
              <a:cxnLst/>
              <a:rect l="l" t="t" r="r" b="b"/>
              <a:pathLst>
                <a:path w="161436" h="161509">
                  <a:moveTo>
                    <a:pt x="2169" y="99908"/>
                  </a:moveTo>
                  <a:cubicBezTo>
                    <a:pt x="-7864" y="57872"/>
                    <a:pt x="17791" y="14439"/>
                    <a:pt x="60845" y="2755"/>
                  </a:cubicBezTo>
                  <a:cubicBezTo>
                    <a:pt x="103899" y="-8929"/>
                    <a:pt x="148478" y="17614"/>
                    <a:pt x="159146" y="62190"/>
                  </a:cubicBezTo>
                  <a:cubicBezTo>
                    <a:pt x="169814" y="106766"/>
                    <a:pt x="142128" y="150581"/>
                    <a:pt x="98565" y="159724"/>
                  </a:cubicBezTo>
                  <a:cubicBezTo>
                    <a:pt x="54876" y="168868"/>
                    <a:pt x="12329" y="141945"/>
                    <a:pt x="2169" y="99908"/>
                  </a:cubicBezTo>
                </a:path>
              </a:pathLst>
            </a:custGeom>
            <a:solidFill>
              <a:srgbClr val="FFFFFF"/>
            </a:solidFill>
          </p:spPr>
        </p:sp>
      </p:grpSp>
      <p:grpSp>
        <p:nvGrpSpPr>
          <p:cNvPr id="30" name="Group 30"/>
          <p:cNvGrpSpPr/>
          <p:nvPr/>
        </p:nvGrpSpPr>
        <p:grpSpPr>
          <a:xfrm>
            <a:off x="4541796" y="892969"/>
            <a:ext cx="211426" cy="211503"/>
            <a:chOff x="0" y="0"/>
            <a:chExt cx="211430" cy="211506"/>
          </a:xfrm>
        </p:grpSpPr>
        <p:sp>
          <p:nvSpPr>
            <p:cNvPr id="31" name="Freeform 31"/>
            <p:cNvSpPr/>
            <p:nvPr/>
          </p:nvSpPr>
          <p:spPr>
            <a:xfrm>
              <a:off x="-26" y="-44"/>
              <a:ext cx="211512" cy="211508"/>
            </a:xfrm>
            <a:custGeom>
              <a:avLst/>
              <a:gdLst/>
              <a:ahLst/>
              <a:cxnLst/>
              <a:rect l="l" t="t" r="r" b="b"/>
              <a:pathLst>
                <a:path w="211512" h="211508">
                  <a:moveTo>
                    <a:pt x="31777" y="180515"/>
                  </a:moveTo>
                  <a:cubicBezTo>
                    <a:pt x="12599" y="161719"/>
                    <a:pt x="661" y="136445"/>
                    <a:pt x="26" y="108124"/>
                  </a:cubicBezTo>
                  <a:cubicBezTo>
                    <a:pt x="-609" y="79802"/>
                    <a:pt x="10313" y="54020"/>
                    <a:pt x="28475" y="34462"/>
                  </a:cubicBezTo>
                  <a:cubicBezTo>
                    <a:pt x="46890" y="14903"/>
                    <a:pt x="72545" y="1695"/>
                    <a:pt x="101756" y="171"/>
                  </a:cubicBezTo>
                  <a:cubicBezTo>
                    <a:pt x="130840" y="-1480"/>
                    <a:pt x="158018" y="8934"/>
                    <a:pt x="177958" y="27731"/>
                  </a:cubicBezTo>
                  <a:cubicBezTo>
                    <a:pt x="197897" y="46527"/>
                    <a:pt x="210852" y="73325"/>
                    <a:pt x="211487" y="103424"/>
                  </a:cubicBezTo>
                  <a:cubicBezTo>
                    <a:pt x="212122" y="133524"/>
                    <a:pt x="200438" y="160957"/>
                    <a:pt x="181260" y="180515"/>
                  </a:cubicBezTo>
                  <a:cubicBezTo>
                    <a:pt x="162082" y="200074"/>
                    <a:pt x="135666" y="211758"/>
                    <a:pt x="106455" y="211504"/>
                  </a:cubicBezTo>
                  <a:cubicBezTo>
                    <a:pt x="77244" y="211250"/>
                    <a:pt x="50954" y="199185"/>
                    <a:pt x="31777" y="180515"/>
                  </a:cubicBezTo>
                </a:path>
              </a:pathLst>
            </a:custGeom>
            <a:solidFill>
              <a:srgbClr val="FFFFFF"/>
            </a:solidFill>
          </p:spPr>
        </p:sp>
      </p:grpSp>
      <p:sp>
        <p:nvSpPr>
          <p:cNvPr id="32" name="Freeform 32"/>
          <p:cNvSpPr/>
          <p:nvPr/>
        </p:nvSpPr>
        <p:spPr>
          <a:xfrm>
            <a:off x="4994672" y="8631298"/>
            <a:ext cx="11534965" cy="1658750"/>
          </a:xfrm>
          <a:custGeom>
            <a:avLst/>
            <a:gdLst/>
            <a:ahLst/>
            <a:cxnLst/>
            <a:rect l="l" t="t" r="r" b="b"/>
            <a:pathLst>
              <a:path w="11534965" h="1658750">
                <a:moveTo>
                  <a:pt x="0" y="0"/>
                </a:moveTo>
                <a:lnTo>
                  <a:pt x="11534965" y="0"/>
                </a:lnTo>
                <a:lnTo>
                  <a:pt x="11534965" y="1658750"/>
                </a:lnTo>
                <a:lnTo>
                  <a:pt x="0" y="16587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3" name="Freeform 33"/>
          <p:cNvSpPr/>
          <p:nvPr/>
        </p:nvSpPr>
        <p:spPr>
          <a:xfrm>
            <a:off x="-601008" y="1315755"/>
            <a:ext cx="6268202" cy="4297632"/>
          </a:xfrm>
          <a:custGeom>
            <a:avLst/>
            <a:gdLst/>
            <a:ahLst/>
            <a:cxnLst/>
            <a:rect l="l" t="t" r="r" b="b"/>
            <a:pathLst>
              <a:path w="6268202" h="4297632">
                <a:moveTo>
                  <a:pt x="0" y="0"/>
                </a:moveTo>
                <a:lnTo>
                  <a:pt x="6268202" y="0"/>
                </a:lnTo>
                <a:lnTo>
                  <a:pt x="6268202" y="4297632"/>
                </a:lnTo>
                <a:lnTo>
                  <a:pt x="0" y="429763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4" name="Group 34"/>
          <p:cNvGrpSpPr/>
          <p:nvPr/>
        </p:nvGrpSpPr>
        <p:grpSpPr>
          <a:xfrm>
            <a:off x="5297014" y="5867"/>
            <a:ext cx="204149" cy="204226"/>
            <a:chOff x="0" y="0"/>
            <a:chExt cx="204153" cy="204229"/>
          </a:xfrm>
        </p:grpSpPr>
        <p:sp>
          <p:nvSpPr>
            <p:cNvPr id="35" name="Freeform 35"/>
            <p:cNvSpPr/>
            <p:nvPr/>
          </p:nvSpPr>
          <p:spPr>
            <a:xfrm>
              <a:off x="50" y="78"/>
              <a:ext cx="204137" cy="204112"/>
            </a:xfrm>
            <a:custGeom>
              <a:avLst/>
              <a:gdLst/>
              <a:ahLst/>
              <a:cxnLst/>
              <a:rect l="l" t="t" r="r" b="b"/>
              <a:pathLst>
                <a:path w="204137" h="204112">
                  <a:moveTo>
                    <a:pt x="2744" y="126291"/>
                  </a:moveTo>
                  <a:cubicBezTo>
                    <a:pt x="-9956" y="72949"/>
                    <a:pt x="22556" y="18211"/>
                    <a:pt x="77040" y="3478"/>
                  </a:cubicBezTo>
                  <a:cubicBezTo>
                    <a:pt x="131523" y="-11254"/>
                    <a:pt x="187785" y="22148"/>
                    <a:pt x="201247" y="78537"/>
                  </a:cubicBezTo>
                  <a:cubicBezTo>
                    <a:pt x="214709" y="134927"/>
                    <a:pt x="179784" y="190300"/>
                    <a:pt x="124665" y="201858"/>
                  </a:cubicBezTo>
                  <a:cubicBezTo>
                    <a:pt x="69547" y="213415"/>
                    <a:pt x="15444" y="179378"/>
                    <a:pt x="2744" y="126291"/>
                  </a:cubicBezTo>
                </a:path>
              </a:pathLst>
            </a:custGeom>
            <a:solidFill>
              <a:srgbClr val="FFFFFF"/>
            </a:solidFill>
          </p:spPr>
        </p:sp>
      </p:grpSp>
      <p:grpSp>
        <p:nvGrpSpPr>
          <p:cNvPr id="36" name="Group 36"/>
          <p:cNvGrpSpPr/>
          <p:nvPr/>
        </p:nvGrpSpPr>
        <p:grpSpPr>
          <a:xfrm>
            <a:off x="5377834" y="843867"/>
            <a:ext cx="267519" cy="267672"/>
            <a:chOff x="0" y="0"/>
            <a:chExt cx="267513" cy="267665"/>
          </a:xfrm>
        </p:grpSpPr>
        <p:sp>
          <p:nvSpPr>
            <p:cNvPr id="37" name="Freeform 37"/>
            <p:cNvSpPr/>
            <p:nvPr/>
          </p:nvSpPr>
          <p:spPr>
            <a:xfrm>
              <a:off x="-30" y="49"/>
              <a:ext cx="267519" cy="267542"/>
            </a:xfrm>
            <a:custGeom>
              <a:avLst/>
              <a:gdLst/>
              <a:ahLst/>
              <a:cxnLst/>
              <a:rect l="l" t="t" r="r" b="b"/>
              <a:pathLst>
                <a:path w="267519" h="267542">
                  <a:moveTo>
                    <a:pt x="40289" y="228293"/>
                  </a:moveTo>
                  <a:cubicBezTo>
                    <a:pt x="16032" y="204671"/>
                    <a:pt x="792" y="172541"/>
                    <a:pt x="30" y="136855"/>
                  </a:cubicBezTo>
                  <a:cubicBezTo>
                    <a:pt x="-732" y="101168"/>
                    <a:pt x="12984" y="68403"/>
                    <a:pt x="36098" y="43511"/>
                  </a:cubicBezTo>
                  <a:cubicBezTo>
                    <a:pt x="59212" y="18874"/>
                    <a:pt x="91723" y="2237"/>
                    <a:pt x="128553" y="205"/>
                  </a:cubicBezTo>
                  <a:cubicBezTo>
                    <a:pt x="165383" y="-1827"/>
                    <a:pt x="199800" y="11381"/>
                    <a:pt x="225073" y="35002"/>
                  </a:cubicBezTo>
                  <a:cubicBezTo>
                    <a:pt x="250345" y="58624"/>
                    <a:pt x="266728" y="92786"/>
                    <a:pt x="267490" y="130886"/>
                  </a:cubicBezTo>
                  <a:cubicBezTo>
                    <a:pt x="268252" y="168985"/>
                    <a:pt x="253647" y="203782"/>
                    <a:pt x="229390" y="228420"/>
                  </a:cubicBezTo>
                  <a:cubicBezTo>
                    <a:pt x="205261" y="253185"/>
                    <a:pt x="171479" y="267916"/>
                    <a:pt x="134522" y="267535"/>
                  </a:cubicBezTo>
                  <a:cubicBezTo>
                    <a:pt x="97565" y="267154"/>
                    <a:pt x="64419" y="251915"/>
                    <a:pt x="40162" y="228293"/>
                  </a:cubicBezTo>
                </a:path>
              </a:pathLst>
            </a:custGeom>
            <a:solidFill>
              <a:srgbClr val="FFFFFF"/>
            </a:solidFill>
          </p:spPr>
        </p:sp>
      </p:grpSp>
      <p:grpSp>
        <p:nvGrpSpPr>
          <p:cNvPr id="38" name="Group 38"/>
          <p:cNvGrpSpPr/>
          <p:nvPr/>
        </p:nvGrpSpPr>
        <p:grpSpPr>
          <a:xfrm>
            <a:off x="9544383" y="0"/>
            <a:ext cx="8743617" cy="10287000"/>
            <a:chOff x="0" y="0"/>
            <a:chExt cx="11658156" cy="13716000"/>
          </a:xfrm>
        </p:grpSpPr>
        <p:sp>
          <p:nvSpPr>
            <p:cNvPr id="39" name="Freeform 39"/>
            <p:cNvSpPr/>
            <p:nvPr/>
          </p:nvSpPr>
          <p:spPr>
            <a:xfrm>
              <a:off x="0" y="0"/>
              <a:ext cx="11658092" cy="13716000"/>
            </a:xfrm>
            <a:custGeom>
              <a:avLst/>
              <a:gdLst/>
              <a:ahLst/>
              <a:cxnLst/>
              <a:rect l="l" t="t" r="r" b="b"/>
              <a:pathLst>
                <a:path w="11658092" h="13716000">
                  <a:moveTo>
                    <a:pt x="4241419" y="0"/>
                  </a:moveTo>
                  <a:cubicBezTo>
                    <a:pt x="1711833" y="1423035"/>
                    <a:pt x="0" y="4157345"/>
                    <a:pt x="0" y="7296785"/>
                  </a:cubicBezTo>
                  <a:cubicBezTo>
                    <a:pt x="0" y="9878441"/>
                    <a:pt x="1157605" y="12186158"/>
                    <a:pt x="2975610" y="13716000"/>
                  </a:cubicBezTo>
                  <a:lnTo>
                    <a:pt x="11658092" y="13716000"/>
                  </a:lnTo>
                  <a:lnTo>
                    <a:pt x="11658092" y="0"/>
                  </a:lnTo>
                  <a:close/>
                </a:path>
              </a:pathLst>
            </a:custGeom>
            <a:blipFill>
              <a:blip r:embed="rId5"/>
              <a:stretch>
                <a:fillRect l="-36776" t="-7607" r="-77783" b="-13815"/>
              </a:stretch>
            </a:blipFill>
          </p:spPr>
        </p:sp>
      </p:grpSp>
      <p:sp>
        <p:nvSpPr>
          <p:cNvPr id="40" name="Freeform 40"/>
          <p:cNvSpPr/>
          <p:nvPr/>
        </p:nvSpPr>
        <p:spPr>
          <a:xfrm>
            <a:off x="4688357" y="8790346"/>
            <a:ext cx="1879321" cy="1563205"/>
          </a:xfrm>
          <a:custGeom>
            <a:avLst/>
            <a:gdLst/>
            <a:ahLst/>
            <a:cxnLst/>
            <a:rect l="l" t="t" r="r" b="b"/>
            <a:pathLst>
              <a:path w="1879321" h="1563205">
                <a:moveTo>
                  <a:pt x="0" y="0"/>
                </a:moveTo>
                <a:lnTo>
                  <a:pt x="1879321" y="0"/>
                </a:lnTo>
                <a:lnTo>
                  <a:pt x="1879321" y="1563205"/>
                </a:lnTo>
                <a:lnTo>
                  <a:pt x="0" y="156320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1" name="Freeform 41"/>
          <p:cNvSpPr/>
          <p:nvPr/>
        </p:nvSpPr>
        <p:spPr>
          <a:xfrm>
            <a:off x="-63503" y="-764086"/>
            <a:ext cx="20742916" cy="13524519"/>
          </a:xfrm>
          <a:custGeom>
            <a:avLst/>
            <a:gdLst/>
            <a:ahLst/>
            <a:cxnLst/>
            <a:rect l="l" t="t" r="r" b="b"/>
            <a:pathLst>
              <a:path w="20742916" h="13524519">
                <a:moveTo>
                  <a:pt x="0" y="0"/>
                </a:moveTo>
                <a:lnTo>
                  <a:pt x="20742916" y="0"/>
                </a:lnTo>
                <a:lnTo>
                  <a:pt x="20742916" y="13524519"/>
                </a:lnTo>
                <a:lnTo>
                  <a:pt x="0" y="135245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42" name="TextBox 42"/>
          <p:cNvSpPr txBox="1"/>
          <p:nvPr/>
        </p:nvSpPr>
        <p:spPr>
          <a:xfrm>
            <a:off x="1028700" y="3515830"/>
            <a:ext cx="7535161" cy="3600098"/>
          </a:xfrm>
          <a:prstGeom prst="rect">
            <a:avLst/>
          </a:prstGeom>
        </p:spPr>
        <p:txBody>
          <a:bodyPr lIns="0" tIns="0" rIns="0" bIns="0" rtlCol="0" anchor="t">
            <a:spAutoFit/>
          </a:bodyPr>
          <a:lstStyle/>
          <a:p>
            <a:pPr algn="l">
              <a:lnSpc>
                <a:spcPts val="13797"/>
              </a:lnSpc>
            </a:pPr>
            <a:r>
              <a:rPr lang="en-US" sz="9897" b="1">
                <a:solidFill>
                  <a:srgbClr val="0C3E80"/>
                </a:solidFill>
                <a:latin typeface="Poppins Bold"/>
                <a:ea typeface="Poppins Bold"/>
                <a:cs typeface="Poppins Bold"/>
                <a:sym typeface="Poppins Bold"/>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6551" y="-66551"/>
            <a:ext cx="18421093" cy="10420093"/>
          </a:xfrm>
          <a:custGeom>
            <a:avLst/>
            <a:gdLst/>
            <a:ahLst/>
            <a:cxnLst/>
            <a:rect l="l" t="t" r="r" b="b"/>
            <a:pathLst>
              <a:path w="18421093" h="10420093">
                <a:moveTo>
                  <a:pt x="0" y="0"/>
                </a:moveTo>
                <a:lnTo>
                  <a:pt x="18421093" y="0"/>
                </a:lnTo>
                <a:lnTo>
                  <a:pt x="18421093" y="10420093"/>
                </a:lnTo>
                <a:lnTo>
                  <a:pt x="0" y="10420093"/>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388501" y="0"/>
            <a:ext cx="5899499" cy="6502032"/>
            <a:chOff x="0" y="0"/>
            <a:chExt cx="7865999" cy="8669376"/>
          </a:xfrm>
        </p:grpSpPr>
        <p:sp>
          <p:nvSpPr>
            <p:cNvPr id="4" name="Freeform 4"/>
            <p:cNvSpPr/>
            <p:nvPr/>
          </p:nvSpPr>
          <p:spPr>
            <a:xfrm>
              <a:off x="0" y="0"/>
              <a:ext cx="7865999" cy="8669274"/>
            </a:xfrm>
            <a:custGeom>
              <a:avLst/>
              <a:gdLst/>
              <a:ahLst/>
              <a:cxnLst/>
              <a:rect l="l" t="t" r="r" b="b"/>
              <a:pathLst>
                <a:path w="7865999" h="8669274">
                  <a:moveTo>
                    <a:pt x="1610106" y="0"/>
                  </a:moveTo>
                  <a:cubicBezTo>
                    <a:pt x="1560195" y="45974"/>
                    <a:pt x="1511173" y="92964"/>
                    <a:pt x="1463167" y="140970"/>
                  </a:cubicBezTo>
                  <a:cubicBezTo>
                    <a:pt x="1405382" y="198755"/>
                    <a:pt x="1348994" y="257937"/>
                    <a:pt x="1294130" y="318516"/>
                  </a:cubicBezTo>
                  <a:cubicBezTo>
                    <a:pt x="1239266" y="379095"/>
                    <a:pt x="1185799" y="440944"/>
                    <a:pt x="1133983" y="504190"/>
                  </a:cubicBezTo>
                  <a:cubicBezTo>
                    <a:pt x="1082167" y="567436"/>
                    <a:pt x="1031875" y="631825"/>
                    <a:pt x="983107" y="697484"/>
                  </a:cubicBezTo>
                  <a:cubicBezTo>
                    <a:pt x="934339" y="763143"/>
                    <a:pt x="887349" y="829945"/>
                    <a:pt x="841883" y="898017"/>
                  </a:cubicBezTo>
                  <a:cubicBezTo>
                    <a:pt x="796417" y="966089"/>
                    <a:pt x="752729" y="1035050"/>
                    <a:pt x="710819" y="1105281"/>
                  </a:cubicBezTo>
                  <a:cubicBezTo>
                    <a:pt x="668909" y="1175512"/>
                    <a:pt x="628523" y="1246505"/>
                    <a:pt x="589915" y="1318641"/>
                  </a:cubicBezTo>
                  <a:cubicBezTo>
                    <a:pt x="551307" y="1390777"/>
                    <a:pt x="514604" y="1463802"/>
                    <a:pt x="479679" y="1537716"/>
                  </a:cubicBezTo>
                  <a:cubicBezTo>
                    <a:pt x="444754" y="1611630"/>
                    <a:pt x="411607" y="1686306"/>
                    <a:pt x="380365" y="1761871"/>
                  </a:cubicBezTo>
                  <a:cubicBezTo>
                    <a:pt x="349123" y="1837436"/>
                    <a:pt x="319659" y="1913636"/>
                    <a:pt x="292100" y="1990598"/>
                  </a:cubicBezTo>
                  <a:cubicBezTo>
                    <a:pt x="264541" y="2067560"/>
                    <a:pt x="238887" y="2145157"/>
                    <a:pt x="215138" y="2223389"/>
                  </a:cubicBezTo>
                  <a:cubicBezTo>
                    <a:pt x="191389" y="2301621"/>
                    <a:pt x="169545" y="2380361"/>
                    <a:pt x="149733" y="2459736"/>
                  </a:cubicBezTo>
                  <a:cubicBezTo>
                    <a:pt x="129921" y="2539111"/>
                    <a:pt x="112014" y="2618740"/>
                    <a:pt x="96012" y="2699004"/>
                  </a:cubicBezTo>
                  <a:cubicBezTo>
                    <a:pt x="80010" y="2779268"/>
                    <a:pt x="66040" y="2859786"/>
                    <a:pt x="54102" y="2940558"/>
                  </a:cubicBezTo>
                  <a:cubicBezTo>
                    <a:pt x="42164" y="3021330"/>
                    <a:pt x="32131" y="3102610"/>
                    <a:pt x="24130" y="3183890"/>
                  </a:cubicBezTo>
                  <a:cubicBezTo>
                    <a:pt x="16129" y="3265170"/>
                    <a:pt x="10033" y="3346831"/>
                    <a:pt x="5969" y="3428492"/>
                  </a:cubicBezTo>
                  <a:cubicBezTo>
                    <a:pt x="1905" y="3510153"/>
                    <a:pt x="0" y="3591814"/>
                    <a:pt x="0" y="3673602"/>
                  </a:cubicBezTo>
                  <a:cubicBezTo>
                    <a:pt x="0" y="3755390"/>
                    <a:pt x="2032" y="3837051"/>
                    <a:pt x="5969" y="3918712"/>
                  </a:cubicBezTo>
                  <a:cubicBezTo>
                    <a:pt x="9906" y="4000373"/>
                    <a:pt x="16002" y="4081907"/>
                    <a:pt x="24003" y="4163314"/>
                  </a:cubicBezTo>
                  <a:cubicBezTo>
                    <a:pt x="32004" y="4244721"/>
                    <a:pt x="42037" y="4325747"/>
                    <a:pt x="53975" y="4406646"/>
                  </a:cubicBezTo>
                  <a:cubicBezTo>
                    <a:pt x="65913" y="4487545"/>
                    <a:pt x="80010" y="4568063"/>
                    <a:pt x="96012" y="4648200"/>
                  </a:cubicBezTo>
                  <a:cubicBezTo>
                    <a:pt x="112014" y="4728337"/>
                    <a:pt x="129921" y="4808093"/>
                    <a:pt x="149733" y="4887468"/>
                  </a:cubicBezTo>
                  <a:cubicBezTo>
                    <a:pt x="169545" y="4966843"/>
                    <a:pt x="191389" y="5045583"/>
                    <a:pt x="215138" y="5123815"/>
                  </a:cubicBezTo>
                  <a:cubicBezTo>
                    <a:pt x="238887" y="5202047"/>
                    <a:pt x="264541" y="5279644"/>
                    <a:pt x="292100" y="5356606"/>
                  </a:cubicBezTo>
                  <a:cubicBezTo>
                    <a:pt x="319659" y="5433568"/>
                    <a:pt x="348996" y="5509895"/>
                    <a:pt x="380365" y="5585333"/>
                  </a:cubicBezTo>
                  <a:cubicBezTo>
                    <a:pt x="411734" y="5660771"/>
                    <a:pt x="444754" y="5735574"/>
                    <a:pt x="479679" y="5809488"/>
                  </a:cubicBezTo>
                  <a:cubicBezTo>
                    <a:pt x="514604" y="5883402"/>
                    <a:pt x="551434" y="5956427"/>
                    <a:pt x="589915" y="6028563"/>
                  </a:cubicBezTo>
                  <a:cubicBezTo>
                    <a:pt x="628396" y="6100699"/>
                    <a:pt x="668782" y="6171819"/>
                    <a:pt x="710819" y="6241923"/>
                  </a:cubicBezTo>
                  <a:cubicBezTo>
                    <a:pt x="752856" y="6312027"/>
                    <a:pt x="796544" y="6381115"/>
                    <a:pt x="842010" y="6449060"/>
                  </a:cubicBezTo>
                  <a:cubicBezTo>
                    <a:pt x="887476" y="6517005"/>
                    <a:pt x="934466" y="6583807"/>
                    <a:pt x="983234" y="6649593"/>
                  </a:cubicBezTo>
                  <a:cubicBezTo>
                    <a:pt x="1032002" y="6715379"/>
                    <a:pt x="1082167" y="6779641"/>
                    <a:pt x="1134110" y="6842887"/>
                  </a:cubicBezTo>
                  <a:cubicBezTo>
                    <a:pt x="1186053" y="6906133"/>
                    <a:pt x="1239393" y="6967982"/>
                    <a:pt x="1294257" y="7028561"/>
                  </a:cubicBezTo>
                  <a:cubicBezTo>
                    <a:pt x="1349121" y="7089140"/>
                    <a:pt x="1405509" y="7148322"/>
                    <a:pt x="1463294" y="7206107"/>
                  </a:cubicBezTo>
                  <a:cubicBezTo>
                    <a:pt x="1521079" y="7263892"/>
                    <a:pt x="1580261" y="7320280"/>
                    <a:pt x="1640840" y="7375144"/>
                  </a:cubicBezTo>
                  <a:cubicBezTo>
                    <a:pt x="1701419" y="7430008"/>
                    <a:pt x="1763268" y="7483475"/>
                    <a:pt x="1826514" y="7535291"/>
                  </a:cubicBezTo>
                  <a:cubicBezTo>
                    <a:pt x="1889760" y="7587107"/>
                    <a:pt x="1954149" y="7637399"/>
                    <a:pt x="2019808" y="7686167"/>
                  </a:cubicBezTo>
                  <a:cubicBezTo>
                    <a:pt x="2085467" y="7734935"/>
                    <a:pt x="2152269" y="7781925"/>
                    <a:pt x="2220341" y="7827391"/>
                  </a:cubicBezTo>
                  <a:cubicBezTo>
                    <a:pt x="2288413" y="7872857"/>
                    <a:pt x="2357374" y="7916545"/>
                    <a:pt x="2427478" y="7958582"/>
                  </a:cubicBezTo>
                  <a:cubicBezTo>
                    <a:pt x="2497582" y="8000619"/>
                    <a:pt x="2568702" y="8040878"/>
                    <a:pt x="2640838" y="8079486"/>
                  </a:cubicBezTo>
                  <a:cubicBezTo>
                    <a:pt x="2712974" y="8118094"/>
                    <a:pt x="2785999" y="8154797"/>
                    <a:pt x="2859913" y="8189722"/>
                  </a:cubicBezTo>
                  <a:cubicBezTo>
                    <a:pt x="2933827" y="8224647"/>
                    <a:pt x="3008503" y="8257794"/>
                    <a:pt x="3084068" y="8289036"/>
                  </a:cubicBezTo>
                  <a:cubicBezTo>
                    <a:pt x="3159633" y="8320278"/>
                    <a:pt x="3235833" y="8349742"/>
                    <a:pt x="3312795" y="8377301"/>
                  </a:cubicBezTo>
                  <a:cubicBezTo>
                    <a:pt x="3389757" y="8404860"/>
                    <a:pt x="3467354" y="8430514"/>
                    <a:pt x="3545586" y="8454263"/>
                  </a:cubicBezTo>
                  <a:cubicBezTo>
                    <a:pt x="3623818" y="8478012"/>
                    <a:pt x="3702558" y="8499856"/>
                    <a:pt x="3781933" y="8519668"/>
                  </a:cubicBezTo>
                  <a:cubicBezTo>
                    <a:pt x="3861308" y="8539480"/>
                    <a:pt x="3940937" y="8557387"/>
                    <a:pt x="4021201" y="8573389"/>
                  </a:cubicBezTo>
                  <a:cubicBezTo>
                    <a:pt x="4101465" y="8589391"/>
                    <a:pt x="4181983" y="8603361"/>
                    <a:pt x="4262755" y="8615299"/>
                  </a:cubicBezTo>
                  <a:cubicBezTo>
                    <a:pt x="4343527" y="8627237"/>
                    <a:pt x="4424807" y="8637270"/>
                    <a:pt x="4506087" y="8645271"/>
                  </a:cubicBezTo>
                  <a:cubicBezTo>
                    <a:pt x="4587367" y="8653272"/>
                    <a:pt x="4669028" y="8659241"/>
                    <a:pt x="4750689" y="8663305"/>
                  </a:cubicBezTo>
                  <a:cubicBezTo>
                    <a:pt x="4832350" y="8667369"/>
                    <a:pt x="4914011" y="8669274"/>
                    <a:pt x="4995799" y="8669274"/>
                  </a:cubicBezTo>
                  <a:cubicBezTo>
                    <a:pt x="5077587" y="8669274"/>
                    <a:pt x="5159248" y="8667242"/>
                    <a:pt x="5240909" y="8663305"/>
                  </a:cubicBezTo>
                  <a:cubicBezTo>
                    <a:pt x="5322570" y="8659368"/>
                    <a:pt x="5404104" y="8653272"/>
                    <a:pt x="5485511" y="8645271"/>
                  </a:cubicBezTo>
                  <a:cubicBezTo>
                    <a:pt x="5566918" y="8637270"/>
                    <a:pt x="5647944" y="8627237"/>
                    <a:pt x="5728843" y="8615299"/>
                  </a:cubicBezTo>
                  <a:cubicBezTo>
                    <a:pt x="5809742" y="8603361"/>
                    <a:pt x="5890260" y="8589391"/>
                    <a:pt x="5970397" y="8573389"/>
                  </a:cubicBezTo>
                  <a:cubicBezTo>
                    <a:pt x="6050534" y="8557387"/>
                    <a:pt x="6130290" y="8539480"/>
                    <a:pt x="6209665" y="8519668"/>
                  </a:cubicBezTo>
                  <a:cubicBezTo>
                    <a:pt x="6289040" y="8499856"/>
                    <a:pt x="6367780" y="8478012"/>
                    <a:pt x="6446012" y="8454263"/>
                  </a:cubicBezTo>
                  <a:cubicBezTo>
                    <a:pt x="6524244" y="8430514"/>
                    <a:pt x="6601841" y="8404860"/>
                    <a:pt x="6678803" y="8377301"/>
                  </a:cubicBezTo>
                  <a:cubicBezTo>
                    <a:pt x="6755765" y="8349742"/>
                    <a:pt x="6832092" y="8320278"/>
                    <a:pt x="6907530" y="8289036"/>
                  </a:cubicBezTo>
                  <a:cubicBezTo>
                    <a:pt x="6982968" y="8257794"/>
                    <a:pt x="7057771" y="8224647"/>
                    <a:pt x="7131685" y="8189722"/>
                  </a:cubicBezTo>
                  <a:cubicBezTo>
                    <a:pt x="7205599" y="8154797"/>
                    <a:pt x="7278624" y="8117967"/>
                    <a:pt x="7350760" y="8079486"/>
                  </a:cubicBezTo>
                  <a:cubicBezTo>
                    <a:pt x="7422896" y="8041005"/>
                    <a:pt x="7494016" y="8000619"/>
                    <a:pt x="7564120" y="7958582"/>
                  </a:cubicBezTo>
                  <a:cubicBezTo>
                    <a:pt x="7634224" y="7916545"/>
                    <a:pt x="7703312" y="7872857"/>
                    <a:pt x="7771257" y="7827391"/>
                  </a:cubicBezTo>
                  <a:cubicBezTo>
                    <a:pt x="7803134" y="7806182"/>
                    <a:pt x="7834630" y="7784465"/>
                    <a:pt x="7865999" y="7762494"/>
                  </a:cubicBezTo>
                  <a:lnTo>
                    <a:pt x="7865999" y="0"/>
                  </a:lnTo>
                  <a:close/>
                </a:path>
              </a:pathLst>
            </a:custGeom>
            <a:blipFill>
              <a:blip r:embed="rId3"/>
              <a:stretch>
                <a:fillRect l="-31815" t="-15251" r="-58806" b="-54"/>
              </a:stretch>
            </a:blipFill>
          </p:spPr>
        </p:sp>
      </p:grpSp>
      <p:sp>
        <p:nvSpPr>
          <p:cNvPr id="5" name="Freeform 5"/>
          <p:cNvSpPr/>
          <p:nvPr/>
        </p:nvSpPr>
        <p:spPr>
          <a:xfrm>
            <a:off x="14222130" y="5554513"/>
            <a:ext cx="4132412" cy="4799038"/>
          </a:xfrm>
          <a:custGeom>
            <a:avLst/>
            <a:gdLst/>
            <a:ahLst/>
            <a:cxnLst/>
            <a:rect l="l" t="t" r="r" b="b"/>
            <a:pathLst>
              <a:path w="4132412" h="4799038">
                <a:moveTo>
                  <a:pt x="0" y="0"/>
                </a:moveTo>
                <a:lnTo>
                  <a:pt x="4132412" y="0"/>
                </a:lnTo>
                <a:lnTo>
                  <a:pt x="4132412" y="4799038"/>
                </a:lnTo>
                <a:lnTo>
                  <a:pt x="0" y="4799038"/>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4624618" y="5956992"/>
            <a:ext cx="3663382" cy="4330008"/>
            <a:chOff x="0" y="0"/>
            <a:chExt cx="4884509" cy="5773344"/>
          </a:xfrm>
        </p:grpSpPr>
        <p:sp>
          <p:nvSpPr>
            <p:cNvPr id="7" name="Freeform 7"/>
            <p:cNvSpPr/>
            <p:nvPr/>
          </p:nvSpPr>
          <p:spPr>
            <a:xfrm>
              <a:off x="0" y="0"/>
              <a:ext cx="4884547" cy="5773420"/>
            </a:xfrm>
            <a:custGeom>
              <a:avLst/>
              <a:gdLst/>
              <a:ahLst/>
              <a:cxnLst/>
              <a:rect l="l" t="t" r="r" b="b"/>
              <a:pathLst>
                <a:path w="4884547" h="5773420">
                  <a:moveTo>
                    <a:pt x="2961767" y="0"/>
                  </a:moveTo>
                  <a:cubicBezTo>
                    <a:pt x="2864739" y="0"/>
                    <a:pt x="2767965" y="4699"/>
                    <a:pt x="2671445" y="14224"/>
                  </a:cubicBezTo>
                  <a:cubicBezTo>
                    <a:pt x="2574925" y="23749"/>
                    <a:pt x="2479040" y="37973"/>
                    <a:pt x="2383917" y="56896"/>
                  </a:cubicBezTo>
                  <a:cubicBezTo>
                    <a:pt x="2288794" y="75819"/>
                    <a:pt x="2194814" y="99314"/>
                    <a:pt x="2101977" y="127508"/>
                  </a:cubicBezTo>
                  <a:cubicBezTo>
                    <a:pt x="2009140" y="155702"/>
                    <a:pt x="1917954" y="188341"/>
                    <a:pt x="1828292" y="225425"/>
                  </a:cubicBezTo>
                  <a:cubicBezTo>
                    <a:pt x="1738630" y="262509"/>
                    <a:pt x="1651127" y="303911"/>
                    <a:pt x="1565529" y="349758"/>
                  </a:cubicBezTo>
                  <a:cubicBezTo>
                    <a:pt x="1479931" y="395605"/>
                    <a:pt x="1397000" y="445262"/>
                    <a:pt x="1316228" y="499110"/>
                  </a:cubicBezTo>
                  <a:cubicBezTo>
                    <a:pt x="1235456" y="552958"/>
                    <a:pt x="1157859" y="610743"/>
                    <a:pt x="1082802" y="672338"/>
                  </a:cubicBezTo>
                  <a:cubicBezTo>
                    <a:pt x="1007745" y="733933"/>
                    <a:pt x="936117" y="798830"/>
                    <a:pt x="867537" y="867537"/>
                  </a:cubicBezTo>
                  <a:cubicBezTo>
                    <a:pt x="798957" y="936244"/>
                    <a:pt x="733806" y="1007872"/>
                    <a:pt x="672338" y="1082802"/>
                  </a:cubicBezTo>
                  <a:cubicBezTo>
                    <a:pt x="610870" y="1157732"/>
                    <a:pt x="553085" y="1235583"/>
                    <a:pt x="499110" y="1316228"/>
                  </a:cubicBezTo>
                  <a:cubicBezTo>
                    <a:pt x="445135" y="1396873"/>
                    <a:pt x="395351" y="1479931"/>
                    <a:pt x="349631" y="1565529"/>
                  </a:cubicBezTo>
                  <a:cubicBezTo>
                    <a:pt x="303911" y="1651127"/>
                    <a:pt x="262509" y="1738630"/>
                    <a:pt x="225298" y="1828292"/>
                  </a:cubicBezTo>
                  <a:cubicBezTo>
                    <a:pt x="188087" y="1917954"/>
                    <a:pt x="155575" y="2009140"/>
                    <a:pt x="127381" y="2101977"/>
                  </a:cubicBezTo>
                  <a:cubicBezTo>
                    <a:pt x="99187" y="2194814"/>
                    <a:pt x="75692" y="2288794"/>
                    <a:pt x="56769" y="2383917"/>
                  </a:cubicBezTo>
                  <a:cubicBezTo>
                    <a:pt x="37846" y="2479040"/>
                    <a:pt x="23622" y="2574925"/>
                    <a:pt x="14097" y="2671445"/>
                  </a:cubicBezTo>
                  <a:cubicBezTo>
                    <a:pt x="4572" y="2767965"/>
                    <a:pt x="0" y="2864739"/>
                    <a:pt x="0" y="2961767"/>
                  </a:cubicBezTo>
                  <a:cubicBezTo>
                    <a:pt x="0" y="3058795"/>
                    <a:pt x="4699" y="3155569"/>
                    <a:pt x="14224" y="3252089"/>
                  </a:cubicBezTo>
                  <a:cubicBezTo>
                    <a:pt x="23749" y="3348609"/>
                    <a:pt x="37973" y="3444494"/>
                    <a:pt x="56896" y="3539617"/>
                  </a:cubicBezTo>
                  <a:cubicBezTo>
                    <a:pt x="75819" y="3634740"/>
                    <a:pt x="99314" y="3728720"/>
                    <a:pt x="127508" y="3821557"/>
                  </a:cubicBezTo>
                  <a:cubicBezTo>
                    <a:pt x="155702" y="3914394"/>
                    <a:pt x="188341" y="4005580"/>
                    <a:pt x="225425" y="4095242"/>
                  </a:cubicBezTo>
                  <a:cubicBezTo>
                    <a:pt x="262509" y="4184904"/>
                    <a:pt x="303911" y="4272407"/>
                    <a:pt x="349758" y="4358005"/>
                  </a:cubicBezTo>
                  <a:cubicBezTo>
                    <a:pt x="395605" y="4443603"/>
                    <a:pt x="445262" y="4526661"/>
                    <a:pt x="499237" y="4607306"/>
                  </a:cubicBezTo>
                  <a:cubicBezTo>
                    <a:pt x="553212" y="4687951"/>
                    <a:pt x="610870" y="4765802"/>
                    <a:pt x="672338" y="4840732"/>
                  </a:cubicBezTo>
                  <a:cubicBezTo>
                    <a:pt x="733806" y="4915662"/>
                    <a:pt x="798957" y="4987544"/>
                    <a:pt x="867537" y="5056124"/>
                  </a:cubicBezTo>
                  <a:cubicBezTo>
                    <a:pt x="936117" y="5124704"/>
                    <a:pt x="1007872" y="5189728"/>
                    <a:pt x="1082929" y="5251323"/>
                  </a:cubicBezTo>
                  <a:cubicBezTo>
                    <a:pt x="1157986" y="5312918"/>
                    <a:pt x="1235710" y="5370576"/>
                    <a:pt x="1316355" y="5424424"/>
                  </a:cubicBezTo>
                  <a:cubicBezTo>
                    <a:pt x="1397000" y="5478272"/>
                    <a:pt x="1480058" y="5528183"/>
                    <a:pt x="1565656" y="5573903"/>
                  </a:cubicBezTo>
                  <a:cubicBezTo>
                    <a:pt x="1651254" y="5619623"/>
                    <a:pt x="1738757" y="5661025"/>
                    <a:pt x="1828419" y="5698109"/>
                  </a:cubicBezTo>
                  <a:cubicBezTo>
                    <a:pt x="1894967" y="5725668"/>
                    <a:pt x="1962404" y="5750814"/>
                    <a:pt x="2030730" y="5773420"/>
                  </a:cubicBezTo>
                  <a:lnTo>
                    <a:pt x="3892931" y="5773420"/>
                  </a:lnTo>
                  <a:cubicBezTo>
                    <a:pt x="3961257" y="5750814"/>
                    <a:pt x="4028694" y="5725668"/>
                    <a:pt x="4095242" y="5698109"/>
                  </a:cubicBezTo>
                  <a:cubicBezTo>
                    <a:pt x="4184904" y="5661025"/>
                    <a:pt x="4272407" y="5619623"/>
                    <a:pt x="4358005" y="5573903"/>
                  </a:cubicBezTo>
                  <a:cubicBezTo>
                    <a:pt x="4443603" y="5528183"/>
                    <a:pt x="4526661" y="5478399"/>
                    <a:pt x="4607306" y="5424424"/>
                  </a:cubicBezTo>
                  <a:cubicBezTo>
                    <a:pt x="4687951" y="5370449"/>
                    <a:pt x="4765802" y="5312791"/>
                    <a:pt x="4840732" y="5251323"/>
                  </a:cubicBezTo>
                  <a:cubicBezTo>
                    <a:pt x="4855464" y="5239258"/>
                    <a:pt x="4870069" y="5226939"/>
                    <a:pt x="4884547" y="5214620"/>
                  </a:cubicBezTo>
                  <a:lnTo>
                    <a:pt x="4884547" y="709041"/>
                  </a:lnTo>
                  <a:cubicBezTo>
                    <a:pt x="4870069" y="696722"/>
                    <a:pt x="4855464" y="684403"/>
                    <a:pt x="4840732" y="672338"/>
                  </a:cubicBezTo>
                  <a:cubicBezTo>
                    <a:pt x="4765802" y="610743"/>
                    <a:pt x="4687951" y="553085"/>
                    <a:pt x="4607306" y="499237"/>
                  </a:cubicBezTo>
                  <a:cubicBezTo>
                    <a:pt x="4526661" y="445389"/>
                    <a:pt x="4443603" y="395478"/>
                    <a:pt x="4358005" y="349758"/>
                  </a:cubicBezTo>
                  <a:cubicBezTo>
                    <a:pt x="4272407" y="304038"/>
                    <a:pt x="4184904" y="262636"/>
                    <a:pt x="4095242" y="225425"/>
                  </a:cubicBezTo>
                  <a:cubicBezTo>
                    <a:pt x="4005580" y="188214"/>
                    <a:pt x="3914394" y="155702"/>
                    <a:pt x="3821557" y="127508"/>
                  </a:cubicBezTo>
                  <a:cubicBezTo>
                    <a:pt x="3728720" y="99314"/>
                    <a:pt x="3634740" y="75819"/>
                    <a:pt x="3539617" y="56896"/>
                  </a:cubicBezTo>
                  <a:cubicBezTo>
                    <a:pt x="3444494" y="37973"/>
                    <a:pt x="3348609" y="23749"/>
                    <a:pt x="3252089" y="14224"/>
                  </a:cubicBezTo>
                  <a:cubicBezTo>
                    <a:pt x="3155569" y="4699"/>
                    <a:pt x="3058795" y="0"/>
                    <a:pt x="2961767" y="0"/>
                  </a:cubicBezTo>
                  <a:close/>
                </a:path>
              </a:pathLst>
            </a:custGeom>
            <a:blipFill>
              <a:blip r:embed="rId5"/>
              <a:stretch>
                <a:fillRect l="-30374" r="-51615" b="-2646"/>
              </a:stretch>
            </a:blipFill>
          </p:spPr>
        </p:sp>
      </p:grpSp>
      <p:sp>
        <p:nvSpPr>
          <p:cNvPr id="8" name="Freeform 8"/>
          <p:cNvSpPr/>
          <p:nvPr/>
        </p:nvSpPr>
        <p:spPr>
          <a:xfrm>
            <a:off x="-63056" y="2320404"/>
            <a:ext cx="9270549" cy="193672"/>
          </a:xfrm>
          <a:custGeom>
            <a:avLst/>
            <a:gdLst/>
            <a:ahLst/>
            <a:cxnLst/>
            <a:rect l="l" t="t" r="r" b="b"/>
            <a:pathLst>
              <a:path w="9270549" h="193672">
                <a:moveTo>
                  <a:pt x="0" y="0"/>
                </a:moveTo>
                <a:lnTo>
                  <a:pt x="9270550" y="0"/>
                </a:lnTo>
                <a:lnTo>
                  <a:pt x="9270550" y="193672"/>
                </a:lnTo>
                <a:lnTo>
                  <a:pt x="0" y="19367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9896142" y="1557099"/>
            <a:ext cx="1232164" cy="452561"/>
          </a:xfrm>
          <a:custGeom>
            <a:avLst/>
            <a:gdLst/>
            <a:ahLst/>
            <a:cxnLst/>
            <a:rect l="l" t="t" r="r" b="b"/>
            <a:pathLst>
              <a:path w="1232164" h="452561">
                <a:moveTo>
                  <a:pt x="0" y="0"/>
                </a:moveTo>
                <a:lnTo>
                  <a:pt x="1232163" y="0"/>
                </a:lnTo>
                <a:lnTo>
                  <a:pt x="1232163" y="452562"/>
                </a:lnTo>
                <a:lnTo>
                  <a:pt x="0" y="45256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0" name="Freeform 10"/>
          <p:cNvSpPr/>
          <p:nvPr/>
        </p:nvSpPr>
        <p:spPr>
          <a:xfrm>
            <a:off x="-63503" y="4553350"/>
            <a:ext cx="18414997" cy="5797153"/>
          </a:xfrm>
          <a:custGeom>
            <a:avLst/>
            <a:gdLst/>
            <a:ahLst/>
            <a:cxnLst/>
            <a:rect l="l" t="t" r="r" b="b"/>
            <a:pathLst>
              <a:path w="18414997" h="5797153">
                <a:moveTo>
                  <a:pt x="0" y="0"/>
                </a:moveTo>
                <a:lnTo>
                  <a:pt x="18414997" y="0"/>
                </a:lnTo>
                <a:lnTo>
                  <a:pt x="18414997" y="5797153"/>
                </a:lnTo>
                <a:lnTo>
                  <a:pt x="0" y="57971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381000" y="177682"/>
            <a:ext cx="7938992" cy="1031243"/>
          </a:xfrm>
          <a:prstGeom prst="rect">
            <a:avLst/>
          </a:prstGeom>
        </p:spPr>
        <p:txBody>
          <a:bodyPr lIns="0" tIns="0" rIns="0" bIns="0" rtlCol="0" anchor="t">
            <a:spAutoFit/>
          </a:bodyPr>
          <a:lstStyle/>
          <a:p>
            <a:pPr algn="l">
              <a:lnSpc>
                <a:spcPts val="8302"/>
              </a:lnSpc>
            </a:pPr>
            <a:r>
              <a:rPr lang="en-US" sz="5930" b="1" dirty="0">
                <a:solidFill>
                  <a:srgbClr val="003780"/>
                </a:solidFill>
                <a:latin typeface="Montserrat Bold"/>
                <a:ea typeface="Montserrat Bold"/>
                <a:cs typeface="Montserrat Bold"/>
                <a:sym typeface="Montserrat Bold"/>
              </a:rPr>
              <a:t>Problem Statement</a:t>
            </a:r>
          </a:p>
        </p:txBody>
      </p:sp>
      <p:sp>
        <p:nvSpPr>
          <p:cNvPr id="12" name="TextBox 12"/>
          <p:cNvSpPr txBox="1"/>
          <p:nvPr/>
        </p:nvSpPr>
        <p:spPr>
          <a:xfrm>
            <a:off x="10479119" y="6746405"/>
            <a:ext cx="3423404" cy="580396"/>
          </a:xfrm>
          <a:prstGeom prst="rect">
            <a:avLst/>
          </a:prstGeom>
        </p:spPr>
        <p:txBody>
          <a:bodyPr lIns="0" tIns="0" rIns="0" bIns="0" rtlCol="0" anchor="t">
            <a:spAutoFit/>
          </a:bodyPr>
          <a:lstStyle/>
          <a:p>
            <a:pPr algn="l">
              <a:lnSpc>
                <a:spcPts val="4759"/>
              </a:lnSpc>
            </a:pPr>
            <a:r>
              <a:rPr lang="en-US" sz="3399" b="1">
                <a:solidFill>
                  <a:srgbClr val="FFFFFF"/>
                </a:solidFill>
                <a:latin typeface="Montserrat Bold"/>
                <a:ea typeface="Montserrat Bold"/>
                <a:cs typeface="Montserrat Bold"/>
                <a:sym typeface="Montserrat Bold"/>
              </a:rPr>
              <a:t>Tujuan Analisis</a:t>
            </a:r>
          </a:p>
        </p:txBody>
      </p:sp>
      <p:sp>
        <p:nvSpPr>
          <p:cNvPr id="13" name="TextBox 13"/>
          <p:cNvSpPr txBox="1"/>
          <p:nvPr/>
        </p:nvSpPr>
        <p:spPr>
          <a:xfrm>
            <a:off x="381000" y="2476385"/>
            <a:ext cx="10317759" cy="3658726"/>
          </a:xfrm>
          <a:prstGeom prst="rect">
            <a:avLst/>
          </a:prstGeom>
        </p:spPr>
        <p:txBody>
          <a:bodyPr wrap="square" lIns="0" tIns="0" rIns="0" bIns="0" rtlCol="0" anchor="t">
            <a:spAutoFit/>
          </a:bodyPr>
          <a:lstStyle/>
          <a:p>
            <a:pPr algn="l">
              <a:lnSpc>
                <a:spcPts val="2630"/>
              </a:lnSpc>
              <a:spcBef>
                <a:spcPct val="0"/>
              </a:spcBef>
            </a:pPr>
            <a:r>
              <a:rPr lang="en-US" sz="1887" b="1" dirty="0" err="1">
                <a:solidFill>
                  <a:srgbClr val="000000"/>
                </a:solidFill>
                <a:latin typeface="Montserrat Bold"/>
                <a:ea typeface="Montserrat Bold"/>
                <a:cs typeface="Montserrat Bold"/>
                <a:sym typeface="Montserrat Bold"/>
              </a:rPr>
              <a:t>Perkembangan</a:t>
            </a:r>
            <a:r>
              <a:rPr lang="en-US" sz="1887" b="1" dirty="0">
                <a:solidFill>
                  <a:srgbClr val="000000"/>
                </a:solidFill>
                <a:latin typeface="Montserrat Bold"/>
                <a:ea typeface="Montserrat Bold"/>
                <a:cs typeface="Montserrat Bold"/>
                <a:sym typeface="Montserrat Bold"/>
              </a:rPr>
              <a:t> platform streaming </a:t>
            </a:r>
            <a:r>
              <a:rPr lang="en-US" sz="1887" b="1" dirty="0" err="1">
                <a:solidFill>
                  <a:srgbClr val="000000"/>
                </a:solidFill>
                <a:latin typeface="Montserrat Bold"/>
                <a:ea typeface="Montserrat Bold"/>
                <a:cs typeface="Montserrat Bold"/>
                <a:sym typeface="Montserrat Bold"/>
              </a:rPr>
              <a:t>seperti</a:t>
            </a:r>
            <a:r>
              <a:rPr lang="en-US" sz="1887" b="1" dirty="0">
                <a:solidFill>
                  <a:srgbClr val="000000"/>
                </a:solidFill>
                <a:latin typeface="Montserrat Bold"/>
                <a:ea typeface="Montserrat Bold"/>
                <a:cs typeface="Montserrat Bold"/>
                <a:sym typeface="Montserrat Bold"/>
              </a:rPr>
              <a:t> Disney+ </a:t>
            </a:r>
            <a:r>
              <a:rPr lang="en-US" sz="1887" b="1" dirty="0" err="1">
                <a:solidFill>
                  <a:srgbClr val="000000"/>
                </a:solidFill>
                <a:latin typeface="Montserrat Bold"/>
                <a:ea typeface="Montserrat Bold"/>
                <a:cs typeface="Montserrat Bold"/>
                <a:sym typeface="Montserrat Bold"/>
              </a:rPr>
              <a:t>membuat</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masyarakat</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semakin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mudah</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dalam</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mengakses</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berbagai</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jenis</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hiburan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seperti</a:t>
            </a:r>
            <a:r>
              <a:rPr lang="en-US" sz="1887" b="1" dirty="0">
                <a:solidFill>
                  <a:srgbClr val="000000"/>
                </a:solidFill>
                <a:latin typeface="Montserrat Bold"/>
                <a:ea typeface="Montserrat Bold"/>
                <a:cs typeface="Montserrat Bold"/>
                <a:sym typeface="Montserrat Bold"/>
              </a:rPr>
              <a:t> film dan serial TV. Platform </a:t>
            </a:r>
            <a:r>
              <a:rPr lang="en-US" sz="1887" b="1" dirty="0" err="1">
                <a:solidFill>
                  <a:srgbClr val="000000"/>
                </a:solidFill>
                <a:latin typeface="Montserrat Bold"/>
                <a:ea typeface="Montserrat Bold"/>
                <a:cs typeface="Montserrat Bold"/>
                <a:sym typeface="Montserrat Bold"/>
              </a:rPr>
              <a:t>ini</a:t>
            </a:r>
            <a:r>
              <a:rPr lang="en-US" sz="1887" b="1" dirty="0">
                <a:solidFill>
                  <a:srgbClr val="000000"/>
                </a:solidFill>
                <a:latin typeface="Montserrat Bold"/>
                <a:ea typeface="Montserrat Bold"/>
                <a:cs typeface="Montserrat Bold"/>
                <a:sym typeface="Montserrat Bold"/>
              </a:rPr>
              <a:t> juga </a:t>
            </a:r>
            <a:r>
              <a:rPr lang="en-US" sz="1887" b="1" dirty="0" err="1">
                <a:solidFill>
                  <a:srgbClr val="000000"/>
                </a:solidFill>
                <a:latin typeface="Montserrat Bold"/>
                <a:ea typeface="Montserrat Bold"/>
                <a:cs typeface="Montserrat Bold"/>
                <a:sym typeface="Montserrat Bold"/>
              </a:rPr>
              <a:t>menyediakan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banyak</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konten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dari</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berbagai</a:t>
            </a:r>
            <a:r>
              <a:rPr lang="en-US" sz="1887" b="1" dirty="0">
                <a:solidFill>
                  <a:srgbClr val="000000"/>
                </a:solidFill>
                <a:latin typeface="Montserrat Bold"/>
                <a:ea typeface="Montserrat Bold"/>
                <a:cs typeface="Montserrat Bold"/>
                <a:sym typeface="Montserrat Bold"/>
              </a:rPr>
              <a:t> genre dan negara </a:t>
            </a:r>
            <a:r>
              <a:rPr lang="en-US" sz="1887" b="1" dirty="0" err="1">
                <a:solidFill>
                  <a:srgbClr val="000000"/>
                </a:solidFill>
                <a:latin typeface="Montserrat Bold"/>
                <a:ea typeface="Montserrat Bold"/>
                <a:cs typeface="Montserrat Bold"/>
                <a:sym typeface="Montserrat Bold"/>
              </a:rPr>
              <a:t>sehingga</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pengguna</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memiliki</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banyak</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pilihan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untuk</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ditonton</a:t>
            </a:r>
            <a:r>
              <a:rPr lang="en-US" sz="1887" b="1" dirty="0">
                <a:solidFill>
                  <a:srgbClr val="000000"/>
                </a:solidFill>
                <a:latin typeface="Montserrat Bold"/>
                <a:ea typeface="Montserrat Bold"/>
                <a:cs typeface="Montserrat Bold"/>
                <a:sym typeface="Montserrat Bold"/>
              </a:rPr>
              <a:t>.  </a:t>
            </a:r>
          </a:p>
          <a:p>
            <a:pPr algn="l">
              <a:lnSpc>
                <a:spcPts val="2630"/>
              </a:lnSpc>
              <a:spcBef>
                <a:spcPct val="0"/>
              </a:spcBef>
            </a:pPr>
            <a:endParaRPr lang="en-US" sz="1887" b="1" dirty="0">
              <a:solidFill>
                <a:srgbClr val="000000"/>
              </a:solidFill>
              <a:latin typeface="Montserrat Bold"/>
              <a:ea typeface="Montserrat Bold"/>
              <a:cs typeface="Montserrat Bold"/>
              <a:sym typeface="Montserrat Bold"/>
            </a:endParaRPr>
          </a:p>
          <a:p>
            <a:pPr algn="l">
              <a:lnSpc>
                <a:spcPts val="2630"/>
              </a:lnSpc>
              <a:spcBef>
                <a:spcPct val="0"/>
              </a:spcBef>
            </a:pPr>
            <a:r>
              <a:rPr lang="en-US" sz="1887" b="1" dirty="0" err="1">
                <a:solidFill>
                  <a:srgbClr val="000000"/>
                </a:solidFill>
                <a:latin typeface="Montserrat Bold"/>
                <a:ea typeface="Montserrat Bold"/>
                <a:cs typeface="Montserrat Bold"/>
                <a:sym typeface="Montserrat Bold"/>
              </a:rPr>
              <a:t>Dengan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banyaknya</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konten</a:t>
            </a:r>
            <a:r>
              <a:rPr lang="en-US" sz="1887" b="1" dirty="0">
                <a:solidFill>
                  <a:srgbClr val="000000"/>
                </a:solidFill>
                <a:latin typeface="Montserrat Bold"/>
                <a:ea typeface="Montserrat Bold"/>
                <a:cs typeface="Montserrat Bold"/>
                <a:sym typeface="Montserrat Bold"/>
              </a:rPr>
              <a:t> yang </a:t>
            </a:r>
            <a:r>
              <a:rPr lang="en-US" sz="1887" b="1" dirty="0" err="1">
                <a:solidFill>
                  <a:srgbClr val="000000"/>
                </a:solidFill>
                <a:latin typeface="Montserrat Bold"/>
                <a:ea typeface="Montserrat Bold"/>
                <a:cs typeface="Montserrat Bold"/>
                <a:sym typeface="Montserrat Bold"/>
              </a:rPr>
              <a:t>ada</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dilakukanlah</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analisis</a:t>
            </a:r>
            <a:r>
              <a:rPr lang="en-US" sz="1887" b="1" dirty="0">
                <a:solidFill>
                  <a:srgbClr val="000000"/>
                </a:solidFill>
                <a:latin typeface="Montserrat Bold"/>
                <a:ea typeface="Montserrat Bold"/>
                <a:cs typeface="Montserrat Bold"/>
                <a:sym typeface="Montserrat Bold"/>
              </a:rPr>
              <a:t> data </a:t>
            </a:r>
            <a:r>
              <a:rPr lang="en-US" sz="1887" b="1" dirty="0" err="1">
                <a:solidFill>
                  <a:srgbClr val="000000"/>
                </a:solidFill>
                <a:latin typeface="Montserrat Bold"/>
                <a:ea typeface="Montserrat Bold"/>
                <a:cs typeface="Montserrat Bold"/>
                <a:sym typeface="Montserrat Bold"/>
              </a:rPr>
              <a:t>untuk</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memahami</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bagaimana</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distribusi</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konten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konten</a:t>
            </a:r>
            <a:r>
              <a:rPr lang="en-US" sz="1887" b="1" dirty="0">
                <a:solidFill>
                  <a:srgbClr val="000000"/>
                </a:solidFill>
                <a:latin typeface="Montserrat Bold"/>
                <a:ea typeface="Montserrat Bold"/>
                <a:cs typeface="Montserrat Bold"/>
                <a:sym typeface="Montserrat Bold"/>
              </a:rPr>
              <a:t> di </a:t>
            </a:r>
            <a:r>
              <a:rPr lang="en-US" sz="1887" b="1" dirty="0" err="1">
                <a:solidFill>
                  <a:srgbClr val="000000"/>
                </a:solidFill>
                <a:latin typeface="Montserrat Bold"/>
                <a:ea typeface="Montserrat Bold"/>
                <a:cs typeface="Montserrat Bold"/>
                <a:sym typeface="Montserrat Bold"/>
              </a:rPr>
              <a:t>dalam</a:t>
            </a:r>
            <a:r>
              <a:rPr lang="en-US" sz="1887" b="1" dirty="0">
                <a:solidFill>
                  <a:srgbClr val="000000"/>
                </a:solidFill>
                <a:latin typeface="Montserrat Bold"/>
                <a:ea typeface="Montserrat Bold"/>
                <a:cs typeface="Montserrat Bold"/>
                <a:sym typeface="Montserrat Bold"/>
              </a:rPr>
              <a:t> platform Disney+, </a:t>
            </a:r>
            <a:r>
              <a:rPr lang="en-US" sz="1887" b="1" dirty="0" err="1">
                <a:solidFill>
                  <a:srgbClr val="000000"/>
                </a:solidFill>
                <a:latin typeface="Montserrat Bold"/>
                <a:ea typeface="Montserrat Bold"/>
                <a:cs typeface="Montserrat Bold"/>
                <a:sym typeface="Montserrat Bold"/>
              </a:rPr>
              <a:t>baik</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berdasarkan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waktu</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rilis</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tahun</a:t>
            </a:r>
            <a:r>
              <a:rPr lang="en-US" sz="1887" b="1" dirty="0">
                <a:solidFill>
                  <a:srgbClr val="000000"/>
                </a:solidFill>
                <a:latin typeface="Montserrat Bold"/>
                <a:ea typeface="Montserrat Bold"/>
                <a:cs typeface="Montserrat Bold"/>
                <a:sym typeface="Montserrat Bold"/>
              </a:rPr>
              <a:t> dan </a:t>
            </a:r>
            <a:r>
              <a:rPr lang="en-US" sz="1887" b="1" dirty="0" err="1">
                <a:solidFill>
                  <a:srgbClr val="000000"/>
                </a:solidFill>
                <a:latin typeface="Montserrat Bold"/>
                <a:ea typeface="Montserrat Bold"/>
                <a:cs typeface="Montserrat Bold"/>
                <a:sym typeface="Montserrat Bold"/>
              </a:rPr>
              <a:t>bulan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jenis</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konten</a:t>
            </a:r>
            <a:r>
              <a:rPr lang="en-US" sz="1887" b="1" dirty="0">
                <a:solidFill>
                  <a:srgbClr val="000000"/>
                </a:solidFill>
                <a:latin typeface="Montserrat Bold"/>
                <a:ea typeface="Montserrat Bold"/>
                <a:cs typeface="Montserrat Bold"/>
                <a:sym typeface="Montserrat Bold"/>
              </a:rPr>
              <a:t> : Movie dan Tv Show, dan </a:t>
            </a:r>
            <a:r>
              <a:rPr lang="en-US" sz="1887" b="1" dirty="0" err="1">
                <a:solidFill>
                  <a:srgbClr val="000000"/>
                </a:solidFill>
                <a:latin typeface="Montserrat Bold"/>
                <a:ea typeface="Montserrat Bold"/>
                <a:cs typeface="Montserrat Bold"/>
                <a:sym typeface="Montserrat Bold"/>
              </a:rPr>
              <a:t>melihat</a:t>
            </a:r>
            <a:r>
              <a:rPr lang="en-US" sz="1887" b="1" dirty="0">
                <a:solidFill>
                  <a:srgbClr val="000000"/>
                </a:solidFill>
                <a:latin typeface="Montserrat Bold"/>
                <a:ea typeface="Montserrat Bold"/>
                <a:cs typeface="Montserrat Bold"/>
                <a:sym typeface="Montserrat Bold"/>
              </a:rPr>
              <a:t> data yang paling </a:t>
            </a:r>
            <a:r>
              <a:rPr lang="en-US" sz="1887" b="1" dirty="0" err="1">
                <a:solidFill>
                  <a:srgbClr val="000000"/>
                </a:solidFill>
                <a:latin typeface="Montserrat Bold"/>
                <a:ea typeface="Montserrat Bold"/>
                <a:cs typeface="Montserrat Bold"/>
                <a:sym typeface="Montserrat Bold"/>
              </a:rPr>
              <a:t>sering</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muncul</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dari</a:t>
            </a:r>
            <a:r>
              <a:rPr lang="en-US" sz="1887" b="1" dirty="0">
                <a:solidFill>
                  <a:srgbClr val="000000"/>
                </a:solidFill>
                <a:latin typeface="Montserrat Bold"/>
                <a:ea typeface="Montserrat Bold"/>
                <a:cs typeface="Montserrat Bold"/>
                <a:sym typeface="Montserrat Bold"/>
              </a:rPr>
              <a:t> genre, </a:t>
            </a:r>
            <a:r>
              <a:rPr lang="en-US" sz="1887" b="1" dirty="0" err="1">
                <a:solidFill>
                  <a:srgbClr val="000000"/>
                </a:solidFill>
                <a:latin typeface="Montserrat Bold"/>
                <a:ea typeface="Montserrat Bold"/>
                <a:cs typeface="Montserrat Bold"/>
                <a:sym typeface="Montserrat Bold"/>
              </a:rPr>
              <a:t>pemeran</a:t>
            </a:r>
            <a:r>
              <a:rPr lang="en-US" sz="1887" b="1" dirty="0">
                <a:solidFill>
                  <a:srgbClr val="000000"/>
                </a:solidFill>
                <a:latin typeface="Montserrat Bold"/>
                <a:ea typeface="Montserrat Bold"/>
                <a:cs typeface="Montserrat Bold"/>
                <a:sym typeface="Montserrat Bold"/>
              </a:rPr>
              <a:t>, dan negara. </a:t>
            </a:r>
            <a:r>
              <a:rPr lang="en-US" sz="1887" b="1" dirty="0" err="1">
                <a:solidFill>
                  <a:srgbClr val="000000"/>
                </a:solidFill>
                <a:latin typeface="Montserrat Bold"/>
                <a:ea typeface="Montserrat Bold"/>
                <a:cs typeface="Montserrat Bold"/>
                <a:sym typeface="Montserrat Bold"/>
              </a:rPr>
              <a:t>Analisis</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ini</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dilakukan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untuk</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melihat</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pola</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dari</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perkembangan</a:t>
            </a:r>
            <a:r>
              <a:rPr lang="en-US" sz="1887" b="1" dirty="0">
                <a:solidFill>
                  <a:srgbClr val="000000"/>
                </a:solidFill>
                <a:latin typeface="Montserrat Bold"/>
                <a:ea typeface="Montserrat Bold"/>
                <a:cs typeface="Montserrat Bold"/>
                <a:sym typeface="Montserrat Bold"/>
              </a:rPr>
              <a:t> </a:t>
            </a:r>
            <a:r>
              <a:rPr lang="en-US" sz="1887" b="1" dirty="0" err="1">
                <a:solidFill>
                  <a:srgbClr val="000000"/>
                </a:solidFill>
                <a:latin typeface="Montserrat Bold"/>
                <a:ea typeface="Montserrat Bold"/>
                <a:cs typeface="Montserrat Bold"/>
                <a:sym typeface="Montserrat Bold"/>
              </a:rPr>
              <a:t>konten</a:t>
            </a:r>
            <a:r>
              <a:rPr lang="en-US" sz="1887" b="1" dirty="0">
                <a:solidFill>
                  <a:srgbClr val="000000"/>
                </a:solidFill>
                <a:latin typeface="Montserrat Bold"/>
                <a:ea typeface="Montserrat Bold"/>
                <a:cs typeface="Montserrat Bold"/>
                <a:sym typeface="Montserrat Bold"/>
              </a:rPr>
              <a:t> yang di </a:t>
            </a:r>
            <a:r>
              <a:rPr lang="en-US" sz="1887" b="1" dirty="0" err="1">
                <a:solidFill>
                  <a:srgbClr val="000000"/>
                </a:solidFill>
                <a:latin typeface="Montserrat Bold"/>
                <a:ea typeface="Montserrat Bold"/>
                <a:cs typeface="Montserrat Bold"/>
                <a:sym typeface="Montserrat Bold"/>
              </a:rPr>
              <a:t>sediakan</a:t>
            </a:r>
            <a:r>
              <a:rPr lang="en-US" sz="1887" b="1" dirty="0">
                <a:solidFill>
                  <a:srgbClr val="000000"/>
                </a:solidFill>
                <a:latin typeface="Montserrat Bold"/>
                <a:ea typeface="Montserrat Bold"/>
                <a:cs typeface="Montserrat Bold"/>
                <a:sym typeface="Montserrat Bold"/>
              </a:rPr>
              <a:t> di platform Disney+</a:t>
            </a:r>
          </a:p>
        </p:txBody>
      </p:sp>
      <p:sp>
        <p:nvSpPr>
          <p:cNvPr id="14" name="TextBox 14"/>
          <p:cNvSpPr txBox="1"/>
          <p:nvPr/>
        </p:nvSpPr>
        <p:spPr>
          <a:xfrm>
            <a:off x="4156605" y="7793526"/>
            <a:ext cx="9622174" cy="1002310"/>
          </a:xfrm>
          <a:prstGeom prst="rect">
            <a:avLst/>
          </a:prstGeom>
        </p:spPr>
        <p:txBody>
          <a:bodyPr lIns="0" tIns="0" rIns="0" bIns="0" rtlCol="0" anchor="t">
            <a:spAutoFit/>
          </a:bodyPr>
          <a:lstStyle/>
          <a:p>
            <a:pPr algn="ctr">
              <a:lnSpc>
                <a:spcPts val="2692"/>
              </a:lnSpc>
              <a:spcBef>
                <a:spcPct val="0"/>
              </a:spcBef>
            </a:pPr>
            <a:r>
              <a:rPr lang="en-US" sz="1931" b="1" dirty="0" err="1">
                <a:solidFill>
                  <a:srgbClr val="FFFFFF"/>
                </a:solidFill>
                <a:latin typeface="Montserrat Bold"/>
                <a:ea typeface="Montserrat Bold"/>
                <a:cs typeface="Montserrat Bold"/>
                <a:sym typeface="Montserrat Bold"/>
              </a:rPr>
              <a:t>Memahami</a:t>
            </a:r>
            <a:r>
              <a:rPr lang="en-US" sz="1931" b="1" dirty="0">
                <a:solidFill>
                  <a:srgbClr val="FFFFFF"/>
                </a:solidFill>
                <a:latin typeface="Montserrat Bold"/>
                <a:ea typeface="Montserrat Bold"/>
                <a:cs typeface="Montserrat Bold"/>
                <a:sym typeface="Montserrat Bold"/>
              </a:rPr>
              <a:t> </a:t>
            </a:r>
            <a:r>
              <a:rPr lang="en-US" sz="1931" b="1" dirty="0" err="1">
                <a:solidFill>
                  <a:srgbClr val="FFFFFF"/>
                </a:solidFill>
                <a:latin typeface="Montserrat Bold"/>
                <a:ea typeface="Montserrat Bold"/>
                <a:cs typeface="Montserrat Bold"/>
                <a:sym typeface="Montserrat Bold"/>
              </a:rPr>
              <a:t>Distribusi</a:t>
            </a:r>
            <a:r>
              <a:rPr lang="en-US" sz="1931" b="1" dirty="0">
                <a:solidFill>
                  <a:srgbClr val="FFFFFF"/>
                </a:solidFill>
                <a:latin typeface="Montserrat Bold"/>
                <a:ea typeface="Montserrat Bold"/>
                <a:cs typeface="Montserrat Bold"/>
                <a:sym typeface="Montserrat Bold"/>
              </a:rPr>
              <a:t> dan </a:t>
            </a:r>
            <a:r>
              <a:rPr lang="en-US" sz="1931" b="1" dirty="0" err="1">
                <a:solidFill>
                  <a:srgbClr val="FFFFFF"/>
                </a:solidFill>
                <a:latin typeface="Montserrat Bold"/>
                <a:ea typeface="Montserrat Bold"/>
                <a:cs typeface="Montserrat Bold"/>
                <a:sym typeface="Montserrat Bold"/>
              </a:rPr>
              <a:t>pola</a:t>
            </a:r>
            <a:r>
              <a:rPr lang="en-US" sz="1931" b="1" dirty="0">
                <a:solidFill>
                  <a:srgbClr val="FFFFFF"/>
                </a:solidFill>
                <a:latin typeface="Montserrat Bold"/>
                <a:ea typeface="Montserrat Bold"/>
                <a:cs typeface="Montserrat Bold"/>
                <a:sym typeface="Montserrat Bold"/>
              </a:rPr>
              <a:t> </a:t>
            </a:r>
            <a:r>
              <a:rPr lang="en-US" sz="1931" b="1" dirty="0" err="1">
                <a:solidFill>
                  <a:srgbClr val="FFFFFF"/>
                </a:solidFill>
                <a:latin typeface="Montserrat Bold"/>
                <a:ea typeface="Montserrat Bold"/>
                <a:cs typeface="Montserrat Bold"/>
                <a:sym typeface="Montserrat Bold"/>
              </a:rPr>
              <a:t>konten</a:t>
            </a:r>
            <a:r>
              <a:rPr lang="en-US" sz="1931" b="1" dirty="0">
                <a:solidFill>
                  <a:srgbClr val="FFFFFF"/>
                </a:solidFill>
                <a:latin typeface="Montserrat Bold"/>
                <a:ea typeface="Montserrat Bold"/>
                <a:cs typeface="Montserrat Bold"/>
                <a:sym typeface="Montserrat Bold"/>
              </a:rPr>
              <a:t> pada platform Disney+ </a:t>
            </a:r>
            <a:r>
              <a:rPr lang="en-US" sz="1931" b="1" dirty="0" err="1">
                <a:solidFill>
                  <a:srgbClr val="FFFFFF"/>
                </a:solidFill>
                <a:latin typeface="Montserrat Bold"/>
                <a:ea typeface="Montserrat Bold"/>
                <a:cs typeface="Montserrat Bold"/>
                <a:sym typeface="Montserrat Bold"/>
              </a:rPr>
              <a:t>berdasarkan</a:t>
            </a:r>
            <a:r>
              <a:rPr lang="en-US" sz="1931" b="1" dirty="0">
                <a:solidFill>
                  <a:srgbClr val="FFFFFF"/>
                </a:solidFill>
                <a:latin typeface="Montserrat Bold"/>
                <a:ea typeface="Montserrat Bold"/>
                <a:cs typeface="Montserrat Bold"/>
                <a:sym typeface="Montserrat Bold"/>
              </a:rPr>
              <a:t>  </a:t>
            </a:r>
            <a:r>
              <a:rPr lang="en-US" sz="1931" b="1" dirty="0" err="1">
                <a:solidFill>
                  <a:srgbClr val="FFFFFF"/>
                </a:solidFill>
                <a:latin typeface="Montserrat Bold"/>
                <a:ea typeface="Montserrat Bold"/>
                <a:cs typeface="Montserrat Bold"/>
                <a:sym typeface="Montserrat Bold"/>
              </a:rPr>
              <a:t>jenis</a:t>
            </a:r>
            <a:r>
              <a:rPr lang="en-US" sz="1931" b="1" dirty="0">
                <a:solidFill>
                  <a:srgbClr val="FFFFFF"/>
                </a:solidFill>
                <a:latin typeface="Montserrat Bold"/>
                <a:ea typeface="Montserrat Bold"/>
                <a:cs typeface="Montserrat Bold"/>
                <a:sym typeface="Montserrat Bold"/>
              </a:rPr>
              <a:t> </a:t>
            </a:r>
            <a:r>
              <a:rPr lang="en-US" sz="1931" b="1" dirty="0" err="1">
                <a:solidFill>
                  <a:srgbClr val="FFFFFF"/>
                </a:solidFill>
                <a:latin typeface="Montserrat Bold"/>
                <a:ea typeface="Montserrat Bold"/>
                <a:cs typeface="Montserrat Bold"/>
                <a:sym typeface="Montserrat Bold"/>
              </a:rPr>
              <a:t>konten</a:t>
            </a:r>
            <a:r>
              <a:rPr lang="en-US" sz="1931" b="1" dirty="0">
                <a:solidFill>
                  <a:srgbClr val="FFFFFF"/>
                </a:solidFill>
                <a:latin typeface="Montserrat Bold"/>
                <a:ea typeface="Montserrat Bold"/>
                <a:cs typeface="Montserrat Bold"/>
                <a:sym typeface="Montserrat Bold"/>
              </a:rPr>
              <a:t> Movie dan TV Show, </a:t>
            </a:r>
            <a:r>
              <a:rPr lang="en-US" sz="1931" b="1" dirty="0" err="1">
                <a:solidFill>
                  <a:srgbClr val="FFFFFF"/>
                </a:solidFill>
                <a:latin typeface="Montserrat Bold"/>
                <a:ea typeface="Montserrat Bold"/>
                <a:cs typeface="Montserrat Bold"/>
                <a:sym typeface="Montserrat Bold"/>
              </a:rPr>
              <a:t>waktu</a:t>
            </a:r>
            <a:r>
              <a:rPr lang="en-US" sz="1931" b="1" dirty="0">
                <a:solidFill>
                  <a:srgbClr val="FFFFFF"/>
                </a:solidFill>
                <a:latin typeface="Montserrat Bold"/>
                <a:ea typeface="Montserrat Bold"/>
                <a:cs typeface="Montserrat Bold"/>
                <a:sym typeface="Montserrat Bold"/>
              </a:rPr>
              <a:t> </a:t>
            </a:r>
            <a:r>
              <a:rPr lang="en-US" sz="1931" b="1" dirty="0" err="1">
                <a:solidFill>
                  <a:srgbClr val="FFFFFF"/>
                </a:solidFill>
                <a:latin typeface="Montserrat Bold"/>
                <a:ea typeface="Montserrat Bold"/>
                <a:cs typeface="Montserrat Bold"/>
                <a:sym typeface="Montserrat Bold"/>
              </a:rPr>
              <a:t>rilis</a:t>
            </a:r>
            <a:r>
              <a:rPr lang="en-US" sz="1931" b="1" dirty="0">
                <a:solidFill>
                  <a:srgbClr val="FFFFFF"/>
                </a:solidFill>
                <a:latin typeface="Montserrat Bold"/>
                <a:ea typeface="Montserrat Bold"/>
                <a:cs typeface="Montserrat Bold"/>
                <a:sym typeface="Montserrat Bold"/>
              </a:rPr>
              <a:t> </a:t>
            </a:r>
            <a:r>
              <a:rPr lang="en-US" sz="1931" b="1" dirty="0" err="1">
                <a:solidFill>
                  <a:srgbClr val="FFFFFF"/>
                </a:solidFill>
                <a:latin typeface="Montserrat Bold"/>
                <a:ea typeface="Montserrat Bold"/>
                <a:cs typeface="Montserrat Bold"/>
                <a:sym typeface="Montserrat Bold"/>
              </a:rPr>
              <a:t>Tahun</a:t>
            </a:r>
            <a:r>
              <a:rPr lang="en-US" sz="1931" b="1" dirty="0">
                <a:solidFill>
                  <a:srgbClr val="FFFFFF"/>
                </a:solidFill>
                <a:latin typeface="Montserrat Bold"/>
                <a:ea typeface="Montserrat Bold"/>
                <a:cs typeface="Montserrat Bold"/>
                <a:sym typeface="Montserrat Bold"/>
              </a:rPr>
              <a:t> dan Bulan, negara, genre, </a:t>
            </a:r>
            <a:r>
              <a:rPr lang="en-US" sz="1931" b="1" dirty="0" err="1">
                <a:solidFill>
                  <a:srgbClr val="FFFFFF"/>
                </a:solidFill>
                <a:latin typeface="Montserrat Bold"/>
                <a:ea typeface="Montserrat Bold"/>
                <a:cs typeface="Montserrat Bold"/>
                <a:sym typeface="Montserrat Bold"/>
              </a:rPr>
              <a:t>pemeran</a:t>
            </a:r>
            <a:endParaRPr lang="en-US" sz="1931" b="1" dirty="0">
              <a:solidFill>
                <a:srgbClr val="FFFFFF"/>
              </a:solidFill>
              <a:latin typeface="Montserrat Bold"/>
              <a:ea typeface="Montserrat Bold"/>
              <a:cs typeface="Montserrat Bold"/>
              <a:sym typeface="Montserrat Bold"/>
            </a:endParaRPr>
          </a:p>
        </p:txBody>
      </p:sp>
      <p:sp>
        <p:nvSpPr>
          <p:cNvPr id="15" name="TextBox 15"/>
          <p:cNvSpPr txBox="1"/>
          <p:nvPr/>
        </p:nvSpPr>
        <p:spPr>
          <a:xfrm>
            <a:off x="344129" y="1845857"/>
            <a:ext cx="2835905" cy="471508"/>
          </a:xfrm>
          <a:prstGeom prst="rect">
            <a:avLst/>
          </a:prstGeom>
        </p:spPr>
        <p:txBody>
          <a:bodyPr lIns="0" tIns="0" rIns="0" bIns="0" rtlCol="0" anchor="t">
            <a:spAutoFit/>
          </a:bodyPr>
          <a:lstStyle/>
          <a:p>
            <a:pPr algn="l">
              <a:lnSpc>
                <a:spcPts val="3923"/>
              </a:lnSpc>
            </a:pPr>
            <a:r>
              <a:rPr lang="en-US" sz="2802" b="1" dirty="0">
                <a:solidFill>
                  <a:srgbClr val="003780"/>
                </a:solidFill>
                <a:latin typeface="Montserrat Bold"/>
                <a:ea typeface="Montserrat Bold"/>
                <a:cs typeface="Montserrat Bold"/>
                <a:sym typeface="Montserrat Bold"/>
              </a:rPr>
              <a:t>Latar </a:t>
            </a:r>
            <a:r>
              <a:rPr lang="en-US" sz="2802" b="1" dirty="0" err="1">
                <a:solidFill>
                  <a:srgbClr val="003780"/>
                </a:solidFill>
                <a:latin typeface="Montserrat Bold"/>
                <a:ea typeface="Montserrat Bold"/>
                <a:cs typeface="Montserrat Bold"/>
                <a:sym typeface="Montserrat Bold"/>
              </a:rPr>
              <a:t>Belakang</a:t>
            </a:r>
            <a:endParaRPr lang="en-US" sz="2802" b="1" dirty="0">
              <a:solidFill>
                <a:srgbClr val="003780"/>
              </a:solidFill>
              <a:latin typeface="Montserrat Bold"/>
              <a:ea typeface="Montserrat Bold"/>
              <a:cs typeface="Montserrat Bold"/>
              <a:sym typeface="Montserrat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grpSp>
        <p:nvGrpSpPr>
          <p:cNvPr id="4" name="Group 4"/>
          <p:cNvGrpSpPr/>
          <p:nvPr/>
        </p:nvGrpSpPr>
        <p:grpSpPr>
          <a:xfrm>
            <a:off x="97031" y="32442"/>
            <a:ext cx="55540" cy="55550"/>
            <a:chOff x="0" y="0"/>
            <a:chExt cx="55537" cy="55550"/>
          </a:xfrm>
        </p:grpSpPr>
        <p:sp>
          <p:nvSpPr>
            <p:cNvPr id="5" name="Freeform 5"/>
            <p:cNvSpPr/>
            <p:nvPr/>
          </p:nvSpPr>
          <p:spPr>
            <a:xfrm>
              <a:off x="4" y="4"/>
              <a:ext cx="55588" cy="55479"/>
            </a:xfrm>
            <a:custGeom>
              <a:avLst/>
              <a:gdLst/>
              <a:ahLst/>
              <a:cxnLst/>
              <a:rect l="l" t="t" r="r" b="b"/>
              <a:pathLst>
                <a:path w="55588" h="55479">
                  <a:moveTo>
                    <a:pt x="10663" y="49656"/>
                  </a:moveTo>
                  <a:cubicBezTo>
                    <a:pt x="-1528" y="40385"/>
                    <a:pt x="-3560" y="22604"/>
                    <a:pt x="6092" y="10411"/>
                  </a:cubicBezTo>
                  <a:cubicBezTo>
                    <a:pt x="15743" y="-1782"/>
                    <a:pt x="33648" y="-3433"/>
                    <a:pt x="45458" y="6346"/>
                  </a:cubicBezTo>
                  <a:cubicBezTo>
                    <a:pt x="57269" y="16126"/>
                    <a:pt x="58920" y="33526"/>
                    <a:pt x="49522" y="45211"/>
                  </a:cubicBezTo>
                  <a:cubicBezTo>
                    <a:pt x="40125" y="56896"/>
                    <a:pt x="22727" y="58928"/>
                    <a:pt x="10663" y="49656"/>
                  </a:cubicBezTo>
                </a:path>
              </a:pathLst>
            </a:custGeom>
            <a:solidFill>
              <a:srgbClr val="FFFFFF"/>
            </a:solidFill>
          </p:spPr>
        </p:sp>
      </p:grpSp>
      <p:grpSp>
        <p:nvGrpSpPr>
          <p:cNvPr id="6" name="Group 6"/>
          <p:cNvGrpSpPr/>
          <p:nvPr/>
        </p:nvGrpSpPr>
        <p:grpSpPr>
          <a:xfrm>
            <a:off x="2657094" y="61408"/>
            <a:ext cx="30594" cy="30604"/>
            <a:chOff x="0" y="0"/>
            <a:chExt cx="30594" cy="30607"/>
          </a:xfrm>
        </p:grpSpPr>
        <p:sp>
          <p:nvSpPr>
            <p:cNvPr id="7" name="Freeform 7"/>
            <p:cNvSpPr/>
            <p:nvPr/>
          </p:nvSpPr>
          <p:spPr>
            <a:xfrm>
              <a:off x="-28" y="-18"/>
              <a:ext cx="30586" cy="30633"/>
            </a:xfrm>
            <a:custGeom>
              <a:avLst/>
              <a:gdLst/>
              <a:ahLst/>
              <a:cxnLst/>
              <a:rect l="l" t="t" r="r" b="b"/>
              <a:pathLst>
                <a:path w="30586" h="30633">
                  <a:moveTo>
                    <a:pt x="3203" y="24786"/>
                  </a:moveTo>
                  <a:cubicBezTo>
                    <a:pt x="-1877" y="18181"/>
                    <a:pt x="-861" y="8655"/>
                    <a:pt x="5869" y="3320"/>
                  </a:cubicBezTo>
                  <a:cubicBezTo>
                    <a:pt x="12599" y="-2014"/>
                    <a:pt x="22123" y="-744"/>
                    <a:pt x="27329" y="5861"/>
                  </a:cubicBezTo>
                  <a:cubicBezTo>
                    <a:pt x="32536" y="12465"/>
                    <a:pt x="31393" y="22245"/>
                    <a:pt x="24663" y="27453"/>
                  </a:cubicBezTo>
                  <a:cubicBezTo>
                    <a:pt x="17933" y="32660"/>
                    <a:pt x="8409" y="31263"/>
                    <a:pt x="3203" y="24786"/>
                  </a:cubicBezTo>
                </a:path>
              </a:pathLst>
            </a:custGeom>
            <a:solidFill>
              <a:srgbClr val="FFFFFF"/>
            </a:solidFill>
          </p:spPr>
        </p:sp>
      </p:grpSp>
      <p:grpSp>
        <p:nvGrpSpPr>
          <p:cNvPr id="8" name="Group 8"/>
          <p:cNvGrpSpPr/>
          <p:nvPr/>
        </p:nvGrpSpPr>
        <p:grpSpPr>
          <a:xfrm>
            <a:off x="2827582" y="342414"/>
            <a:ext cx="55540" cy="55531"/>
            <a:chOff x="0" y="0"/>
            <a:chExt cx="55537" cy="55524"/>
          </a:xfrm>
        </p:grpSpPr>
        <p:sp>
          <p:nvSpPr>
            <p:cNvPr id="9" name="Freeform 9"/>
            <p:cNvSpPr/>
            <p:nvPr/>
          </p:nvSpPr>
          <p:spPr>
            <a:xfrm>
              <a:off x="-25" y="100"/>
              <a:ext cx="55526" cy="55319"/>
            </a:xfrm>
            <a:custGeom>
              <a:avLst/>
              <a:gdLst/>
              <a:ahLst/>
              <a:cxnLst/>
              <a:rect l="l" t="t" r="r" b="b"/>
              <a:pathLst>
                <a:path w="55526" h="55319">
                  <a:moveTo>
                    <a:pt x="2692" y="39902"/>
                  </a:moveTo>
                  <a:cubicBezTo>
                    <a:pt x="-3785" y="26314"/>
                    <a:pt x="1803" y="9805"/>
                    <a:pt x="15392" y="2948"/>
                  </a:cubicBezTo>
                  <a:cubicBezTo>
                    <a:pt x="28981" y="-3910"/>
                    <a:pt x="46000" y="1551"/>
                    <a:pt x="52731" y="15647"/>
                  </a:cubicBezTo>
                  <a:cubicBezTo>
                    <a:pt x="59462" y="29742"/>
                    <a:pt x="53620" y="46378"/>
                    <a:pt x="39650" y="52728"/>
                  </a:cubicBezTo>
                  <a:cubicBezTo>
                    <a:pt x="25679" y="59077"/>
                    <a:pt x="9296" y="53362"/>
                    <a:pt x="2692" y="39902"/>
                  </a:cubicBezTo>
                </a:path>
              </a:pathLst>
            </a:custGeom>
            <a:solidFill>
              <a:srgbClr val="FFFFFF"/>
            </a:solidFill>
          </p:spPr>
        </p:sp>
      </p:grpSp>
      <p:grpSp>
        <p:nvGrpSpPr>
          <p:cNvPr id="10" name="Group 10"/>
          <p:cNvGrpSpPr/>
          <p:nvPr/>
        </p:nvGrpSpPr>
        <p:grpSpPr>
          <a:xfrm>
            <a:off x="2931404" y="655577"/>
            <a:ext cx="80524" cy="80572"/>
            <a:chOff x="0" y="0"/>
            <a:chExt cx="80518" cy="80569"/>
          </a:xfrm>
        </p:grpSpPr>
        <p:sp>
          <p:nvSpPr>
            <p:cNvPr id="11" name="Freeform 11"/>
            <p:cNvSpPr/>
            <p:nvPr/>
          </p:nvSpPr>
          <p:spPr>
            <a:xfrm>
              <a:off x="34" y="15"/>
              <a:ext cx="80489" cy="80510"/>
            </a:xfrm>
            <a:custGeom>
              <a:avLst/>
              <a:gdLst/>
              <a:ahLst/>
              <a:cxnLst/>
              <a:rect l="l" t="t" r="r" b="b"/>
              <a:pathLst>
                <a:path w="80489" h="80510">
                  <a:moveTo>
                    <a:pt x="1109" y="49767"/>
                  </a:moveTo>
                  <a:cubicBezTo>
                    <a:pt x="-3971" y="28813"/>
                    <a:pt x="8856" y="7224"/>
                    <a:pt x="30317" y="1382"/>
                  </a:cubicBezTo>
                  <a:cubicBezTo>
                    <a:pt x="51779" y="-4460"/>
                    <a:pt x="74003" y="8748"/>
                    <a:pt x="79337" y="30972"/>
                  </a:cubicBezTo>
                  <a:cubicBezTo>
                    <a:pt x="84671" y="53196"/>
                    <a:pt x="70955" y="75040"/>
                    <a:pt x="49113" y="79612"/>
                  </a:cubicBezTo>
                  <a:cubicBezTo>
                    <a:pt x="27270" y="84184"/>
                    <a:pt x="6062" y="70849"/>
                    <a:pt x="1109" y="49767"/>
                  </a:cubicBezTo>
                </a:path>
              </a:pathLst>
            </a:custGeom>
            <a:solidFill>
              <a:srgbClr val="FFFFFF"/>
            </a:solidFill>
          </p:spPr>
        </p:sp>
      </p:grpSp>
      <p:grpSp>
        <p:nvGrpSpPr>
          <p:cNvPr id="12" name="Group 12"/>
          <p:cNvGrpSpPr/>
          <p:nvPr/>
        </p:nvGrpSpPr>
        <p:grpSpPr>
          <a:xfrm>
            <a:off x="2921879" y="1318660"/>
            <a:ext cx="130521" cy="130569"/>
            <a:chOff x="0" y="0"/>
            <a:chExt cx="130518" cy="130569"/>
          </a:xfrm>
        </p:grpSpPr>
        <p:sp>
          <p:nvSpPr>
            <p:cNvPr id="13" name="Freeform 13"/>
            <p:cNvSpPr/>
            <p:nvPr/>
          </p:nvSpPr>
          <p:spPr>
            <a:xfrm>
              <a:off x="8" y="39"/>
              <a:ext cx="130504" cy="130514"/>
            </a:xfrm>
            <a:custGeom>
              <a:avLst/>
              <a:gdLst/>
              <a:ahLst/>
              <a:cxnLst/>
              <a:rect l="l" t="t" r="r" b="b"/>
              <a:pathLst>
                <a:path w="130504" h="130514">
                  <a:moveTo>
                    <a:pt x="51552" y="128737"/>
                  </a:moveTo>
                  <a:cubicBezTo>
                    <a:pt x="16502" y="120228"/>
                    <a:pt x="-5342" y="86320"/>
                    <a:pt x="1135" y="52665"/>
                  </a:cubicBezTo>
                  <a:cubicBezTo>
                    <a:pt x="7612" y="19011"/>
                    <a:pt x="40504" y="-4484"/>
                    <a:pt x="76190" y="723"/>
                  </a:cubicBezTo>
                  <a:cubicBezTo>
                    <a:pt x="111876" y="5803"/>
                    <a:pt x="136386" y="40219"/>
                    <a:pt x="129274" y="77303"/>
                  </a:cubicBezTo>
                  <a:cubicBezTo>
                    <a:pt x="122035" y="114387"/>
                    <a:pt x="86603" y="137246"/>
                    <a:pt x="51679" y="128737"/>
                  </a:cubicBezTo>
                </a:path>
              </a:pathLst>
            </a:custGeom>
            <a:solidFill>
              <a:srgbClr val="FFFFFF"/>
            </a:solidFill>
          </p:spPr>
        </p:sp>
      </p:grpSp>
      <p:grpSp>
        <p:nvGrpSpPr>
          <p:cNvPr id="14" name="Group 14"/>
          <p:cNvGrpSpPr/>
          <p:nvPr/>
        </p:nvGrpSpPr>
        <p:grpSpPr>
          <a:xfrm>
            <a:off x="2963275" y="986161"/>
            <a:ext cx="105556" cy="105594"/>
            <a:chOff x="0" y="0"/>
            <a:chExt cx="105562" cy="105600"/>
          </a:xfrm>
        </p:grpSpPr>
        <p:sp>
          <p:nvSpPr>
            <p:cNvPr id="15" name="Freeform 15"/>
            <p:cNvSpPr/>
            <p:nvPr/>
          </p:nvSpPr>
          <p:spPr>
            <a:xfrm>
              <a:off x="-9" y="30"/>
              <a:ext cx="105561" cy="105518"/>
            </a:xfrm>
            <a:custGeom>
              <a:avLst/>
              <a:gdLst/>
              <a:ahLst/>
              <a:cxnLst/>
              <a:rect l="l" t="t" r="r" b="b"/>
              <a:pathLst>
                <a:path w="105561" h="105518">
                  <a:moveTo>
                    <a:pt x="9" y="53947"/>
                  </a:moveTo>
                  <a:cubicBezTo>
                    <a:pt x="-499" y="26006"/>
                    <a:pt x="21727" y="1875"/>
                    <a:pt x="50684" y="97"/>
                  </a:cubicBezTo>
                  <a:cubicBezTo>
                    <a:pt x="79640" y="-1681"/>
                    <a:pt x="104914" y="21307"/>
                    <a:pt x="105549" y="51661"/>
                  </a:cubicBezTo>
                  <a:cubicBezTo>
                    <a:pt x="106184" y="81761"/>
                    <a:pt x="82180" y="106018"/>
                    <a:pt x="53097" y="105510"/>
                  </a:cubicBezTo>
                  <a:cubicBezTo>
                    <a:pt x="24013" y="105002"/>
                    <a:pt x="644" y="82015"/>
                    <a:pt x="9" y="53947"/>
                  </a:cubicBezTo>
                </a:path>
              </a:pathLst>
            </a:custGeom>
            <a:solidFill>
              <a:srgbClr val="FFFFFF"/>
            </a:solidFill>
          </p:spPr>
        </p:sp>
      </p:grpSp>
      <p:grpSp>
        <p:nvGrpSpPr>
          <p:cNvPr id="16" name="Group 16"/>
          <p:cNvGrpSpPr/>
          <p:nvPr/>
        </p:nvGrpSpPr>
        <p:grpSpPr>
          <a:xfrm>
            <a:off x="3194828" y="153695"/>
            <a:ext cx="69723" cy="69799"/>
            <a:chOff x="0" y="0"/>
            <a:chExt cx="69723" cy="69799"/>
          </a:xfrm>
        </p:grpSpPr>
        <p:sp>
          <p:nvSpPr>
            <p:cNvPr id="17" name="Freeform 17"/>
            <p:cNvSpPr/>
            <p:nvPr/>
          </p:nvSpPr>
          <p:spPr>
            <a:xfrm>
              <a:off x="23" y="6"/>
              <a:ext cx="69640" cy="69832"/>
            </a:xfrm>
            <a:custGeom>
              <a:avLst/>
              <a:gdLst/>
              <a:ahLst/>
              <a:cxnLst/>
              <a:rect l="l" t="t" r="r" b="b"/>
              <a:pathLst>
                <a:path w="69640" h="69832">
                  <a:moveTo>
                    <a:pt x="3406" y="50160"/>
                  </a:moveTo>
                  <a:cubicBezTo>
                    <a:pt x="-4722" y="33269"/>
                    <a:pt x="2136" y="12440"/>
                    <a:pt x="19282" y="3804"/>
                  </a:cubicBezTo>
                  <a:cubicBezTo>
                    <a:pt x="36427" y="-5086"/>
                    <a:pt x="57637" y="2153"/>
                    <a:pt x="66146" y="19806"/>
                  </a:cubicBezTo>
                  <a:cubicBezTo>
                    <a:pt x="74656" y="37460"/>
                    <a:pt x="67035" y="58415"/>
                    <a:pt x="49636" y="66543"/>
                  </a:cubicBezTo>
                  <a:cubicBezTo>
                    <a:pt x="32236" y="74672"/>
                    <a:pt x="11534" y="67178"/>
                    <a:pt x="3406" y="50160"/>
                  </a:cubicBezTo>
                </a:path>
              </a:pathLst>
            </a:custGeom>
            <a:solidFill>
              <a:srgbClr val="FFFFFF"/>
            </a:solidFill>
          </p:spPr>
        </p:sp>
      </p:grpSp>
      <p:grpSp>
        <p:nvGrpSpPr>
          <p:cNvPr id="18" name="Group 18"/>
          <p:cNvGrpSpPr/>
          <p:nvPr/>
        </p:nvGrpSpPr>
        <p:grpSpPr>
          <a:xfrm>
            <a:off x="3325149" y="546916"/>
            <a:ext cx="101156" cy="101117"/>
            <a:chOff x="0" y="0"/>
            <a:chExt cx="101156" cy="101117"/>
          </a:xfrm>
        </p:grpSpPr>
        <p:sp>
          <p:nvSpPr>
            <p:cNvPr id="19" name="Freeform 19"/>
            <p:cNvSpPr/>
            <p:nvPr/>
          </p:nvSpPr>
          <p:spPr>
            <a:xfrm>
              <a:off x="17" y="68"/>
              <a:ext cx="101089" cy="101110"/>
            </a:xfrm>
            <a:custGeom>
              <a:avLst/>
              <a:gdLst/>
              <a:ahLst/>
              <a:cxnLst/>
              <a:rect l="l" t="t" r="r" b="b"/>
              <a:pathLst>
                <a:path w="101089" h="101110">
                  <a:moveTo>
                    <a:pt x="1380" y="62414"/>
                  </a:moveTo>
                  <a:cubicBezTo>
                    <a:pt x="-4970" y="35999"/>
                    <a:pt x="11159" y="8949"/>
                    <a:pt x="38084" y="1710"/>
                  </a:cubicBezTo>
                  <a:cubicBezTo>
                    <a:pt x="65008" y="-5529"/>
                    <a:pt x="93076" y="10854"/>
                    <a:pt x="99680" y="38793"/>
                  </a:cubicBezTo>
                  <a:cubicBezTo>
                    <a:pt x="106284" y="66732"/>
                    <a:pt x="89012" y="94290"/>
                    <a:pt x="61706" y="100005"/>
                  </a:cubicBezTo>
                  <a:cubicBezTo>
                    <a:pt x="34401" y="105719"/>
                    <a:pt x="7730" y="88702"/>
                    <a:pt x="1380" y="62414"/>
                  </a:cubicBezTo>
                </a:path>
              </a:pathLst>
            </a:custGeom>
            <a:solidFill>
              <a:srgbClr val="FFFFFF"/>
            </a:solidFill>
          </p:spPr>
        </p:sp>
      </p:grpSp>
      <p:grpSp>
        <p:nvGrpSpPr>
          <p:cNvPr id="20" name="Group 20"/>
          <p:cNvGrpSpPr/>
          <p:nvPr/>
        </p:nvGrpSpPr>
        <p:grpSpPr>
          <a:xfrm>
            <a:off x="3365173" y="961882"/>
            <a:ext cx="132531" cy="132626"/>
            <a:chOff x="0" y="0"/>
            <a:chExt cx="132525" cy="132626"/>
          </a:xfrm>
        </p:grpSpPr>
        <p:sp>
          <p:nvSpPr>
            <p:cNvPr id="21" name="Freeform 21"/>
            <p:cNvSpPr/>
            <p:nvPr/>
          </p:nvSpPr>
          <p:spPr>
            <a:xfrm>
              <a:off x="-15" y="1"/>
              <a:ext cx="132485" cy="132721"/>
            </a:xfrm>
            <a:custGeom>
              <a:avLst/>
              <a:gdLst/>
              <a:ahLst/>
              <a:cxnLst/>
              <a:rect l="l" t="t" r="r" b="b"/>
              <a:pathLst>
                <a:path w="132485" h="132721">
                  <a:moveTo>
                    <a:pt x="15" y="67818"/>
                  </a:moveTo>
                  <a:cubicBezTo>
                    <a:pt x="-747" y="32638"/>
                    <a:pt x="27192" y="2412"/>
                    <a:pt x="63767" y="126"/>
                  </a:cubicBezTo>
                  <a:cubicBezTo>
                    <a:pt x="100341" y="-2160"/>
                    <a:pt x="131709" y="26923"/>
                    <a:pt x="132471" y="65024"/>
                  </a:cubicBezTo>
                  <a:cubicBezTo>
                    <a:pt x="133233" y="102997"/>
                    <a:pt x="103262" y="133223"/>
                    <a:pt x="66561" y="132715"/>
                  </a:cubicBezTo>
                  <a:cubicBezTo>
                    <a:pt x="29859" y="132207"/>
                    <a:pt x="904" y="102997"/>
                    <a:pt x="15" y="67818"/>
                  </a:cubicBezTo>
                </a:path>
              </a:pathLst>
            </a:custGeom>
            <a:solidFill>
              <a:srgbClr val="FFFFFF"/>
            </a:solidFill>
          </p:spPr>
        </p:sp>
      </p:grpSp>
      <p:grpSp>
        <p:nvGrpSpPr>
          <p:cNvPr id="22" name="Group 22"/>
          <p:cNvGrpSpPr/>
          <p:nvPr/>
        </p:nvGrpSpPr>
        <p:grpSpPr>
          <a:xfrm>
            <a:off x="3665430" y="-87239"/>
            <a:ext cx="87954" cy="87916"/>
            <a:chOff x="0" y="0"/>
            <a:chExt cx="87948" cy="87909"/>
          </a:xfrm>
        </p:grpSpPr>
        <p:sp>
          <p:nvSpPr>
            <p:cNvPr id="23" name="Freeform 23"/>
            <p:cNvSpPr/>
            <p:nvPr/>
          </p:nvSpPr>
          <p:spPr>
            <a:xfrm>
              <a:off x="36321" y="87246"/>
              <a:ext cx="15493" cy="635"/>
            </a:xfrm>
            <a:custGeom>
              <a:avLst/>
              <a:gdLst/>
              <a:ahLst/>
              <a:cxnLst/>
              <a:rect l="l" t="t" r="r" b="b"/>
              <a:pathLst>
                <a:path w="15493" h="635">
                  <a:moveTo>
                    <a:pt x="0" y="0"/>
                  </a:moveTo>
                  <a:cubicBezTo>
                    <a:pt x="2539" y="381"/>
                    <a:pt x="5079" y="635"/>
                    <a:pt x="7746" y="635"/>
                  </a:cubicBezTo>
                  <a:cubicBezTo>
                    <a:pt x="10413" y="635"/>
                    <a:pt x="12826" y="381"/>
                    <a:pt x="15493" y="0"/>
                  </a:cubicBezTo>
                  <a:close/>
                </a:path>
              </a:pathLst>
            </a:custGeom>
            <a:solidFill>
              <a:srgbClr val="FFFFFF"/>
            </a:solidFill>
          </p:spPr>
        </p:sp>
      </p:grpSp>
      <p:grpSp>
        <p:nvGrpSpPr>
          <p:cNvPr id="24" name="Group 24"/>
          <p:cNvGrpSpPr/>
          <p:nvPr/>
        </p:nvGrpSpPr>
        <p:grpSpPr>
          <a:xfrm>
            <a:off x="3829822" y="408375"/>
            <a:ext cx="127483" cy="127587"/>
            <a:chOff x="0" y="0"/>
            <a:chExt cx="127483" cy="127597"/>
          </a:xfrm>
        </p:grpSpPr>
        <p:sp>
          <p:nvSpPr>
            <p:cNvPr id="25" name="Freeform 25"/>
            <p:cNvSpPr/>
            <p:nvPr/>
          </p:nvSpPr>
          <p:spPr>
            <a:xfrm>
              <a:off x="39" y="-35"/>
              <a:ext cx="127527" cy="127689"/>
            </a:xfrm>
            <a:custGeom>
              <a:avLst/>
              <a:gdLst/>
              <a:ahLst/>
              <a:cxnLst/>
              <a:rect l="l" t="t" r="r" b="b"/>
              <a:pathLst>
                <a:path w="127527" h="127689">
                  <a:moveTo>
                    <a:pt x="1739" y="78905"/>
                  </a:moveTo>
                  <a:cubicBezTo>
                    <a:pt x="-6262" y="45757"/>
                    <a:pt x="14058" y="11465"/>
                    <a:pt x="47968" y="2194"/>
                  </a:cubicBezTo>
                  <a:cubicBezTo>
                    <a:pt x="81877" y="-7077"/>
                    <a:pt x="117184" y="13879"/>
                    <a:pt x="125693" y="49186"/>
                  </a:cubicBezTo>
                  <a:cubicBezTo>
                    <a:pt x="134202" y="84494"/>
                    <a:pt x="112231" y="119039"/>
                    <a:pt x="77686" y="126278"/>
                  </a:cubicBezTo>
                  <a:cubicBezTo>
                    <a:pt x="43269" y="133517"/>
                    <a:pt x="9613" y="112181"/>
                    <a:pt x="1739" y="78905"/>
                  </a:cubicBezTo>
                </a:path>
              </a:pathLst>
            </a:custGeom>
            <a:solidFill>
              <a:srgbClr val="FFFFFF"/>
            </a:solidFill>
          </p:spPr>
        </p:sp>
      </p:grpSp>
      <p:grpSp>
        <p:nvGrpSpPr>
          <p:cNvPr id="26" name="Group 26"/>
          <p:cNvGrpSpPr/>
          <p:nvPr/>
        </p:nvGrpSpPr>
        <p:grpSpPr>
          <a:xfrm>
            <a:off x="3880266" y="931764"/>
            <a:ext cx="167059" cy="167135"/>
            <a:chOff x="0" y="0"/>
            <a:chExt cx="167068" cy="167145"/>
          </a:xfrm>
        </p:grpSpPr>
        <p:sp>
          <p:nvSpPr>
            <p:cNvPr id="27" name="Freeform 27"/>
            <p:cNvSpPr/>
            <p:nvPr/>
          </p:nvSpPr>
          <p:spPr>
            <a:xfrm>
              <a:off x="-17" y="-36"/>
              <a:ext cx="167178" cy="167055"/>
            </a:xfrm>
            <a:custGeom>
              <a:avLst/>
              <a:gdLst/>
              <a:ahLst/>
              <a:cxnLst/>
              <a:rect l="l" t="t" r="r" b="b"/>
              <a:pathLst>
                <a:path w="167178" h="167055">
                  <a:moveTo>
                    <a:pt x="17" y="85383"/>
                  </a:moveTo>
                  <a:cubicBezTo>
                    <a:pt x="-872" y="41058"/>
                    <a:pt x="34181" y="2830"/>
                    <a:pt x="80410" y="163"/>
                  </a:cubicBezTo>
                  <a:cubicBezTo>
                    <a:pt x="126386" y="-2758"/>
                    <a:pt x="166011" y="33819"/>
                    <a:pt x="167154" y="81700"/>
                  </a:cubicBezTo>
                  <a:cubicBezTo>
                    <a:pt x="168297" y="129580"/>
                    <a:pt x="130196" y="167682"/>
                    <a:pt x="84093" y="167047"/>
                  </a:cubicBezTo>
                  <a:cubicBezTo>
                    <a:pt x="37864" y="166412"/>
                    <a:pt x="1033" y="129834"/>
                    <a:pt x="17" y="85383"/>
                  </a:cubicBezTo>
                </a:path>
              </a:pathLst>
            </a:custGeom>
            <a:solidFill>
              <a:srgbClr val="FFFFFF"/>
            </a:solidFill>
          </p:spPr>
        </p:sp>
      </p:grpSp>
      <p:grpSp>
        <p:nvGrpSpPr>
          <p:cNvPr id="28" name="Group 28"/>
          <p:cNvGrpSpPr/>
          <p:nvPr/>
        </p:nvGrpSpPr>
        <p:grpSpPr>
          <a:xfrm>
            <a:off x="4477903" y="230591"/>
            <a:ext cx="161382" cy="161458"/>
            <a:chOff x="0" y="0"/>
            <a:chExt cx="161392" cy="161455"/>
          </a:xfrm>
        </p:grpSpPr>
        <p:sp>
          <p:nvSpPr>
            <p:cNvPr id="29" name="Freeform 29"/>
            <p:cNvSpPr/>
            <p:nvPr/>
          </p:nvSpPr>
          <p:spPr>
            <a:xfrm>
              <a:off x="-10" y="-88"/>
              <a:ext cx="161436" cy="161509"/>
            </a:xfrm>
            <a:custGeom>
              <a:avLst/>
              <a:gdLst/>
              <a:ahLst/>
              <a:cxnLst/>
              <a:rect l="l" t="t" r="r" b="b"/>
              <a:pathLst>
                <a:path w="161436" h="161509">
                  <a:moveTo>
                    <a:pt x="2169" y="99908"/>
                  </a:moveTo>
                  <a:cubicBezTo>
                    <a:pt x="-7864" y="57872"/>
                    <a:pt x="17791" y="14439"/>
                    <a:pt x="60845" y="2755"/>
                  </a:cubicBezTo>
                  <a:cubicBezTo>
                    <a:pt x="103899" y="-8929"/>
                    <a:pt x="148478" y="17614"/>
                    <a:pt x="159146" y="62190"/>
                  </a:cubicBezTo>
                  <a:cubicBezTo>
                    <a:pt x="169814" y="106766"/>
                    <a:pt x="142128" y="150581"/>
                    <a:pt x="98565" y="159724"/>
                  </a:cubicBezTo>
                  <a:cubicBezTo>
                    <a:pt x="54876" y="168868"/>
                    <a:pt x="12329" y="141945"/>
                    <a:pt x="2169" y="99908"/>
                  </a:cubicBezTo>
                </a:path>
              </a:pathLst>
            </a:custGeom>
            <a:solidFill>
              <a:srgbClr val="FFFFFF"/>
            </a:solidFill>
          </p:spPr>
        </p:sp>
      </p:grpSp>
      <p:grpSp>
        <p:nvGrpSpPr>
          <p:cNvPr id="30" name="Group 30"/>
          <p:cNvGrpSpPr/>
          <p:nvPr/>
        </p:nvGrpSpPr>
        <p:grpSpPr>
          <a:xfrm>
            <a:off x="4541796" y="892969"/>
            <a:ext cx="211426" cy="211503"/>
            <a:chOff x="0" y="0"/>
            <a:chExt cx="211430" cy="211506"/>
          </a:xfrm>
        </p:grpSpPr>
        <p:sp>
          <p:nvSpPr>
            <p:cNvPr id="31" name="Freeform 31"/>
            <p:cNvSpPr/>
            <p:nvPr/>
          </p:nvSpPr>
          <p:spPr>
            <a:xfrm>
              <a:off x="-26" y="-44"/>
              <a:ext cx="211512" cy="211508"/>
            </a:xfrm>
            <a:custGeom>
              <a:avLst/>
              <a:gdLst/>
              <a:ahLst/>
              <a:cxnLst/>
              <a:rect l="l" t="t" r="r" b="b"/>
              <a:pathLst>
                <a:path w="211512" h="211508">
                  <a:moveTo>
                    <a:pt x="31777" y="180515"/>
                  </a:moveTo>
                  <a:cubicBezTo>
                    <a:pt x="12599" y="161719"/>
                    <a:pt x="661" y="136445"/>
                    <a:pt x="26" y="108124"/>
                  </a:cubicBezTo>
                  <a:cubicBezTo>
                    <a:pt x="-609" y="79802"/>
                    <a:pt x="10313" y="54020"/>
                    <a:pt x="28475" y="34462"/>
                  </a:cubicBezTo>
                  <a:cubicBezTo>
                    <a:pt x="46890" y="14903"/>
                    <a:pt x="72545" y="1695"/>
                    <a:pt x="101756" y="171"/>
                  </a:cubicBezTo>
                  <a:cubicBezTo>
                    <a:pt x="130840" y="-1480"/>
                    <a:pt x="158018" y="8934"/>
                    <a:pt x="177958" y="27731"/>
                  </a:cubicBezTo>
                  <a:cubicBezTo>
                    <a:pt x="197897" y="46527"/>
                    <a:pt x="210852" y="73325"/>
                    <a:pt x="211487" y="103424"/>
                  </a:cubicBezTo>
                  <a:cubicBezTo>
                    <a:pt x="212122" y="133524"/>
                    <a:pt x="200438" y="160957"/>
                    <a:pt x="181260" y="180515"/>
                  </a:cubicBezTo>
                  <a:cubicBezTo>
                    <a:pt x="162082" y="200074"/>
                    <a:pt x="135666" y="211758"/>
                    <a:pt x="106455" y="211504"/>
                  </a:cubicBezTo>
                  <a:cubicBezTo>
                    <a:pt x="77244" y="211250"/>
                    <a:pt x="50954" y="199185"/>
                    <a:pt x="31777" y="180515"/>
                  </a:cubicBezTo>
                </a:path>
              </a:pathLst>
            </a:custGeom>
            <a:solidFill>
              <a:srgbClr val="FFFFFF"/>
            </a:solidFill>
          </p:spPr>
        </p:sp>
      </p:grpSp>
      <p:sp>
        <p:nvSpPr>
          <p:cNvPr id="32" name="Freeform 32"/>
          <p:cNvSpPr/>
          <p:nvPr/>
        </p:nvSpPr>
        <p:spPr>
          <a:xfrm>
            <a:off x="4994672" y="8631298"/>
            <a:ext cx="11534965" cy="1658750"/>
          </a:xfrm>
          <a:custGeom>
            <a:avLst/>
            <a:gdLst/>
            <a:ahLst/>
            <a:cxnLst/>
            <a:rect l="l" t="t" r="r" b="b"/>
            <a:pathLst>
              <a:path w="11534965" h="1658750">
                <a:moveTo>
                  <a:pt x="0" y="0"/>
                </a:moveTo>
                <a:lnTo>
                  <a:pt x="11534965" y="0"/>
                </a:lnTo>
                <a:lnTo>
                  <a:pt x="11534965" y="1658750"/>
                </a:lnTo>
                <a:lnTo>
                  <a:pt x="0" y="16587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3" name="Freeform 33"/>
          <p:cNvSpPr/>
          <p:nvPr/>
        </p:nvSpPr>
        <p:spPr>
          <a:xfrm>
            <a:off x="-601008" y="1315755"/>
            <a:ext cx="6268202" cy="4297632"/>
          </a:xfrm>
          <a:custGeom>
            <a:avLst/>
            <a:gdLst/>
            <a:ahLst/>
            <a:cxnLst/>
            <a:rect l="l" t="t" r="r" b="b"/>
            <a:pathLst>
              <a:path w="6268202" h="4297632">
                <a:moveTo>
                  <a:pt x="0" y="0"/>
                </a:moveTo>
                <a:lnTo>
                  <a:pt x="6268202" y="0"/>
                </a:lnTo>
                <a:lnTo>
                  <a:pt x="6268202" y="4297632"/>
                </a:lnTo>
                <a:lnTo>
                  <a:pt x="0" y="429763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4" name="Group 34"/>
          <p:cNvGrpSpPr/>
          <p:nvPr/>
        </p:nvGrpSpPr>
        <p:grpSpPr>
          <a:xfrm>
            <a:off x="5297014" y="5867"/>
            <a:ext cx="204149" cy="204226"/>
            <a:chOff x="0" y="0"/>
            <a:chExt cx="204153" cy="204229"/>
          </a:xfrm>
        </p:grpSpPr>
        <p:sp>
          <p:nvSpPr>
            <p:cNvPr id="35" name="Freeform 35"/>
            <p:cNvSpPr/>
            <p:nvPr/>
          </p:nvSpPr>
          <p:spPr>
            <a:xfrm>
              <a:off x="50" y="78"/>
              <a:ext cx="204137" cy="204112"/>
            </a:xfrm>
            <a:custGeom>
              <a:avLst/>
              <a:gdLst/>
              <a:ahLst/>
              <a:cxnLst/>
              <a:rect l="l" t="t" r="r" b="b"/>
              <a:pathLst>
                <a:path w="204137" h="204112">
                  <a:moveTo>
                    <a:pt x="2744" y="126291"/>
                  </a:moveTo>
                  <a:cubicBezTo>
                    <a:pt x="-9956" y="72949"/>
                    <a:pt x="22556" y="18211"/>
                    <a:pt x="77040" y="3478"/>
                  </a:cubicBezTo>
                  <a:cubicBezTo>
                    <a:pt x="131523" y="-11254"/>
                    <a:pt x="187785" y="22148"/>
                    <a:pt x="201247" y="78537"/>
                  </a:cubicBezTo>
                  <a:cubicBezTo>
                    <a:pt x="214709" y="134927"/>
                    <a:pt x="179784" y="190300"/>
                    <a:pt x="124665" y="201858"/>
                  </a:cubicBezTo>
                  <a:cubicBezTo>
                    <a:pt x="69547" y="213415"/>
                    <a:pt x="15444" y="179378"/>
                    <a:pt x="2744" y="126291"/>
                  </a:cubicBezTo>
                </a:path>
              </a:pathLst>
            </a:custGeom>
            <a:solidFill>
              <a:srgbClr val="FFFFFF"/>
            </a:solidFill>
          </p:spPr>
        </p:sp>
      </p:grpSp>
      <p:grpSp>
        <p:nvGrpSpPr>
          <p:cNvPr id="36" name="Group 36"/>
          <p:cNvGrpSpPr/>
          <p:nvPr/>
        </p:nvGrpSpPr>
        <p:grpSpPr>
          <a:xfrm>
            <a:off x="5377834" y="843867"/>
            <a:ext cx="267519" cy="267672"/>
            <a:chOff x="0" y="0"/>
            <a:chExt cx="267513" cy="267665"/>
          </a:xfrm>
        </p:grpSpPr>
        <p:sp>
          <p:nvSpPr>
            <p:cNvPr id="37" name="Freeform 37"/>
            <p:cNvSpPr/>
            <p:nvPr/>
          </p:nvSpPr>
          <p:spPr>
            <a:xfrm>
              <a:off x="-30" y="49"/>
              <a:ext cx="267519" cy="267542"/>
            </a:xfrm>
            <a:custGeom>
              <a:avLst/>
              <a:gdLst/>
              <a:ahLst/>
              <a:cxnLst/>
              <a:rect l="l" t="t" r="r" b="b"/>
              <a:pathLst>
                <a:path w="267519" h="267542">
                  <a:moveTo>
                    <a:pt x="40289" y="228293"/>
                  </a:moveTo>
                  <a:cubicBezTo>
                    <a:pt x="16032" y="204671"/>
                    <a:pt x="792" y="172541"/>
                    <a:pt x="30" y="136855"/>
                  </a:cubicBezTo>
                  <a:cubicBezTo>
                    <a:pt x="-732" y="101168"/>
                    <a:pt x="12984" y="68403"/>
                    <a:pt x="36098" y="43511"/>
                  </a:cubicBezTo>
                  <a:cubicBezTo>
                    <a:pt x="59212" y="18874"/>
                    <a:pt x="91723" y="2237"/>
                    <a:pt x="128553" y="205"/>
                  </a:cubicBezTo>
                  <a:cubicBezTo>
                    <a:pt x="165383" y="-1827"/>
                    <a:pt x="199800" y="11381"/>
                    <a:pt x="225073" y="35002"/>
                  </a:cubicBezTo>
                  <a:cubicBezTo>
                    <a:pt x="250345" y="58624"/>
                    <a:pt x="266728" y="92786"/>
                    <a:pt x="267490" y="130886"/>
                  </a:cubicBezTo>
                  <a:cubicBezTo>
                    <a:pt x="268252" y="168985"/>
                    <a:pt x="253647" y="203782"/>
                    <a:pt x="229390" y="228420"/>
                  </a:cubicBezTo>
                  <a:cubicBezTo>
                    <a:pt x="205261" y="253185"/>
                    <a:pt x="171479" y="267916"/>
                    <a:pt x="134522" y="267535"/>
                  </a:cubicBezTo>
                  <a:cubicBezTo>
                    <a:pt x="97565" y="267154"/>
                    <a:pt x="64419" y="251915"/>
                    <a:pt x="40162" y="228293"/>
                  </a:cubicBezTo>
                </a:path>
              </a:pathLst>
            </a:custGeom>
            <a:solidFill>
              <a:srgbClr val="FFFFFF"/>
            </a:solidFill>
          </p:spPr>
        </p:sp>
      </p:grpSp>
      <p:grpSp>
        <p:nvGrpSpPr>
          <p:cNvPr id="38" name="Group 38"/>
          <p:cNvGrpSpPr/>
          <p:nvPr/>
        </p:nvGrpSpPr>
        <p:grpSpPr>
          <a:xfrm>
            <a:off x="9544383" y="0"/>
            <a:ext cx="8743617" cy="10287000"/>
            <a:chOff x="0" y="0"/>
            <a:chExt cx="11658156" cy="13716000"/>
          </a:xfrm>
        </p:grpSpPr>
        <p:sp>
          <p:nvSpPr>
            <p:cNvPr id="39" name="Freeform 39"/>
            <p:cNvSpPr/>
            <p:nvPr/>
          </p:nvSpPr>
          <p:spPr>
            <a:xfrm>
              <a:off x="0" y="0"/>
              <a:ext cx="11658092" cy="13716000"/>
            </a:xfrm>
            <a:custGeom>
              <a:avLst/>
              <a:gdLst/>
              <a:ahLst/>
              <a:cxnLst/>
              <a:rect l="l" t="t" r="r" b="b"/>
              <a:pathLst>
                <a:path w="11658092" h="13716000">
                  <a:moveTo>
                    <a:pt x="4241419" y="0"/>
                  </a:moveTo>
                  <a:cubicBezTo>
                    <a:pt x="1711833" y="1423035"/>
                    <a:pt x="0" y="4157345"/>
                    <a:pt x="0" y="7296785"/>
                  </a:cubicBezTo>
                  <a:cubicBezTo>
                    <a:pt x="0" y="9878441"/>
                    <a:pt x="1157605" y="12186158"/>
                    <a:pt x="2975610" y="13716000"/>
                  </a:cubicBezTo>
                  <a:lnTo>
                    <a:pt x="11658092" y="13716000"/>
                  </a:lnTo>
                  <a:lnTo>
                    <a:pt x="11658092" y="0"/>
                  </a:lnTo>
                  <a:close/>
                </a:path>
              </a:pathLst>
            </a:custGeom>
            <a:blipFill>
              <a:blip r:embed="rId5"/>
              <a:stretch>
                <a:fillRect l="-41399" t="-7607" r="-82536" b="-13815"/>
              </a:stretch>
            </a:blipFill>
          </p:spPr>
        </p:sp>
      </p:grpSp>
      <p:sp>
        <p:nvSpPr>
          <p:cNvPr id="40" name="Freeform 40"/>
          <p:cNvSpPr/>
          <p:nvPr/>
        </p:nvSpPr>
        <p:spPr>
          <a:xfrm>
            <a:off x="4688357" y="8790346"/>
            <a:ext cx="1879321" cy="1563205"/>
          </a:xfrm>
          <a:custGeom>
            <a:avLst/>
            <a:gdLst/>
            <a:ahLst/>
            <a:cxnLst/>
            <a:rect l="l" t="t" r="r" b="b"/>
            <a:pathLst>
              <a:path w="1879321" h="1563205">
                <a:moveTo>
                  <a:pt x="0" y="0"/>
                </a:moveTo>
                <a:lnTo>
                  <a:pt x="1879321" y="0"/>
                </a:lnTo>
                <a:lnTo>
                  <a:pt x="1879321" y="1563205"/>
                </a:lnTo>
                <a:lnTo>
                  <a:pt x="0" y="156320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1" name="Freeform 41"/>
          <p:cNvSpPr/>
          <p:nvPr/>
        </p:nvSpPr>
        <p:spPr>
          <a:xfrm>
            <a:off x="-63503" y="-764086"/>
            <a:ext cx="20742916" cy="13524519"/>
          </a:xfrm>
          <a:custGeom>
            <a:avLst/>
            <a:gdLst/>
            <a:ahLst/>
            <a:cxnLst/>
            <a:rect l="l" t="t" r="r" b="b"/>
            <a:pathLst>
              <a:path w="20742916" h="13524519">
                <a:moveTo>
                  <a:pt x="0" y="0"/>
                </a:moveTo>
                <a:lnTo>
                  <a:pt x="20742916" y="0"/>
                </a:lnTo>
                <a:lnTo>
                  <a:pt x="20742916" y="13524519"/>
                </a:lnTo>
                <a:lnTo>
                  <a:pt x="0" y="135245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42" name="TextBox 42"/>
          <p:cNvSpPr txBox="1"/>
          <p:nvPr/>
        </p:nvSpPr>
        <p:spPr>
          <a:xfrm>
            <a:off x="1028700" y="3515830"/>
            <a:ext cx="6504318" cy="3600098"/>
          </a:xfrm>
          <a:prstGeom prst="rect">
            <a:avLst/>
          </a:prstGeom>
        </p:spPr>
        <p:txBody>
          <a:bodyPr lIns="0" tIns="0" rIns="0" bIns="0" rtlCol="0" anchor="t">
            <a:spAutoFit/>
          </a:bodyPr>
          <a:lstStyle/>
          <a:p>
            <a:pPr algn="l">
              <a:lnSpc>
                <a:spcPts val="13797"/>
              </a:lnSpc>
            </a:pPr>
            <a:r>
              <a:rPr lang="en-US" sz="9897" b="1">
                <a:solidFill>
                  <a:srgbClr val="0C3E80"/>
                </a:solidFill>
                <a:latin typeface="Poppins Bold"/>
                <a:ea typeface="Poppins Bold"/>
                <a:cs typeface="Poppins Bold"/>
                <a:sym typeface="Poppins Bold"/>
              </a:rPr>
              <a:t>BUSINESS QUESTION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grpSp>
        <p:nvGrpSpPr>
          <p:cNvPr id="4" name="Group 4"/>
          <p:cNvGrpSpPr/>
          <p:nvPr/>
        </p:nvGrpSpPr>
        <p:grpSpPr>
          <a:xfrm>
            <a:off x="-62008" y="-66551"/>
            <a:ext cx="11776072" cy="10420093"/>
            <a:chOff x="0" y="0"/>
            <a:chExt cx="11776075" cy="10420096"/>
          </a:xfrm>
        </p:grpSpPr>
        <p:sp>
          <p:nvSpPr>
            <p:cNvPr id="5" name="Freeform 5"/>
            <p:cNvSpPr/>
            <p:nvPr/>
          </p:nvSpPr>
          <p:spPr>
            <a:xfrm>
              <a:off x="873506" y="66548"/>
              <a:ext cx="10158985" cy="6810249"/>
            </a:xfrm>
            <a:custGeom>
              <a:avLst/>
              <a:gdLst/>
              <a:ahLst/>
              <a:cxnLst/>
              <a:rect l="l" t="t" r="r" b="b"/>
              <a:pathLst>
                <a:path w="10158985" h="6810249">
                  <a:moveTo>
                    <a:pt x="3466085" y="0"/>
                  </a:moveTo>
                  <a:cubicBezTo>
                    <a:pt x="2987041" y="319278"/>
                    <a:pt x="2547493" y="700405"/>
                    <a:pt x="2166239" y="1124712"/>
                  </a:cubicBezTo>
                  <a:cubicBezTo>
                    <a:pt x="1089660" y="2324227"/>
                    <a:pt x="419989" y="3825113"/>
                    <a:pt x="0" y="5390897"/>
                  </a:cubicBezTo>
                  <a:cubicBezTo>
                    <a:pt x="128778" y="5871972"/>
                    <a:pt x="281686" y="6348096"/>
                    <a:pt x="462915" y="6810249"/>
                  </a:cubicBezTo>
                  <a:cubicBezTo>
                    <a:pt x="490601" y="6750558"/>
                    <a:pt x="518287" y="6690868"/>
                    <a:pt x="548132" y="6630416"/>
                  </a:cubicBezTo>
                  <a:cubicBezTo>
                    <a:pt x="1519936" y="4631690"/>
                    <a:pt x="3341879" y="2638044"/>
                    <a:pt x="6826251" y="1124712"/>
                  </a:cubicBezTo>
                  <a:cubicBezTo>
                    <a:pt x="7803643" y="700405"/>
                    <a:pt x="8930513" y="319278"/>
                    <a:pt x="10158985" y="0"/>
                  </a:cubicBezTo>
                  <a:close/>
                </a:path>
              </a:pathLst>
            </a:custGeom>
            <a:solidFill>
              <a:srgbClr val="3567A1"/>
            </a:solidFill>
          </p:spPr>
        </p:sp>
        <p:sp>
          <p:nvSpPr>
            <p:cNvPr id="6" name="Freeform 6"/>
            <p:cNvSpPr/>
            <p:nvPr/>
          </p:nvSpPr>
          <p:spPr>
            <a:xfrm>
              <a:off x="78486" y="66548"/>
              <a:ext cx="5620893" cy="5390896"/>
            </a:xfrm>
            <a:custGeom>
              <a:avLst/>
              <a:gdLst/>
              <a:ahLst/>
              <a:cxnLst/>
              <a:rect l="l" t="t" r="r" b="b"/>
              <a:pathLst>
                <a:path w="5620893" h="5390896">
                  <a:moveTo>
                    <a:pt x="0" y="0"/>
                  </a:moveTo>
                  <a:cubicBezTo>
                    <a:pt x="135509" y="1389126"/>
                    <a:pt x="253873" y="2780665"/>
                    <a:pt x="513461" y="4151249"/>
                  </a:cubicBezTo>
                  <a:cubicBezTo>
                    <a:pt x="592074" y="4566158"/>
                    <a:pt x="685292" y="4981067"/>
                    <a:pt x="795147" y="5390896"/>
                  </a:cubicBezTo>
                  <a:cubicBezTo>
                    <a:pt x="1179830" y="3956685"/>
                    <a:pt x="3484245" y="781177"/>
                    <a:pt x="5620893" y="0"/>
                  </a:cubicBezTo>
                  <a:close/>
                </a:path>
              </a:pathLst>
            </a:custGeom>
            <a:solidFill>
              <a:srgbClr val="0CC0DF"/>
            </a:solidFill>
          </p:spPr>
        </p:sp>
        <p:sp>
          <p:nvSpPr>
            <p:cNvPr id="7" name="Freeform 7"/>
            <p:cNvSpPr/>
            <p:nvPr/>
          </p:nvSpPr>
          <p:spPr>
            <a:xfrm>
              <a:off x="71374" y="66548"/>
              <a:ext cx="2437384" cy="5390896"/>
            </a:xfrm>
            <a:custGeom>
              <a:avLst/>
              <a:gdLst/>
              <a:ahLst/>
              <a:cxnLst/>
              <a:rect l="l" t="t" r="r" b="b"/>
              <a:pathLst>
                <a:path w="2437384" h="5390896">
                  <a:moveTo>
                    <a:pt x="0" y="0"/>
                  </a:moveTo>
                  <a:cubicBezTo>
                    <a:pt x="77470" y="1389126"/>
                    <a:pt x="145034" y="2780665"/>
                    <a:pt x="294132" y="4151249"/>
                  </a:cubicBezTo>
                  <a:cubicBezTo>
                    <a:pt x="339217" y="4566158"/>
                    <a:pt x="392430" y="4981067"/>
                    <a:pt x="455041" y="5390896"/>
                  </a:cubicBezTo>
                  <a:cubicBezTo>
                    <a:pt x="695198" y="3825240"/>
                    <a:pt x="1078103" y="2324227"/>
                    <a:pt x="1693926" y="1124712"/>
                  </a:cubicBezTo>
                  <a:cubicBezTo>
                    <a:pt x="1911985" y="699770"/>
                    <a:pt x="2163318" y="319151"/>
                    <a:pt x="2437384" y="0"/>
                  </a:cubicBezTo>
                  <a:close/>
                </a:path>
              </a:pathLst>
            </a:custGeom>
            <a:solidFill>
              <a:srgbClr val="8ADEF9"/>
            </a:solidFill>
          </p:spPr>
        </p:sp>
        <p:sp>
          <p:nvSpPr>
            <p:cNvPr id="8" name="Freeform 8"/>
            <p:cNvSpPr/>
            <p:nvPr/>
          </p:nvSpPr>
          <p:spPr>
            <a:xfrm>
              <a:off x="63500" y="66548"/>
              <a:ext cx="3449066" cy="10287000"/>
            </a:xfrm>
            <a:custGeom>
              <a:avLst/>
              <a:gdLst/>
              <a:ahLst/>
              <a:cxnLst/>
              <a:rect l="l" t="t" r="r" b="b"/>
              <a:pathLst>
                <a:path w="3449066" h="10287000">
                  <a:moveTo>
                    <a:pt x="0" y="0"/>
                  </a:moveTo>
                  <a:lnTo>
                    <a:pt x="0" y="10287000"/>
                  </a:lnTo>
                  <a:lnTo>
                    <a:pt x="3449066" y="10287000"/>
                  </a:lnTo>
                  <a:cubicBezTo>
                    <a:pt x="3351276" y="10092944"/>
                    <a:pt x="3201289" y="9887839"/>
                    <a:pt x="2990215" y="9671558"/>
                  </a:cubicBezTo>
                  <a:cubicBezTo>
                    <a:pt x="2985897" y="9666478"/>
                    <a:pt x="2981452" y="9661398"/>
                    <a:pt x="2977134" y="9656318"/>
                  </a:cubicBezTo>
                  <a:cubicBezTo>
                    <a:pt x="2231771" y="8825738"/>
                    <a:pt x="1681480" y="7850378"/>
                    <a:pt x="1273937" y="6809613"/>
                  </a:cubicBezTo>
                  <a:cubicBezTo>
                    <a:pt x="1092708" y="6347460"/>
                    <a:pt x="939800" y="5872100"/>
                    <a:pt x="811022" y="5390262"/>
                  </a:cubicBezTo>
                  <a:cubicBezTo>
                    <a:pt x="701167" y="4980432"/>
                    <a:pt x="607949" y="4565523"/>
                    <a:pt x="529336" y="4150614"/>
                  </a:cubicBezTo>
                  <a:cubicBezTo>
                    <a:pt x="268859" y="2780538"/>
                    <a:pt x="150495" y="1389126"/>
                    <a:pt x="14986" y="0"/>
                  </a:cubicBezTo>
                  <a:close/>
                </a:path>
              </a:pathLst>
            </a:custGeom>
            <a:solidFill>
              <a:srgbClr val="8ADEF9"/>
            </a:solidFill>
          </p:spPr>
        </p:sp>
        <p:sp>
          <p:nvSpPr>
            <p:cNvPr id="9" name="Freeform 9"/>
            <p:cNvSpPr/>
            <p:nvPr/>
          </p:nvSpPr>
          <p:spPr>
            <a:xfrm>
              <a:off x="63500" y="66548"/>
              <a:ext cx="2169033" cy="10287000"/>
            </a:xfrm>
            <a:custGeom>
              <a:avLst/>
              <a:gdLst/>
              <a:ahLst/>
              <a:cxnLst/>
              <a:rect l="l" t="t" r="r" b="b"/>
              <a:pathLst>
                <a:path w="2169033" h="10287000">
                  <a:moveTo>
                    <a:pt x="0" y="0"/>
                  </a:moveTo>
                  <a:lnTo>
                    <a:pt x="0" y="10287000"/>
                  </a:lnTo>
                  <a:lnTo>
                    <a:pt x="2169033" y="10287000"/>
                  </a:lnTo>
                  <a:cubicBezTo>
                    <a:pt x="2107438" y="10092944"/>
                    <a:pt x="2013077" y="9887839"/>
                    <a:pt x="1880108" y="9671558"/>
                  </a:cubicBezTo>
                  <a:cubicBezTo>
                    <a:pt x="1877187" y="9666478"/>
                    <a:pt x="1874266" y="9661398"/>
                    <a:pt x="1871345" y="9656318"/>
                  </a:cubicBezTo>
                  <a:cubicBezTo>
                    <a:pt x="1402588" y="8825738"/>
                    <a:pt x="1056132" y="7850378"/>
                    <a:pt x="799846" y="6809613"/>
                  </a:cubicBezTo>
                  <a:cubicBezTo>
                    <a:pt x="686308" y="6347460"/>
                    <a:pt x="589534" y="5872100"/>
                    <a:pt x="508635" y="5390262"/>
                  </a:cubicBezTo>
                  <a:cubicBezTo>
                    <a:pt x="439547" y="4980432"/>
                    <a:pt x="381254" y="4565523"/>
                    <a:pt x="331724" y="4150614"/>
                  </a:cubicBezTo>
                  <a:cubicBezTo>
                    <a:pt x="168910" y="2780538"/>
                    <a:pt x="93980" y="1389126"/>
                    <a:pt x="8890" y="0"/>
                  </a:cubicBezTo>
                  <a:close/>
                </a:path>
              </a:pathLst>
            </a:custGeom>
            <a:solidFill>
              <a:srgbClr val="0CC0DF"/>
            </a:solidFill>
          </p:spPr>
        </p:sp>
        <p:sp>
          <p:nvSpPr>
            <p:cNvPr id="10" name="Freeform 10"/>
            <p:cNvSpPr/>
            <p:nvPr/>
          </p:nvSpPr>
          <p:spPr>
            <a:xfrm>
              <a:off x="63500" y="66548"/>
              <a:ext cx="1075690" cy="10287000"/>
            </a:xfrm>
            <a:custGeom>
              <a:avLst/>
              <a:gdLst/>
              <a:ahLst/>
              <a:cxnLst/>
              <a:rect l="l" t="t" r="r" b="b"/>
              <a:pathLst>
                <a:path w="1075690" h="10287000">
                  <a:moveTo>
                    <a:pt x="0" y="0"/>
                  </a:moveTo>
                  <a:lnTo>
                    <a:pt x="0" y="10287000"/>
                  </a:lnTo>
                  <a:lnTo>
                    <a:pt x="1075690" y="10287000"/>
                  </a:lnTo>
                  <a:cubicBezTo>
                    <a:pt x="1045083" y="10092944"/>
                    <a:pt x="998347" y="9887839"/>
                    <a:pt x="932434" y="9671558"/>
                  </a:cubicBezTo>
                  <a:cubicBezTo>
                    <a:pt x="931037" y="9666478"/>
                    <a:pt x="929513" y="9661398"/>
                    <a:pt x="928116" y="9656318"/>
                  </a:cubicBezTo>
                  <a:cubicBezTo>
                    <a:pt x="695198" y="8825738"/>
                    <a:pt x="523367" y="7850378"/>
                    <a:pt x="395986" y="6809613"/>
                  </a:cubicBezTo>
                  <a:cubicBezTo>
                    <a:pt x="339217" y="6347460"/>
                    <a:pt x="291846" y="5872100"/>
                    <a:pt x="251079" y="5390262"/>
                  </a:cubicBezTo>
                  <a:cubicBezTo>
                    <a:pt x="216916" y="4980432"/>
                    <a:pt x="187706" y="4565523"/>
                    <a:pt x="163068" y="4150614"/>
                  </a:cubicBezTo>
                  <a:cubicBezTo>
                    <a:pt x="82550" y="2780538"/>
                    <a:pt x="45847" y="1389126"/>
                    <a:pt x="3683" y="0"/>
                  </a:cubicBezTo>
                  <a:close/>
                </a:path>
              </a:pathLst>
            </a:custGeom>
            <a:solidFill>
              <a:srgbClr val="3567A1"/>
            </a:solidFill>
          </p:spPr>
        </p:sp>
        <p:sp>
          <p:nvSpPr>
            <p:cNvPr id="11" name="Freeform 11"/>
            <p:cNvSpPr/>
            <p:nvPr/>
          </p:nvSpPr>
          <p:spPr>
            <a:xfrm>
              <a:off x="8368539" y="1573022"/>
              <a:ext cx="834898" cy="445135"/>
            </a:xfrm>
            <a:custGeom>
              <a:avLst/>
              <a:gdLst/>
              <a:ahLst/>
              <a:cxnLst/>
              <a:rect l="l" t="t" r="r" b="b"/>
              <a:pathLst>
                <a:path w="834898" h="445135">
                  <a:moveTo>
                    <a:pt x="0" y="0"/>
                  </a:moveTo>
                  <a:lnTo>
                    <a:pt x="0" y="111633"/>
                  </a:lnTo>
                  <a:lnTo>
                    <a:pt x="143637" y="222758"/>
                  </a:lnTo>
                  <a:lnTo>
                    <a:pt x="0" y="333502"/>
                  </a:lnTo>
                  <a:lnTo>
                    <a:pt x="0" y="445135"/>
                  </a:lnTo>
                  <a:lnTo>
                    <a:pt x="287781" y="222377"/>
                  </a:lnTo>
                  <a:lnTo>
                    <a:pt x="0" y="0"/>
                  </a:lnTo>
                  <a:close/>
                  <a:moveTo>
                    <a:pt x="273558" y="0"/>
                  </a:moveTo>
                  <a:lnTo>
                    <a:pt x="273558" y="111633"/>
                  </a:lnTo>
                  <a:lnTo>
                    <a:pt x="417194" y="222758"/>
                  </a:lnTo>
                  <a:lnTo>
                    <a:pt x="273558" y="333502"/>
                  </a:lnTo>
                  <a:lnTo>
                    <a:pt x="273558" y="445135"/>
                  </a:lnTo>
                  <a:lnTo>
                    <a:pt x="561340" y="222377"/>
                  </a:lnTo>
                  <a:lnTo>
                    <a:pt x="273558" y="0"/>
                  </a:lnTo>
                  <a:close/>
                  <a:moveTo>
                    <a:pt x="547116" y="0"/>
                  </a:moveTo>
                  <a:lnTo>
                    <a:pt x="547116" y="111633"/>
                  </a:lnTo>
                  <a:lnTo>
                    <a:pt x="690753" y="222758"/>
                  </a:lnTo>
                  <a:lnTo>
                    <a:pt x="547116" y="333502"/>
                  </a:lnTo>
                  <a:lnTo>
                    <a:pt x="547116" y="445135"/>
                  </a:lnTo>
                  <a:lnTo>
                    <a:pt x="834898" y="222377"/>
                  </a:lnTo>
                  <a:lnTo>
                    <a:pt x="547116" y="0"/>
                  </a:lnTo>
                  <a:close/>
                </a:path>
              </a:pathLst>
            </a:custGeom>
            <a:solidFill>
              <a:srgbClr val="00357B"/>
            </a:solidFill>
          </p:spPr>
        </p:sp>
      </p:grpSp>
      <p:grpSp>
        <p:nvGrpSpPr>
          <p:cNvPr id="12" name="Group 12"/>
          <p:cNvGrpSpPr/>
          <p:nvPr/>
        </p:nvGrpSpPr>
        <p:grpSpPr>
          <a:xfrm>
            <a:off x="387420" y="2208714"/>
            <a:ext cx="6252372" cy="6250210"/>
            <a:chOff x="0" y="0"/>
            <a:chExt cx="8336496" cy="8333613"/>
          </a:xfrm>
        </p:grpSpPr>
        <p:sp>
          <p:nvSpPr>
            <p:cNvPr id="13" name="Freeform 13"/>
            <p:cNvSpPr/>
            <p:nvPr/>
          </p:nvSpPr>
          <p:spPr>
            <a:xfrm>
              <a:off x="0" y="0"/>
              <a:ext cx="8336788" cy="8333613"/>
            </a:xfrm>
            <a:custGeom>
              <a:avLst/>
              <a:gdLst/>
              <a:ahLst/>
              <a:cxnLst/>
              <a:rect l="l" t="t" r="r" b="b"/>
              <a:pathLst>
                <a:path w="8336788" h="8333613">
                  <a:moveTo>
                    <a:pt x="4164330" y="0"/>
                  </a:moveTo>
                  <a:cubicBezTo>
                    <a:pt x="4029202" y="127"/>
                    <a:pt x="3894328" y="6731"/>
                    <a:pt x="3759708" y="19939"/>
                  </a:cubicBezTo>
                  <a:cubicBezTo>
                    <a:pt x="3623818" y="33274"/>
                    <a:pt x="3488944" y="53213"/>
                    <a:pt x="3355086" y="79883"/>
                  </a:cubicBezTo>
                  <a:cubicBezTo>
                    <a:pt x="3221228" y="106553"/>
                    <a:pt x="3088894" y="139573"/>
                    <a:pt x="2958338" y="179197"/>
                  </a:cubicBezTo>
                  <a:cubicBezTo>
                    <a:pt x="2827782" y="218821"/>
                    <a:pt x="2699385" y="264668"/>
                    <a:pt x="2573147" y="316865"/>
                  </a:cubicBezTo>
                  <a:cubicBezTo>
                    <a:pt x="2446909" y="369062"/>
                    <a:pt x="2323719" y="427355"/>
                    <a:pt x="2203323" y="491617"/>
                  </a:cubicBezTo>
                  <a:cubicBezTo>
                    <a:pt x="2082927" y="555879"/>
                    <a:pt x="1965960" y="625983"/>
                    <a:pt x="1852422" y="701802"/>
                  </a:cubicBezTo>
                  <a:cubicBezTo>
                    <a:pt x="1738884" y="777621"/>
                    <a:pt x="1629537" y="858774"/>
                    <a:pt x="1524000" y="945261"/>
                  </a:cubicBezTo>
                  <a:cubicBezTo>
                    <a:pt x="1418463" y="1031748"/>
                    <a:pt x="1317498" y="1123442"/>
                    <a:pt x="1220978" y="1219962"/>
                  </a:cubicBezTo>
                  <a:cubicBezTo>
                    <a:pt x="1124458" y="1316482"/>
                    <a:pt x="1032891" y="1417447"/>
                    <a:pt x="946277" y="1522984"/>
                  </a:cubicBezTo>
                  <a:cubicBezTo>
                    <a:pt x="859663" y="1628521"/>
                    <a:pt x="778383" y="1737995"/>
                    <a:pt x="702564" y="1851406"/>
                  </a:cubicBezTo>
                  <a:cubicBezTo>
                    <a:pt x="626745" y="1964817"/>
                    <a:pt x="556641" y="2081784"/>
                    <a:pt x="492252" y="2202180"/>
                  </a:cubicBezTo>
                  <a:cubicBezTo>
                    <a:pt x="427863" y="2322576"/>
                    <a:pt x="369570" y="2445766"/>
                    <a:pt x="317373" y="2571877"/>
                  </a:cubicBezTo>
                  <a:cubicBezTo>
                    <a:pt x="265176" y="2697988"/>
                    <a:pt x="219202" y="2826385"/>
                    <a:pt x="179578" y="2956941"/>
                  </a:cubicBezTo>
                  <a:cubicBezTo>
                    <a:pt x="139954" y="3087497"/>
                    <a:pt x="106807" y="3219831"/>
                    <a:pt x="80137" y="3353689"/>
                  </a:cubicBezTo>
                  <a:cubicBezTo>
                    <a:pt x="53467" y="3487547"/>
                    <a:pt x="33528" y="3622421"/>
                    <a:pt x="20066" y="3758311"/>
                  </a:cubicBezTo>
                  <a:cubicBezTo>
                    <a:pt x="6604" y="3894201"/>
                    <a:pt x="0" y="4030345"/>
                    <a:pt x="0" y="4166743"/>
                  </a:cubicBezTo>
                  <a:cubicBezTo>
                    <a:pt x="0" y="4303141"/>
                    <a:pt x="6731" y="4439412"/>
                    <a:pt x="20066" y="4575302"/>
                  </a:cubicBezTo>
                  <a:cubicBezTo>
                    <a:pt x="33401" y="4711192"/>
                    <a:pt x="53467" y="4845939"/>
                    <a:pt x="80137" y="4979924"/>
                  </a:cubicBezTo>
                  <a:cubicBezTo>
                    <a:pt x="106807" y="5113909"/>
                    <a:pt x="139954" y="5245989"/>
                    <a:pt x="179578" y="5376672"/>
                  </a:cubicBezTo>
                  <a:cubicBezTo>
                    <a:pt x="219202" y="5507355"/>
                    <a:pt x="265176" y="5635625"/>
                    <a:pt x="317373" y="5761736"/>
                  </a:cubicBezTo>
                  <a:cubicBezTo>
                    <a:pt x="369570" y="5887847"/>
                    <a:pt x="427863" y="6011037"/>
                    <a:pt x="492252" y="6131433"/>
                  </a:cubicBezTo>
                  <a:cubicBezTo>
                    <a:pt x="556641" y="6251829"/>
                    <a:pt x="626745" y="6368796"/>
                    <a:pt x="702564" y="6482207"/>
                  </a:cubicBezTo>
                  <a:cubicBezTo>
                    <a:pt x="778383" y="6595618"/>
                    <a:pt x="859663" y="6705219"/>
                    <a:pt x="946277" y="6810629"/>
                  </a:cubicBezTo>
                  <a:cubicBezTo>
                    <a:pt x="1032891" y="6916039"/>
                    <a:pt x="1124458" y="7017131"/>
                    <a:pt x="1220978" y="7113651"/>
                  </a:cubicBezTo>
                  <a:cubicBezTo>
                    <a:pt x="1317498" y="7210171"/>
                    <a:pt x="1418590" y="7301738"/>
                    <a:pt x="1524127" y="7388225"/>
                  </a:cubicBezTo>
                  <a:cubicBezTo>
                    <a:pt x="1629664" y="7474712"/>
                    <a:pt x="1739138" y="7555992"/>
                    <a:pt x="1852676" y="7631811"/>
                  </a:cubicBezTo>
                  <a:cubicBezTo>
                    <a:pt x="1966214" y="7707630"/>
                    <a:pt x="2083181" y="7777734"/>
                    <a:pt x="2203577" y="7841996"/>
                  </a:cubicBezTo>
                  <a:cubicBezTo>
                    <a:pt x="2323973" y="7906258"/>
                    <a:pt x="2447290" y="7964551"/>
                    <a:pt x="2573401" y="8016748"/>
                  </a:cubicBezTo>
                  <a:cubicBezTo>
                    <a:pt x="2699512" y="8068945"/>
                    <a:pt x="2827909" y="8114792"/>
                    <a:pt x="2958592" y="8154416"/>
                  </a:cubicBezTo>
                  <a:cubicBezTo>
                    <a:pt x="3089275" y="8194040"/>
                    <a:pt x="3221482" y="8227060"/>
                    <a:pt x="3355340" y="8253730"/>
                  </a:cubicBezTo>
                  <a:cubicBezTo>
                    <a:pt x="3489198" y="8280400"/>
                    <a:pt x="3624072" y="8300339"/>
                    <a:pt x="3759962" y="8313674"/>
                  </a:cubicBezTo>
                  <a:cubicBezTo>
                    <a:pt x="3895344" y="8327009"/>
                    <a:pt x="4030980" y="8333613"/>
                    <a:pt x="4166997" y="8333613"/>
                  </a:cubicBezTo>
                  <a:cubicBezTo>
                    <a:pt x="4167505" y="8333613"/>
                    <a:pt x="4168013" y="8333613"/>
                    <a:pt x="4168394" y="8333613"/>
                  </a:cubicBezTo>
                  <a:cubicBezTo>
                    <a:pt x="4168775" y="8333613"/>
                    <a:pt x="4169410" y="8333613"/>
                    <a:pt x="4169791" y="8333613"/>
                  </a:cubicBezTo>
                  <a:cubicBezTo>
                    <a:pt x="4305808" y="8333613"/>
                    <a:pt x="4441444" y="8327009"/>
                    <a:pt x="4576826" y="8313674"/>
                  </a:cubicBezTo>
                  <a:cubicBezTo>
                    <a:pt x="4712716" y="8300339"/>
                    <a:pt x="4847590" y="8280400"/>
                    <a:pt x="4981448" y="8253730"/>
                  </a:cubicBezTo>
                  <a:cubicBezTo>
                    <a:pt x="5115306" y="8227060"/>
                    <a:pt x="5247640" y="8194040"/>
                    <a:pt x="5378196" y="8154416"/>
                  </a:cubicBezTo>
                  <a:cubicBezTo>
                    <a:pt x="5508752" y="8114792"/>
                    <a:pt x="5637149" y="8068945"/>
                    <a:pt x="5763387" y="8016748"/>
                  </a:cubicBezTo>
                  <a:cubicBezTo>
                    <a:pt x="5889625" y="7964551"/>
                    <a:pt x="6012815" y="7906258"/>
                    <a:pt x="6133211" y="7841996"/>
                  </a:cubicBezTo>
                  <a:cubicBezTo>
                    <a:pt x="6253607" y="7777734"/>
                    <a:pt x="6370574" y="7707630"/>
                    <a:pt x="6484112" y="7631811"/>
                  </a:cubicBezTo>
                  <a:cubicBezTo>
                    <a:pt x="6597650" y="7555992"/>
                    <a:pt x="6707124" y="7474839"/>
                    <a:pt x="6812661" y="7388225"/>
                  </a:cubicBezTo>
                  <a:cubicBezTo>
                    <a:pt x="6918198" y="7301611"/>
                    <a:pt x="7019163" y="7210171"/>
                    <a:pt x="7115810" y="7113651"/>
                  </a:cubicBezTo>
                  <a:cubicBezTo>
                    <a:pt x="7212457" y="7017131"/>
                    <a:pt x="7303897" y="6916166"/>
                    <a:pt x="7390511" y="6810629"/>
                  </a:cubicBezTo>
                  <a:cubicBezTo>
                    <a:pt x="7477125" y="6705092"/>
                    <a:pt x="7558405" y="6595618"/>
                    <a:pt x="7634224" y="6482207"/>
                  </a:cubicBezTo>
                  <a:cubicBezTo>
                    <a:pt x="7710043" y="6368796"/>
                    <a:pt x="7780147" y="6251829"/>
                    <a:pt x="7844536" y="6131433"/>
                  </a:cubicBezTo>
                  <a:cubicBezTo>
                    <a:pt x="7908925" y="6011037"/>
                    <a:pt x="7967218" y="5887847"/>
                    <a:pt x="8019415" y="5761736"/>
                  </a:cubicBezTo>
                  <a:cubicBezTo>
                    <a:pt x="8071612" y="5635625"/>
                    <a:pt x="8117586" y="5507228"/>
                    <a:pt x="8157210" y="5376672"/>
                  </a:cubicBezTo>
                  <a:cubicBezTo>
                    <a:pt x="8196834" y="5246116"/>
                    <a:pt x="8229981" y="5113782"/>
                    <a:pt x="8256651" y="4979924"/>
                  </a:cubicBezTo>
                  <a:cubicBezTo>
                    <a:pt x="8283321" y="4846066"/>
                    <a:pt x="8303260" y="4711192"/>
                    <a:pt x="8316722" y="4575302"/>
                  </a:cubicBezTo>
                  <a:cubicBezTo>
                    <a:pt x="8330184" y="4439412"/>
                    <a:pt x="8336788" y="4303268"/>
                    <a:pt x="8336788" y="4166743"/>
                  </a:cubicBezTo>
                  <a:lnTo>
                    <a:pt x="8336788" y="4166616"/>
                  </a:lnTo>
                  <a:cubicBezTo>
                    <a:pt x="8336788" y="4030218"/>
                    <a:pt x="8330057" y="3894074"/>
                    <a:pt x="8316722" y="3758184"/>
                  </a:cubicBezTo>
                  <a:cubicBezTo>
                    <a:pt x="8303387" y="3622294"/>
                    <a:pt x="8283321" y="3487547"/>
                    <a:pt x="8256651" y="3353562"/>
                  </a:cubicBezTo>
                  <a:cubicBezTo>
                    <a:pt x="8229981" y="3219577"/>
                    <a:pt x="8196834" y="3087497"/>
                    <a:pt x="8157210" y="2956814"/>
                  </a:cubicBezTo>
                  <a:cubicBezTo>
                    <a:pt x="8117586" y="2826131"/>
                    <a:pt x="8071612" y="2697861"/>
                    <a:pt x="8019415" y="2571750"/>
                  </a:cubicBezTo>
                  <a:cubicBezTo>
                    <a:pt x="7967218" y="2445639"/>
                    <a:pt x="7908925" y="2322449"/>
                    <a:pt x="7844536" y="2202053"/>
                  </a:cubicBezTo>
                  <a:cubicBezTo>
                    <a:pt x="7780147" y="2081657"/>
                    <a:pt x="7710043" y="1964690"/>
                    <a:pt x="7634224" y="1851279"/>
                  </a:cubicBezTo>
                  <a:cubicBezTo>
                    <a:pt x="7558405" y="1737868"/>
                    <a:pt x="7477125" y="1628267"/>
                    <a:pt x="7390511" y="1522857"/>
                  </a:cubicBezTo>
                  <a:cubicBezTo>
                    <a:pt x="7303897" y="1417447"/>
                    <a:pt x="7212330" y="1316355"/>
                    <a:pt x="7115810" y="1219835"/>
                  </a:cubicBezTo>
                  <a:cubicBezTo>
                    <a:pt x="7019290" y="1123315"/>
                    <a:pt x="6918198" y="1031748"/>
                    <a:pt x="6812661" y="945261"/>
                  </a:cubicBezTo>
                  <a:cubicBezTo>
                    <a:pt x="6707124" y="858774"/>
                    <a:pt x="6597650" y="777494"/>
                    <a:pt x="6484112" y="701675"/>
                  </a:cubicBezTo>
                  <a:cubicBezTo>
                    <a:pt x="6370574" y="625856"/>
                    <a:pt x="6253480" y="555879"/>
                    <a:pt x="6133084" y="491490"/>
                  </a:cubicBezTo>
                  <a:cubicBezTo>
                    <a:pt x="6012688" y="427101"/>
                    <a:pt x="5889371" y="368935"/>
                    <a:pt x="5763260" y="316738"/>
                  </a:cubicBezTo>
                  <a:cubicBezTo>
                    <a:pt x="5637149" y="264541"/>
                    <a:pt x="5508752" y="218694"/>
                    <a:pt x="5378069" y="179070"/>
                  </a:cubicBezTo>
                  <a:cubicBezTo>
                    <a:pt x="5247386" y="139446"/>
                    <a:pt x="5115179" y="106426"/>
                    <a:pt x="4981321" y="79756"/>
                  </a:cubicBezTo>
                  <a:cubicBezTo>
                    <a:pt x="4847463" y="53086"/>
                    <a:pt x="4712589" y="33147"/>
                    <a:pt x="4576699" y="19812"/>
                  </a:cubicBezTo>
                  <a:cubicBezTo>
                    <a:pt x="4442206" y="6731"/>
                    <a:pt x="4307332" y="127"/>
                    <a:pt x="4172204" y="0"/>
                  </a:cubicBezTo>
                  <a:close/>
                </a:path>
              </a:pathLst>
            </a:custGeom>
            <a:blipFill>
              <a:blip r:embed="rId3"/>
              <a:stretch>
                <a:fillRect l="-40570" r="-9509" b="-23"/>
              </a:stretch>
            </a:blipFill>
          </p:spPr>
        </p:sp>
      </p:grpSp>
      <p:sp>
        <p:nvSpPr>
          <p:cNvPr id="14" name="Freeform 14"/>
          <p:cNvSpPr/>
          <p:nvPr/>
        </p:nvSpPr>
        <p:spPr>
          <a:xfrm>
            <a:off x="-63503" y="-63503"/>
            <a:ext cx="11777605" cy="10413997"/>
          </a:xfrm>
          <a:custGeom>
            <a:avLst/>
            <a:gdLst/>
            <a:ahLst/>
            <a:cxnLst/>
            <a:rect l="l" t="t" r="r" b="b"/>
            <a:pathLst>
              <a:path w="11777605" h="10413997">
                <a:moveTo>
                  <a:pt x="0" y="0"/>
                </a:moveTo>
                <a:lnTo>
                  <a:pt x="11777605" y="0"/>
                </a:lnTo>
                <a:lnTo>
                  <a:pt x="11777605" y="10413997"/>
                </a:lnTo>
                <a:lnTo>
                  <a:pt x="0" y="10413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TextBox 15"/>
          <p:cNvSpPr txBox="1"/>
          <p:nvPr/>
        </p:nvSpPr>
        <p:spPr>
          <a:xfrm>
            <a:off x="6910711" y="2180139"/>
            <a:ext cx="10543768" cy="4871194"/>
          </a:xfrm>
          <a:prstGeom prst="rect">
            <a:avLst/>
          </a:prstGeom>
        </p:spPr>
        <p:txBody>
          <a:bodyPr lIns="0" tIns="0" rIns="0" bIns="0" rtlCol="0" anchor="t">
            <a:spAutoFit/>
          </a:bodyPr>
          <a:lstStyle/>
          <a:p>
            <a:pPr algn="just">
              <a:lnSpc>
                <a:spcPts val="2185"/>
              </a:lnSpc>
              <a:spcBef>
                <a:spcPct val="0"/>
              </a:spcBef>
            </a:pPr>
            <a:r>
              <a:rPr lang="en-US" sz="1561" b="1" dirty="0">
                <a:solidFill>
                  <a:srgbClr val="00357B"/>
                </a:solidFill>
                <a:latin typeface="Montserrat Bold"/>
                <a:ea typeface="Montserrat Bold"/>
                <a:cs typeface="Montserrat Bold"/>
                <a:sym typeface="Montserrat Bold"/>
              </a:rPr>
              <a:t>S	= </a:t>
            </a:r>
            <a:r>
              <a:rPr lang="en-US" sz="1561" b="1" dirty="0" err="1">
                <a:solidFill>
                  <a:srgbClr val="00357B"/>
                </a:solidFill>
                <a:latin typeface="Montserrat Bold"/>
                <a:ea typeface="Montserrat Bold"/>
                <a:cs typeface="Montserrat Bold"/>
                <a:sym typeface="Montserrat Bold"/>
              </a:rPr>
              <a:t>Menganalisis</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distribusi</a:t>
            </a:r>
            <a:r>
              <a:rPr lang="en-US" sz="1561" b="1" dirty="0">
                <a:solidFill>
                  <a:srgbClr val="00357B"/>
                </a:solidFill>
                <a:latin typeface="Montserrat Bold"/>
                <a:ea typeface="Montserrat Bold"/>
                <a:cs typeface="Montserrat Bold"/>
                <a:sym typeface="Montserrat Bold"/>
              </a:rPr>
              <a:t> dan </a:t>
            </a:r>
            <a:r>
              <a:rPr lang="en-US" sz="1561" b="1" dirty="0" err="1">
                <a:solidFill>
                  <a:srgbClr val="00357B"/>
                </a:solidFill>
                <a:latin typeface="Montserrat Bold"/>
                <a:ea typeface="Montserrat Bold"/>
                <a:cs typeface="Montserrat Bold"/>
                <a:sym typeface="Montserrat Bold"/>
              </a:rPr>
              <a:t>tren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konten</a:t>
            </a:r>
            <a:r>
              <a:rPr lang="en-US" sz="1561" b="1" dirty="0">
                <a:solidFill>
                  <a:srgbClr val="00357B"/>
                </a:solidFill>
                <a:latin typeface="Montserrat Bold"/>
                <a:ea typeface="Montserrat Bold"/>
                <a:cs typeface="Montserrat Bold"/>
                <a:sym typeface="Montserrat Bold"/>
              </a:rPr>
              <a:t> pada platform Disney+ </a:t>
            </a:r>
            <a:r>
              <a:rPr lang="en-US" sz="1561" b="1" dirty="0" err="1">
                <a:solidFill>
                  <a:srgbClr val="00357B"/>
                </a:solidFill>
                <a:latin typeface="Montserrat Bold"/>
                <a:ea typeface="Montserrat Bold"/>
                <a:cs typeface="Montserrat Bold"/>
                <a:sym typeface="Montserrat Bold"/>
              </a:rPr>
              <a:t>berdasarkan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waktu</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rilis</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tahun</a:t>
            </a:r>
            <a:r>
              <a:rPr lang="en-US" sz="1561" b="1" dirty="0">
                <a:solidFill>
                  <a:srgbClr val="00357B"/>
                </a:solidFill>
                <a:latin typeface="Montserrat Bold"/>
                <a:ea typeface="Montserrat Bold"/>
                <a:cs typeface="Montserrat Bold"/>
                <a:sym typeface="Montserrat Bold"/>
              </a:rPr>
              <a:t> dan </a:t>
            </a:r>
            <a:r>
              <a:rPr lang="en-US" sz="1561" b="1" dirty="0" err="1">
                <a:solidFill>
                  <a:srgbClr val="00357B"/>
                </a:solidFill>
                <a:latin typeface="Montserrat Bold"/>
                <a:ea typeface="Montserrat Bold"/>
                <a:cs typeface="Montserrat Bold"/>
                <a:sym typeface="Montserrat Bold"/>
              </a:rPr>
              <a:t>bulan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jenis</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konten</a:t>
            </a:r>
            <a:r>
              <a:rPr lang="en-US" sz="1561" b="1" dirty="0">
                <a:solidFill>
                  <a:srgbClr val="00357B"/>
                </a:solidFill>
                <a:latin typeface="Montserrat Bold"/>
                <a:ea typeface="Montserrat Bold"/>
                <a:cs typeface="Montserrat Bold"/>
                <a:sym typeface="Montserrat Bold"/>
              </a:rPr>
              <a:t> Movie dan TV Show, negara, genre, dan </a:t>
            </a:r>
            <a:r>
              <a:rPr lang="en-US" sz="1561" b="1" dirty="0" err="1">
                <a:solidFill>
                  <a:srgbClr val="00357B"/>
                </a:solidFill>
                <a:latin typeface="Montserrat Bold"/>
                <a:ea typeface="Montserrat Bold"/>
                <a:cs typeface="Montserrat Bold"/>
                <a:sym typeface="Montserrat Bold"/>
              </a:rPr>
              <a:t>pemeran</a:t>
            </a:r>
            <a:r>
              <a:rPr lang="en-US" sz="1561" b="1" dirty="0">
                <a:solidFill>
                  <a:srgbClr val="00357B"/>
                </a:solidFill>
                <a:latin typeface="Montserrat Bold"/>
                <a:ea typeface="Montserrat Bold"/>
                <a:cs typeface="Montserrat Bold"/>
                <a:sym typeface="Montserrat Bold"/>
              </a:rPr>
              <a:t>.</a:t>
            </a:r>
          </a:p>
          <a:p>
            <a:pPr algn="l">
              <a:lnSpc>
                <a:spcPts val="2185"/>
              </a:lnSpc>
              <a:spcBef>
                <a:spcPct val="0"/>
              </a:spcBef>
            </a:pPr>
            <a:endParaRPr lang="en-US" sz="1561" b="1" dirty="0">
              <a:solidFill>
                <a:srgbClr val="00357B"/>
              </a:solidFill>
              <a:latin typeface="Montserrat Bold"/>
              <a:ea typeface="Montserrat Bold"/>
              <a:cs typeface="Montserrat Bold"/>
              <a:sym typeface="Montserrat Bold"/>
            </a:endParaRPr>
          </a:p>
          <a:p>
            <a:pPr algn="just">
              <a:lnSpc>
                <a:spcPts val="2185"/>
              </a:lnSpc>
              <a:spcBef>
                <a:spcPct val="0"/>
              </a:spcBef>
            </a:pPr>
            <a:r>
              <a:rPr lang="en-US" sz="1561" b="1" dirty="0">
                <a:solidFill>
                  <a:srgbClr val="00357B"/>
                </a:solidFill>
                <a:latin typeface="Montserrat Bold"/>
                <a:ea typeface="Montserrat Bold"/>
                <a:cs typeface="Montserrat Bold"/>
                <a:sym typeface="Montserrat Bold"/>
              </a:rPr>
              <a:t>M	= </a:t>
            </a:r>
            <a:r>
              <a:rPr lang="en-US" sz="1561" b="1" dirty="0" err="1">
                <a:solidFill>
                  <a:srgbClr val="00357B"/>
                </a:solidFill>
                <a:latin typeface="Montserrat Bold"/>
                <a:ea typeface="Montserrat Bold"/>
                <a:cs typeface="Montserrat Bold"/>
                <a:sym typeface="Montserrat Bold"/>
              </a:rPr>
              <a:t>Menganalisis</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jumlah</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konten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berdasarkan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waktu</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rilis</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tahun</a:t>
            </a:r>
            <a:r>
              <a:rPr lang="en-US" sz="1561" b="1" dirty="0">
                <a:solidFill>
                  <a:srgbClr val="00357B"/>
                </a:solidFill>
                <a:latin typeface="Montserrat Bold"/>
                <a:ea typeface="Montserrat Bold"/>
                <a:cs typeface="Montserrat Bold"/>
                <a:sym typeface="Montserrat Bold"/>
              </a:rPr>
              <a:t> dan </a:t>
            </a:r>
            <a:r>
              <a:rPr lang="en-US" sz="1561" b="1" dirty="0" err="1">
                <a:solidFill>
                  <a:srgbClr val="00357B"/>
                </a:solidFill>
                <a:latin typeface="Montserrat Bold"/>
                <a:ea typeface="Montserrat Bold"/>
                <a:cs typeface="Montserrat Bold"/>
                <a:sym typeface="Montserrat Bold"/>
              </a:rPr>
              <a:t>bulan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membandingkan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jumlah</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koten</a:t>
            </a:r>
            <a:r>
              <a:rPr lang="en-US" sz="1561" b="1" dirty="0">
                <a:solidFill>
                  <a:srgbClr val="00357B"/>
                </a:solidFill>
                <a:latin typeface="Montserrat Bold"/>
                <a:ea typeface="Montserrat Bold"/>
                <a:cs typeface="Montserrat Bold"/>
                <a:sym typeface="Montserrat Bold"/>
              </a:rPr>
              <a:t> Movie dan TV Show, dan </a:t>
            </a:r>
            <a:r>
              <a:rPr lang="en-US" sz="1561" b="1" dirty="0" err="1">
                <a:solidFill>
                  <a:srgbClr val="00357B"/>
                </a:solidFill>
                <a:latin typeface="Montserrat Bold"/>
                <a:ea typeface="Montserrat Bold"/>
                <a:cs typeface="Montserrat Bold"/>
                <a:sym typeface="Montserrat Bold"/>
              </a:rPr>
              <a:t>melihat</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keterlibatan</a:t>
            </a:r>
            <a:r>
              <a:rPr lang="en-US" sz="1561" b="1" dirty="0">
                <a:solidFill>
                  <a:srgbClr val="00357B"/>
                </a:solidFill>
                <a:latin typeface="Montserrat Bold"/>
                <a:ea typeface="Montserrat Bold"/>
                <a:cs typeface="Montserrat Bold"/>
                <a:sym typeface="Montserrat Bold"/>
              </a:rPr>
              <a:t> yang paling </a:t>
            </a:r>
            <a:r>
              <a:rPr lang="en-US" sz="1561" b="1" dirty="0" err="1">
                <a:solidFill>
                  <a:srgbClr val="00357B"/>
                </a:solidFill>
                <a:latin typeface="Montserrat Bold"/>
                <a:ea typeface="Montserrat Bold"/>
                <a:cs typeface="Montserrat Bold"/>
                <a:sym typeface="Montserrat Bold"/>
              </a:rPr>
              <a:t>sering</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muncul</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dari</a:t>
            </a:r>
            <a:r>
              <a:rPr lang="en-US" sz="1561" b="1" dirty="0">
                <a:solidFill>
                  <a:srgbClr val="00357B"/>
                </a:solidFill>
                <a:latin typeface="Montserrat Bold"/>
                <a:ea typeface="Montserrat Bold"/>
                <a:cs typeface="Montserrat Bold"/>
                <a:sym typeface="Montserrat Bold"/>
              </a:rPr>
              <a:t> genre, negara, dan </a:t>
            </a:r>
            <a:r>
              <a:rPr lang="en-US" sz="1561" b="1" dirty="0" err="1">
                <a:solidFill>
                  <a:srgbClr val="00357B"/>
                </a:solidFill>
                <a:latin typeface="Montserrat Bold"/>
                <a:ea typeface="Montserrat Bold"/>
                <a:cs typeface="Montserrat Bold"/>
                <a:sym typeface="Montserrat Bold"/>
              </a:rPr>
              <a:t>pemeran</a:t>
            </a:r>
            <a:r>
              <a:rPr lang="en-US" sz="1561" b="1" dirty="0">
                <a:solidFill>
                  <a:srgbClr val="00357B"/>
                </a:solidFill>
                <a:latin typeface="Montserrat Bold"/>
                <a:ea typeface="Montserrat Bold"/>
                <a:cs typeface="Montserrat Bold"/>
                <a:sym typeface="Montserrat Bold"/>
              </a:rPr>
              <a:t>.</a:t>
            </a:r>
          </a:p>
          <a:p>
            <a:pPr algn="just">
              <a:lnSpc>
                <a:spcPts val="2185"/>
              </a:lnSpc>
              <a:spcBef>
                <a:spcPct val="0"/>
              </a:spcBef>
            </a:pPr>
            <a:endParaRPr lang="en-US" sz="1561" b="1" dirty="0">
              <a:solidFill>
                <a:srgbClr val="00357B"/>
              </a:solidFill>
              <a:latin typeface="Montserrat Bold"/>
              <a:ea typeface="Montserrat Bold"/>
              <a:cs typeface="Montserrat Bold"/>
              <a:sym typeface="Montserrat Bold"/>
            </a:endParaRPr>
          </a:p>
          <a:p>
            <a:pPr algn="just">
              <a:lnSpc>
                <a:spcPts val="2185"/>
              </a:lnSpc>
              <a:spcBef>
                <a:spcPct val="0"/>
              </a:spcBef>
            </a:pPr>
            <a:r>
              <a:rPr lang="en-US" sz="1561" b="1" dirty="0">
                <a:solidFill>
                  <a:srgbClr val="00357B"/>
                </a:solidFill>
                <a:latin typeface="Montserrat Bold"/>
                <a:ea typeface="Montserrat Bold"/>
                <a:cs typeface="Montserrat Bold"/>
                <a:sym typeface="Montserrat Bold"/>
              </a:rPr>
              <a:t>A	= </a:t>
            </a:r>
            <a:r>
              <a:rPr lang="en-US" sz="1561" b="1" dirty="0" err="1">
                <a:solidFill>
                  <a:srgbClr val="00357B"/>
                </a:solidFill>
                <a:latin typeface="Montserrat Bold"/>
                <a:ea typeface="Montserrat Bold"/>
                <a:cs typeface="Montserrat Bold"/>
                <a:sym typeface="Montserrat Bold"/>
              </a:rPr>
              <a:t>Analisis</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dilakukan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menggunakan</a:t>
            </a:r>
            <a:r>
              <a:rPr lang="en-US" sz="1561" b="1" dirty="0">
                <a:solidFill>
                  <a:srgbClr val="00357B"/>
                </a:solidFill>
                <a:latin typeface="Montserrat Bold"/>
                <a:ea typeface="Montserrat Bold"/>
                <a:cs typeface="Montserrat Bold"/>
                <a:sym typeface="Montserrat Bold"/>
              </a:rPr>
              <a:t> dataset Disney+ </a:t>
            </a:r>
            <a:r>
              <a:rPr lang="en-US" sz="1561" b="1" dirty="0" err="1">
                <a:solidFill>
                  <a:srgbClr val="00357B"/>
                </a:solidFill>
                <a:latin typeface="Montserrat Bold"/>
                <a:ea typeface="Montserrat Bold"/>
                <a:cs typeface="Montserrat Bold"/>
                <a:sym typeface="Montserrat Bold"/>
              </a:rPr>
              <a:t>dengan</a:t>
            </a:r>
            <a:r>
              <a:rPr lang="en-US" sz="1561" b="1" dirty="0">
                <a:solidFill>
                  <a:srgbClr val="00357B"/>
                </a:solidFill>
                <a:latin typeface="Montserrat Bold"/>
                <a:ea typeface="Montserrat Bold"/>
                <a:cs typeface="Montserrat Bold"/>
                <a:sym typeface="Montserrat Bold"/>
              </a:rPr>
              <a:t> tools Python </a:t>
            </a:r>
            <a:r>
              <a:rPr lang="en-US" sz="1561" b="1" dirty="0" err="1">
                <a:solidFill>
                  <a:srgbClr val="00357B"/>
                </a:solidFill>
                <a:latin typeface="Montserrat Bold"/>
                <a:ea typeface="Montserrat Bold"/>
                <a:cs typeface="Montserrat Bold"/>
                <a:sym typeface="Montserrat Bold"/>
              </a:rPr>
              <a:t>untuk</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pengolahan</a:t>
            </a:r>
            <a:r>
              <a:rPr lang="en-US" sz="1561" b="1" dirty="0">
                <a:solidFill>
                  <a:srgbClr val="00357B"/>
                </a:solidFill>
                <a:latin typeface="Montserrat Bold"/>
                <a:ea typeface="Montserrat Bold"/>
                <a:cs typeface="Montserrat Bold"/>
                <a:sym typeface="Montserrat Bold"/>
              </a:rPr>
              <a:t> 	   data, </a:t>
            </a:r>
            <a:r>
              <a:rPr lang="en-US" sz="1561" b="1" dirty="0" err="1">
                <a:solidFill>
                  <a:srgbClr val="00357B"/>
                </a:solidFill>
                <a:latin typeface="Montserrat Bold"/>
                <a:ea typeface="Montserrat Bold"/>
                <a:cs typeface="Montserrat Bold"/>
                <a:sym typeface="Montserrat Bold"/>
              </a:rPr>
              <a:t>visualisasi</a:t>
            </a:r>
            <a:r>
              <a:rPr lang="en-US" sz="1561" b="1" dirty="0">
                <a:solidFill>
                  <a:srgbClr val="00357B"/>
                </a:solidFill>
                <a:latin typeface="Montserrat Bold"/>
                <a:ea typeface="Montserrat Bold"/>
                <a:cs typeface="Montserrat Bold"/>
                <a:sym typeface="Montserrat Bold"/>
              </a:rPr>
              <a:t> data </a:t>
            </a:r>
            <a:r>
              <a:rPr lang="en-US" sz="1561" b="1" dirty="0" err="1">
                <a:solidFill>
                  <a:srgbClr val="00357B"/>
                </a:solidFill>
                <a:latin typeface="Montserrat Bold"/>
                <a:ea typeface="Montserrat Bold"/>
                <a:cs typeface="Montserrat Bold"/>
                <a:sym typeface="Montserrat Bold"/>
              </a:rPr>
              <a:t>menggunakan</a:t>
            </a:r>
            <a:r>
              <a:rPr lang="en-US" sz="1561" b="1" dirty="0">
                <a:solidFill>
                  <a:srgbClr val="00357B"/>
                </a:solidFill>
                <a:latin typeface="Montserrat Bold"/>
                <a:ea typeface="Montserrat Bold"/>
                <a:cs typeface="Montserrat Bold"/>
                <a:sym typeface="Montserrat Bold"/>
              </a:rPr>
              <a:t> library </a:t>
            </a:r>
            <a:r>
              <a:rPr lang="en-US" sz="1561" b="1" dirty="0" err="1">
                <a:solidFill>
                  <a:srgbClr val="00357B"/>
                </a:solidFill>
                <a:latin typeface="Montserrat Bold"/>
                <a:ea typeface="Montserrat Bold"/>
                <a:cs typeface="Montserrat Bold"/>
                <a:sym typeface="Montserrat Bold"/>
              </a:rPr>
              <a:t>seperti</a:t>
            </a:r>
            <a:r>
              <a:rPr lang="en-US" sz="1561" b="1" dirty="0">
                <a:solidFill>
                  <a:srgbClr val="00357B"/>
                </a:solidFill>
                <a:latin typeface="Montserrat Bold"/>
                <a:ea typeface="Montserrat Bold"/>
                <a:cs typeface="Montserrat Bold"/>
                <a:sym typeface="Montserrat Bold"/>
              </a:rPr>
              <a:t> Matplotlib dan </a:t>
            </a:r>
            <a:r>
              <a:rPr lang="en-US" sz="1561" b="1" dirty="0" err="1">
                <a:solidFill>
                  <a:srgbClr val="00357B"/>
                </a:solidFill>
                <a:latin typeface="Montserrat Bold"/>
                <a:ea typeface="Montserrat Bold"/>
                <a:cs typeface="Montserrat Bold"/>
                <a:sym typeface="Montserrat Bold"/>
              </a:rPr>
              <a:t>pyplot</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serta</a:t>
            </a:r>
            <a:r>
              <a:rPr lang="en-US" sz="1561" b="1" dirty="0">
                <a:solidFill>
                  <a:srgbClr val="00357B"/>
                </a:solidFill>
                <a:latin typeface="Montserrat Bold"/>
                <a:ea typeface="Montserrat Bold"/>
                <a:cs typeface="Montserrat Bold"/>
                <a:sym typeface="Montserrat Bold"/>
              </a:rPr>
              <a:t> Tableau 	   </a:t>
            </a:r>
            <a:r>
              <a:rPr lang="en-US" sz="1561" b="1" dirty="0" err="1">
                <a:solidFill>
                  <a:srgbClr val="00357B"/>
                </a:solidFill>
                <a:latin typeface="Montserrat Bold"/>
                <a:ea typeface="Montserrat Bold"/>
                <a:cs typeface="Montserrat Bold"/>
                <a:sym typeface="Montserrat Bold"/>
              </a:rPr>
              <a:t>untuk</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pembuatan</a:t>
            </a:r>
            <a:r>
              <a:rPr lang="en-US" sz="1561" b="1" dirty="0">
                <a:solidFill>
                  <a:srgbClr val="00357B"/>
                </a:solidFill>
                <a:latin typeface="Montserrat Bold"/>
                <a:ea typeface="Montserrat Bold"/>
                <a:cs typeface="Montserrat Bold"/>
                <a:sym typeface="Montserrat Bold"/>
              </a:rPr>
              <a:t> dashboard. Selain </a:t>
            </a:r>
            <a:r>
              <a:rPr lang="en-US" sz="1561" b="1" dirty="0" err="1">
                <a:solidFill>
                  <a:srgbClr val="00357B"/>
                </a:solidFill>
                <a:latin typeface="Montserrat Bold"/>
                <a:ea typeface="Montserrat Bold"/>
                <a:cs typeface="Montserrat Bold"/>
                <a:sym typeface="Montserrat Bold"/>
              </a:rPr>
              <a:t>itu</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analisis</a:t>
            </a:r>
            <a:r>
              <a:rPr lang="en-US" sz="1561" b="1" dirty="0">
                <a:solidFill>
                  <a:srgbClr val="00357B"/>
                </a:solidFill>
                <a:latin typeface="Montserrat Bold"/>
                <a:ea typeface="Montserrat Bold"/>
                <a:cs typeface="Montserrat Bold"/>
                <a:sym typeface="Montserrat Bold"/>
              </a:rPr>
              <a:t> juga </a:t>
            </a:r>
            <a:r>
              <a:rPr lang="en-US" sz="1561" b="1" dirty="0" err="1">
                <a:solidFill>
                  <a:srgbClr val="00357B"/>
                </a:solidFill>
                <a:latin typeface="Montserrat Bold"/>
                <a:ea typeface="Montserrat Bold"/>
                <a:cs typeface="Montserrat Bold"/>
                <a:sym typeface="Montserrat Bold"/>
              </a:rPr>
              <a:t>didukung</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dengan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metode</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statistik</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deskriptif</a:t>
            </a:r>
            <a:r>
              <a:rPr lang="en-US" sz="1561" b="1" dirty="0">
                <a:solidFill>
                  <a:srgbClr val="00357B"/>
                </a:solidFill>
                <a:latin typeface="Montserrat Bold"/>
                <a:ea typeface="Montserrat Bold"/>
                <a:cs typeface="Montserrat Bold"/>
                <a:sym typeface="Montserrat Bold"/>
              </a:rPr>
              <a:t> dan </a:t>
            </a:r>
            <a:r>
              <a:rPr lang="en-US" sz="1561" b="1" dirty="0" err="1">
                <a:solidFill>
                  <a:srgbClr val="00357B"/>
                </a:solidFill>
                <a:latin typeface="Montserrat Bold"/>
                <a:ea typeface="Montserrat Bold"/>
                <a:cs typeface="Montserrat Bold"/>
                <a:sym typeface="Montserrat Bold"/>
              </a:rPr>
              <a:t>inferensial</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menggunakan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berbagai</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jenis</a:t>
            </a:r>
            <a:r>
              <a:rPr lang="en-US" sz="1561" b="1" dirty="0">
                <a:solidFill>
                  <a:srgbClr val="00357B"/>
                </a:solidFill>
                <a:latin typeface="Montserrat Bold"/>
                <a:ea typeface="Montserrat Bold"/>
                <a:cs typeface="Montserrat Bold"/>
                <a:sym typeface="Montserrat Bold"/>
              </a:rPr>
              <a:t> Library </a:t>
            </a:r>
            <a:r>
              <a:rPr lang="en-US" sz="1561" b="1" dirty="0" err="1">
                <a:solidFill>
                  <a:srgbClr val="00357B"/>
                </a:solidFill>
                <a:latin typeface="Montserrat Bold"/>
                <a:ea typeface="Montserrat Bold"/>
                <a:cs typeface="Montserrat Bold"/>
                <a:sym typeface="Montserrat Bold"/>
              </a:rPr>
              <a:t>analisis</a:t>
            </a:r>
            <a:r>
              <a:rPr lang="en-US" sz="1561" b="1" dirty="0">
                <a:solidFill>
                  <a:srgbClr val="00357B"/>
                </a:solidFill>
                <a:latin typeface="Montserrat Bold"/>
                <a:ea typeface="Montserrat Bold"/>
                <a:cs typeface="Montserrat Bold"/>
                <a:sym typeface="Montserrat Bold"/>
              </a:rPr>
              <a:t> python.</a:t>
            </a:r>
          </a:p>
          <a:p>
            <a:pPr algn="just">
              <a:lnSpc>
                <a:spcPts val="2185"/>
              </a:lnSpc>
              <a:spcBef>
                <a:spcPct val="0"/>
              </a:spcBef>
            </a:pPr>
            <a:endParaRPr lang="en-US" sz="1561" b="1" dirty="0">
              <a:solidFill>
                <a:srgbClr val="00357B"/>
              </a:solidFill>
              <a:latin typeface="Montserrat Bold"/>
              <a:ea typeface="Montserrat Bold"/>
              <a:cs typeface="Montserrat Bold"/>
              <a:sym typeface="Montserrat Bold"/>
            </a:endParaRPr>
          </a:p>
          <a:p>
            <a:pPr algn="just">
              <a:lnSpc>
                <a:spcPts val="2185"/>
              </a:lnSpc>
              <a:spcBef>
                <a:spcPct val="0"/>
              </a:spcBef>
            </a:pPr>
            <a:r>
              <a:rPr lang="en-US" sz="1561" b="1" dirty="0">
                <a:solidFill>
                  <a:srgbClr val="00357B"/>
                </a:solidFill>
                <a:latin typeface="Montserrat Bold"/>
                <a:ea typeface="Montserrat Bold"/>
                <a:cs typeface="Montserrat Bold"/>
                <a:sym typeface="Montserrat Bold"/>
              </a:rPr>
              <a:t>R	= </a:t>
            </a:r>
            <a:r>
              <a:rPr lang="en-US" sz="1561" b="1" dirty="0" err="1">
                <a:solidFill>
                  <a:srgbClr val="00357B"/>
                </a:solidFill>
                <a:latin typeface="Montserrat Bold"/>
                <a:ea typeface="Montserrat Bold"/>
                <a:cs typeface="Montserrat Bold"/>
                <a:sym typeface="Montserrat Bold"/>
              </a:rPr>
              <a:t>Memahami</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pola</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distribusi</a:t>
            </a:r>
            <a:r>
              <a:rPr lang="en-US" sz="1561" b="1" dirty="0">
                <a:solidFill>
                  <a:srgbClr val="00357B"/>
                </a:solidFill>
                <a:latin typeface="Montserrat Bold"/>
                <a:ea typeface="Montserrat Bold"/>
                <a:cs typeface="Montserrat Bold"/>
                <a:sym typeface="Montserrat Bold"/>
              </a:rPr>
              <a:t> dan </a:t>
            </a:r>
            <a:r>
              <a:rPr lang="en-US" sz="1561" b="1" dirty="0" err="1">
                <a:solidFill>
                  <a:srgbClr val="00357B"/>
                </a:solidFill>
                <a:latin typeface="Montserrat Bold"/>
                <a:ea typeface="Montserrat Bold"/>
                <a:cs typeface="Montserrat Bold"/>
                <a:sym typeface="Montserrat Bold"/>
              </a:rPr>
              <a:t>perkembangan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konten</a:t>
            </a:r>
            <a:r>
              <a:rPr lang="en-US" sz="1561" b="1" dirty="0">
                <a:solidFill>
                  <a:srgbClr val="00357B"/>
                </a:solidFill>
                <a:latin typeface="Montserrat Bold"/>
                <a:ea typeface="Montserrat Bold"/>
                <a:cs typeface="Montserrat Bold"/>
                <a:sym typeface="Montserrat Bold"/>
              </a:rPr>
              <a:t> pada platform Disney+.</a:t>
            </a:r>
          </a:p>
          <a:p>
            <a:pPr algn="just">
              <a:lnSpc>
                <a:spcPts val="2185"/>
              </a:lnSpc>
              <a:spcBef>
                <a:spcPct val="0"/>
              </a:spcBef>
            </a:pPr>
            <a:endParaRPr lang="en-US" sz="1561" b="1" dirty="0">
              <a:solidFill>
                <a:srgbClr val="00357B"/>
              </a:solidFill>
              <a:latin typeface="Montserrat Bold"/>
              <a:ea typeface="Montserrat Bold"/>
              <a:cs typeface="Montserrat Bold"/>
              <a:sym typeface="Montserrat Bold"/>
            </a:endParaRPr>
          </a:p>
          <a:p>
            <a:pPr algn="just">
              <a:lnSpc>
                <a:spcPts val="2185"/>
              </a:lnSpc>
              <a:spcBef>
                <a:spcPct val="0"/>
              </a:spcBef>
            </a:pPr>
            <a:r>
              <a:rPr lang="en-US" sz="1561" b="1" dirty="0">
                <a:solidFill>
                  <a:srgbClr val="00357B"/>
                </a:solidFill>
                <a:latin typeface="Montserrat Bold"/>
                <a:ea typeface="Montserrat Bold"/>
                <a:cs typeface="Montserrat Bold"/>
                <a:sym typeface="Montserrat Bold"/>
              </a:rPr>
              <a:t>T	= </a:t>
            </a:r>
            <a:r>
              <a:rPr lang="en-US" sz="1561" b="1" dirty="0" err="1">
                <a:solidFill>
                  <a:srgbClr val="00357B"/>
                </a:solidFill>
                <a:latin typeface="Montserrat Bold"/>
                <a:ea typeface="Montserrat Bold"/>
                <a:cs typeface="Montserrat Bold"/>
                <a:sym typeface="Montserrat Bold"/>
              </a:rPr>
              <a:t>Analisis</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ini</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direncanakan</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selesai</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dalam</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waktu</a:t>
            </a:r>
            <a:r>
              <a:rPr lang="en-US" sz="1561" b="1" dirty="0">
                <a:solidFill>
                  <a:srgbClr val="00357B"/>
                </a:solidFill>
                <a:latin typeface="Montserrat Bold"/>
                <a:ea typeface="Montserrat Bold"/>
                <a:cs typeface="Montserrat Bold"/>
                <a:sym typeface="Montserrat Bold"/>
              </a:rPr>
              <a:t> 1-2 </a:t>
            </a:r>
            <a:r>
              <a:rPr lang="en-US" sz="1561" b="1" dirty="0" err="1">
                <a:solidFill>
                  <a:srgbClr val="00357B"/>
                </a:solidFill>
                <a:latin typeface="Montserrat Bold"/>
                <a:ea typeface="Montserrat Bold"/>
                <a:cs typeface="Montserrat Bold"/>
                <a:sym typeface="Montserrat Bold"/>
              </a:rPr>
              <a:t>minggu</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mulai</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dari</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pengelolahan</a:t>
            </a:r>
            <a:r>
              <a:rPr lang="en-US" sz="1561" b="1" dirty="0">
                <a:solidFill>
                  <a:srgbClr val="00357B"/>
                </a:solidFill>
                <a:latin typeface="Montserrat Bold"/>
                <a:ea typeface="Montserrat Bold"/>
                <a:cs typeface="Montserrat Bold"/>
                <a:sym typeface="Montserrat Bold"/>
              </a:rPr>
              <a:t> data, 	    </a:t>
            </a:r>
            <a:r>
              <a:rPr lang="en-US" sz="1561" b="1" dirty="0" err="1">
                <a:solidFill>
                  <a:srgbClr val="00357B"/>
                </a:solidFill>
                <a:latin typeface="Montserrat Bold"/>
                <a:ea typeface="Montserrat Bold"/>
                <a:cs typeface="Montserrat Bold"/>
                <a:sym typeface="Montserrat Bold"/>
              </a:rPr>
              <a:t>visualisasi</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hingga</a:t>
            </a:r>
            <a:r>
              <a:rPr lang="en-US" sz="1561" b="1" dirty="0">
                <a:solidFill>
                  <a:srgbClr val="00357B"/>
                </a:solidFill>
                <a:latin typeface="Montserrat Bold"/>
                <a:ea typeface="Montserrat Bold"/>
                <a:cs typeface="Montserrat Bold"/>
                <a:sym typeface="Montserrat Bold"/>
              </a:rPr>
              <a:t> </a:t>
            </a:r>
            <a:r>
              <a:rPr lang="en-US" sz="1561" b="1" dirty="0" err="1">
                <a:solidFill>
                  <a:srgbClr val="00357B"/>
                </a:solidFill>
                <a:latin typeface="Montserrat Bold"/>
                <a:ea typeface="Montserrat Bold"/>
                <a:cs typeface="Montserrat Bold"/>
                <a:sym typeface="Montserrat Bold"/>
              </a:rPr>
              <a:t>kesimpulan</a:t>
            </a:r>
            <a:r>
              <a:rPr lang="en-US" sz="1561" b="1" dirty="0">
                <a:solidFill>
                  <a:srgbClr val="00357B"/>
                </a:solidFill>
                <a:latin typeface="Montserrat Bold"/>
                <a:ea typeface="Montserrat Bold"/>
                <a:cs typeface="Montserrat Bold"/>
                <a:sym typeface="Montserrat Bold"/>
              </a:rPr>
              <a:t>.</a:t>
            </a:r>
          </a:p>
          <a:p>
            <a:pPr algn="just">
              <a:lnSpc>
                <a:spcPts val="2185"/>
              </a:lnSpc>
              <a:spcBef>
                <a:spcPct val="0"/>
              </a:spcBef>
            </a:pPr>
            <a:endParaRPr lang="en-US" sz="1561" b="1" dirty="0">
              <a:solidFill>
                <a:srgbClr val="00357B"/>
              </a:solidFill>
              <a:latin typeface="Montserrat Bold"/>
              <a:ea typeface="Montserrat Bold"/>
              <a:cs typeface="Montserrat Bold"/>
              <a:sym typeface="Montserrat Bold"/>
            </a:endParaRPr>
          </a:p>
        </p:txBody>
      </p:sp>
      <p:sp>
        <p:nvSpPr>
          <p:cNvPr id="16" name="TextBox 16"/>
          <p:cNvSpPr txBox="1"/>
          <p:nvPr/>
        </p:nvSpPr>
        <p:spPr>
          <a:xfrm>
            <a:off x="6659676" y="6694755"/>
            <a:ext cx="4075767" cy="713156"/>
          </a:xfrm>
          <a:prstGeom prst="rect">
            <a:avLst/>
          </a:prstGeom>
        </p:spPr>
        <p:txBody>
          <a:bodyPr lIns="0" tIns="0" rIns="0" bIns="0" rtlCol="0" anchor="t">
            <a:spAutoFit/>
          </a:bodyPr>
          <a:lstStyle/>
          <a:p>
            <a:pPr algn="l">
              <a:lnSpc>
                <a:spcPts val="5828"/>
              </a:lnSpc>
            </a:pPr>
            <a:r>
              <a:rPr lang="en-US" sz="4163" b="1" dirty="0">
                <a:solidFill>
                  <a:srgbClr val="00357B"/>
                </a:solidFill>
                <a:latin typeface="Montserrat Bold"/>
                <a:ea typeface="Montserrat Bold"/>
                <a:cs typeface="Montserrat Bold"/>
                <a:sym typeface="Montserrat Bold"/>
              </a:rPr>
              <a:t>Key Questions</a:t>
            </a:r>
          </a:p>
        </p:txBody>
      </p:sp>
      <p:sp>
        <p:nvSpPr>
          <p:cNvPr id="17" name="TextBox 17"/>
          <p:cNvSpPr txBox="1"/>
          <p:nvPr/>
        </p:nvSpPr>
        <p:spPr>
          <a:xfrm>
            <a:off x="6059686" y="7392874"/>
            <a:ext cx="11562159" cy="2506980"/>
          </a:xfrm>
          <a:prstGeom prst="rect">
            <a:avLst/>
          </a:prstGeom>
        </p:spPr>
        <p:txBody>
          <a:bodyPr lIns="0" tIns="0" rIns="0" bIns="0" rtlCol="0" anchor="t">
            <a:spAutoFit/>
          </a:bodyPr>
          <a:lstStyle/>
          <a:p>
            <a:pPr algn="just">
              <a:lnSpc>
                <a:spcPts val="2520"/>
              </a:lnSpc>
              <a:spcBef>
                <a:spcPct val="0"/>
              </a:spcBef>
            </a:pPr>
            <a:r>
              <a:rPr lang="en-US" sz="1800" b="1" dirty="0">
                <a:solidFill>
                  <a:srgbClr val="00357B"/>
                </a:solidFill>
                <a:latin typeface="Montserrat Bold"/>
                <a:ea typeface="Montserrat Bold"/>
                <a:cs typeface="Montserrat Bold"/>
                <a:sym typeface="Montserrat Bold"/>
              </a:rPr>
              <a:t>1. Genre </a:t>
            </a:r>
            <a:r>
              <a:rPr lang="en-US" sz="1800" b="1" dirty="0" err="1">
                <a:solidFill>
                  <a:srgbClr val="00357B"/>
                </a:solidFill>
                <a:latin typeface="Montserrat Bold"/>
                <a:ea typeface="Montserrat Bold"/>
                <a:cs typeface="Montserrat Bold"/>
                <a:sym typeface="Montserrat Bold"/>
              </a:rPr>
              <a:t>apa</a:t>
            </a:r>
            <a:r>
              <a:rPr lang="en-US" sz="1800" b="1" dirty="0">
                <a:solidFill>
                  <a:srgbClr val="00357B"/>
                </a:solidFill>
                <a:latin typeface="Montserrat Bold"/>
                <a:ea typeface="Montserrat Bold"/>
                <a:cs typeface="Montserrat Bold"/>
                <a:sym typeface="Montserrat Bold"/>
              </a:rPr>
              <a:t> yang paling </a:t>
            </a:r>
            <a:r>
              <a:rPr lang="en-US" sz="1800" b="1" dirty="0" err="1">
                <a:solidFill>
                  <a:srgbClr val="00357B"/>
                </a:solidFill>
                <a:latin typeface="Montserrat Bold"/>
                <a:ea typeface="Montserrat Bold"/>
                <a:cs typeface="Montserrat Bold"/>
                <a:sym typeface="Montserrat Bold"/>
              </a:rPr>
              <a:t>dominan</a:t>
            </a:r>
            <a:r>
              <a:rPr lang="en-US" sz="1800" b="1" dirty="0">
                <a:solidFill>
                  <a:srgbClr val="00357B"/>
                </a:solidFill>
                <a:latin typeface="Montserrat Bold"/>
                <a:ea typeface="Montserrat Bold"/>
                <a:cs typeface="Montserrat Bold"/>
                <a:sym typeface="Montserrat Bold"/>
              </a:rPr>
              <a:t> pada platform </a:t>
            </a:r>
            <a:r>
              <a:rPr lang="en-US" sz="1800" b="1" dirty="0" err="1">
                <a:solidFill>
                  <a:srgbClr val="00357B"/>
                </a:solidFill>
                <a:latin typeface="Montserrat Bold"/>
                <a:ea typeface="Montserrat Bold"/>
                <a:cs typeface="Montserrat Bold"/>
                <a:sym typeface="Montserrat Bold"/>
              </a:rPr>
              <a:t>disney</a:t>
            </a:r>
            <a:r>
              <a:rPr lang="en-US" sz="1800" b="1" dirty="0">
                <a:solidFill>
                  <a:srgbClr val="00357B"/>
                </a:solidFill>
                <a:latin typeface="Montserrat Bold"/>
                <a:ea typeface="Montserrat Bold"/>
                <a:cs typeface="Montserrat Bold"/>
                <a:sym typeface="Montserrat Bold"/>
              </a:rPr>
              <a:t>+? (What)</a:t>
            </a:r>
          </a:p>
          <a:p>
            <a:pPr algn="just">
              <a:lnSpc>
                <a:spcPts val="2520"/>
              </a:lnSpc>
              <a:spcBef>
                <a:spcPct val="0"/>
              </a:spcBef>
            </a:pPr>
            <a:r>
              <a:rPr lang="en-US" sz="1800" b="1" dirty="0">
                <a:solidFill>
                  <a:srgbClr val="00357B"/>
                </a:solidFill>
                <a:latin typeface="Montserrat Bold"/>
                <a:ea typeface="Montserrat Bold"/>
                <a:cs typeface="Montserrat Bold"/>
                <a:sym typeface="Montserrat Bold"/>
              </a:rPr>
              <a:t>2. Pada Bulan </a:t>
            </a:r>
            <a:r>
              <a:rPr lang="en-US" sz="1800" b="1" dirty="0" err="1">
                <a:solidFill>
                  <a:srgbClr val="00357B"/>
                </a:solidFill>
                <a:latin typeface="Montserrat Bold"/>
                <a:ea typeface="Montserrat Bold"/>
                <a:cs typeface="Montserrat Bold"/>
                <a:sym typeface="Montserrat Bold"/>
              </a:rPr>
              <a:t>apa</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perilisan</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konten</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perilisan</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konten</a:t>
            </a:r>
            <a:r>
              <a:rPr lang="en-US" sz="1800" b="1" dirty="0">
                <a:solidFill>
                  <a:srgbClr val="00357B"/>
                </a:solidFill>
                <a:latin typeface="Montserrat Bold"/>
                <a:ea typeface="Montserrat Bold"/>
                <a:cs typeface="Montserrat Bold"/>
                <a:sym typeface="Montserrat Bold"/>
              </a:rPr>
              <a:t> di Disney+ paling </a:t>
            </a:r>
            <a:r>
              <a:rPr lang="en-US" sz="1800" b="1" dirty="0" err="1">
                <a:solidFill>
                  <a:srgbClr val="00357B"/>
                </a:solidFill>
                <a:latin typeface="Montserrat Bold"/>
                <a:ea typeface="Montserrat Bold"/>
                <a:cs typeface="Montserrat Bold"/>
                <a:sym typeface="Montserrat Bold"/>
              </a:rPr>
              <a:t>tinggi</a:t>
            </a:r>
            <a:r>
              <a:rPr lang="en-US" sz="1800" b="1" dirty="0">
                <a:solidFill>
                  <a:srgbClr val="00357B"/>
                </a:solidFill>
                <a:latin typeface="Montserrat Bold"/>
                <a:ea typeface="Montserrat Bold"/>
                <a:cs typeface="Montserrat Bold"/>
                <a:sym typeface="Montserrat Bold"/>
              </a:rPr>
              <a:t>? (When)</a:t>
            </a:r>
          </a:p>
          <a:p>
            <a:pPr algn="just">
              <a:lnSpc>
                <a:spcPts val="2520"/>
              </a:lnSpc>
              <a:spcBef>
                <a:spcPct val="0"/>
              </a:spcBef>
            </a:pPr>
            <a:r>
              <a:rPr lang="en-US" sz="1800" b="1" dirty="0">
                <a:solidFill>
                  <a:srgbClr val="00357B"/>
                </a:solidFill>
                <a:latin typeface="Montserrat Bold"/>
                <a:ea typeface="Montserrat Bold"/>
                <a:cs typeface="Montserrat Bold"/>
                <a:sym typeface="Montserrat Bold"/>
              </a:rPr>
              <a:t>3. Negara mana yang paling </a:t>
            </a:r>
            <a:r>
              <a:rPr lang="en-US" sz="1800" b="1" dirty="0" err="1">
                <a:solidFill>
                  <a:srgbClr val="00357B"/>
                </a:solidFill>
                <a:latin typeface="Montserrat Bold"/>
                <a:ea typeface="Montserrat Bold"/>
                <a:cs typeface="Montserrat Bold"/>
                <a:sym typeface="Montserrat Bold"/>
              </a:rPr>
              <a:t>banyak</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muncul</a:t>
            </a:r>
            <a:r>
              <a:rPr lang="en-US" sz="1800" b="1" dirty="0">
                <a:solidFill>
                  <a:srgbClr val="00357B"/>
                </a:solidFill>
                <a:latin typeface="Montserrat Bold"/>
                <a:ea typeface="Montserrat Bold"/>
                <a:cs typeface="Montserrat Bold"/>
                <a:sym typeface="Montserrat Bold"/>
              </a:rPr>
              <a:t> pada </a:t>
            </a:r>
            <a:r>
              <a:rPr lang="en-US" sz="1800" b="1" dirty="0" err="1">
                <a:solidFill>
                  <a:srgbClr val="00357B"/>
                </a:solidFill>
                <a:latin typeface="Montserrat Bold"/>
                <a:ea typeface="Montserrat Bold"/>
                <a:cs typeface="Montserrat Bold"/>
                <a:sym typeface="Montserrat Bold"/>
              </a:rPr>
              <a:t>konten</a:t>
            </a:r>
            <a:r>
              <a:rPr lang="en-US" sz="1800" b="1" dirty="0">
                <a:solidFill>
                  <a:srgbClr val="00357B"/>
                </a:solidFill>
                <a:latin typeface="Montserrat Bold"/>
                <a:ea typeface="Montserrat Bold"/>
                <a:cs typeface="Montserrat Bold"/>
                <a:sym typeface="Montserrat Bold"/>
              </a:rPr>
              <a:t> di Disney+? (Where)</a:t>
            </a:r>
          </a:p>
          <a:p>
            <a:pPr algn="just">
              <a:lnSpc>
                <a:spcPts val="2520"/>
              </a:lnSpc>
              <a:spcBef>
                <a:spcPct val="0"/>
              </a:spcBef>
            </a:pPr>
            <a:r>
              <a:rPr lang="en-US" sz="1800" b="1" dirty="0">
                <a:solidFill>
                  <a:srgbClr val="00357B"/>
                </a:solidFill>
                <a:latin typeface="Montserrat Bold"/>
                <a:ea typeface="Montserrat Bold"/>
                <a:cs typeface="Montserrat Bold"/>
                <a:sym typeface="Montserrat Bold"/>
              </a:rPr>
              <a:t>4. </a:t>
            </a:r>
            <a:r>
              <a:rPr lang="en-US" sz="1800" b="1" dirty="0" err="1">
                <a:solidFill>
                  <a:srgbClr val="00357B"/>
                </a:solidFill>
                <a:latin typeface="Montserrat Bold"/>
                <a:ea typeface="Montserrat Bold"/>
                <a:cs typeface="Montserrat Bold"/>
                <a:sym typeface="Montserrat Bold"/>
              </a:rPr>
              <a:t>Bagaimana</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perbandingan</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perilisan</a:t>
            </a:r>
            <a:r>
              <a:rPr lang="en-US" sz="1800" b="1" dirty="0">
                <a:solidFill>
                  <a:srgbClr val="00357B"/>
                </a:solidFill>
                <a:latin typeface="Montserrat Bold"/>
                <a:ea typeface="Montserrat Bold"/>
                <a:cs typeface="Montserrat Bold"/>
                <a:sym typeface="Montserrat Bold"/>
              </a:rPr>
              <a:t> Movie dan TV Show </a:t>
            </a:r>
            <a:r>
              <a:rPr lang="en-US" sz="1800" b="1" dirty="0" err="1">
                <a:solidFill>
                  <a:srgbClr val="00357B"/>
                </a:solidFill>
                <a:latin typeface="Montserrat Bold"/>
                <a:ea typeface="Montserrat Bold"/>
                <a:cs typeface="Montserrat Bold"/>
                <a:sym typeface="Montserrat Bold"/>
              </a:rPr>
              <a:t>dari</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tahun</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ke</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tahun</a:t>
            </a:r>
            <a:r>
              <a:rPr lang="en-US" sz="1800" b="1" dirty="0">
                <a:solidFill>
                  <a:srgbClr val="00357B"/>
                </a:solidFill>
                <a:latin typeface="Montserrat Bold"/>
                <a:ea typeface="Montserrat Bold"/>
                <a:cs typeface="Montserrat Bold"/>
                <a:sym typeface="Montserrat Bold"/>
              </a:rPr>
              <a:t> di Disney+? (How)</a:t>
            </a:r>
          </a:p>
          <a:p>
            <a:pPr algn="just">
              <a:lnSpc>
                <a:spcPts val="2520"/>
              </a:lnSpc>
              <a:spcBef>
                <a:spcPct val="0"/>
              </a:spcBef>
            </a:pPr>
            <a:r>
              <a:rPr lang="en-US" sz="1800" b="1" dirty="0">
                <a:solidFill>
                  <a:srgbClr val="00357B"/>
                </a:solidFill>
                <a:latin typeface="Montserrat Bold"/>
                <a:ea typeface="Montserrat Bold"/>
                <a:cs typeface="Montserrat Bold"/>
                <a:sym typeface="Montserrat Bold"/>
              </a:rPr>
              <a:t>5. </a:t>
            </a:r>
            <a:r>
              <a:rPr lang="en-US" sz="1800" b="1" dirty="0" err="1">
                <a:solidFill>
                  <a:srgbClr val="00357B"/>
                </a:solidFill>
                <a:latin typeface="Montserrat Bold"/>
                <a:ea typeface="Montserrat Bold"/>
                <a:cs typeface="Montserrat Bold"/>
                <a:sym typeface="Montserrat Bold"/>
              </a:rPr>
              <a:t>Apakah</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terdapat</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hubungan</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antara</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tahun</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perilisan</a:t>
            </a:r>
            <a:r>
              <a:rPr lang="en-US" sz="1800" b="1" dirty="0">
                <a:solidFill>
                  <a:srgbClr val="00357B"/>
                </a:solidFill>
                <a:latin typeface="Montserrat Bold"/>
                <a:ea typeface="Montserrat Bold"/>
                <a:cs typeface="Montserrat Bold"/>
                <a:sym typeface="Montserrat Bold"/>
              </a:rPr>
              <a:t> dan </a:t>
            </a:r>
            <a:r>
              <a:rPr lang="en-US" sz="1800" b="1" dirty="0" err="1">
                <a:solidFill>
                  <a:srgbClr val="00357B"/>
                </a:solidFill>
                <a:latin typeface="Montserrat Bold"/>
                <a:ea typeface="Montserrat Bold"/>
                <a:cs typeface="Montserrat Bold"/>
                <a:sym typeface="Montserrat Bold"/>
              </a:rPr>
              <a:t>jenis</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konten</a:t>
            </a:r>
            <a:r>
              <a:rPr lang="en-US" sz="1800" b="1" dirty="0">
                <a:solidFill>
                  <a:srgbClr val="00357B"/>
                </a:solidFill>
                <a:latin typeface="Montserrat Bold"/>
                <a:ea typeface="Montserrat Bold"/>
                <a:cs typeface="Montserrat Bold"/>
                <a:sym typeface="Montserrat Bold"/>
              </a:rPr>
              <a:t> di </a:t>
            </a:r>
            <a:r>
              <a:rPr lang="en-US" sz="1800" b="1" dirty="0" err="1">
                <a:solidFill>
                  <a:srgbClr val="00357B"/>
                </a:solidFill>
                <a:latin typeface="Montserrat Bold"/>
                <a:ea typeface="Montserrat Bold"/>
                <a:cs typeface="Montserrat Bold"/>
                <a:sym typeface="Montserrat Bold"/>
              </a:rPr>
              <a:t>disney</a:t>
            </a:r>
            <a:r>
              <a:rPr lang="en-US" sz="1800" b="1" dirty="0">
                <a:solidFill>
                  <a:srgbClr val="00357B"/>
                </a:solidFill>
                <a:latin typeface="Montserrat Bold"/>
                <a:ea typeface="Montserrat Bold"/>
                <a:cs typeface="Montserrat Bold"/>
                <a:sym typeface="Montserrat Bold"/>
              </a:rPr>
              <a:t>+?</a:t>
            </a:r>
          </a:p>
          <a:p>
            <a:pPr algn="just">
              <a:lnSpc>
                <a:spcPts val="2520"/>
              </a:lnSpc>
              <a:spcBef>
                <a:spcPct val="0"/>
              </a:spcBef>
            </a:pPr>
            <a:r>
              <a:rPr lang="en-US" sz="1800" b="1" dirty="0">
                <a:solidFill>
                  <a:srgbClr val="00357B"/>
                </a:solidFill>
                <a:latin typeface="Montserrat Bold"/>
                <a:ea typeface="Montserrat Bold"/>
                <a:cs typeface="Montserrat Bold"/>
                <a:sym typeface="Montserrat Bold"/>
              </a:rPr>
              <a:t>(Why)(</a:t>
            </a:r>
            <a:r>
              <a:rPr lang="en-US" sz="1800" b="1" dirty="0" err="1">
                <a:solidFill>
                  <a:srgbClr val="00357B"/>
                </a:solidFill>
                <a:latin typeface="Montserrat Bold"/>
                <a:ea typeface="Montserrat Bold"/>
                <a:cs typeface="Montserrat Bold"/>
                <a:sym typeface="Montserrat Bold"/>
              </a:rPr>
              <a:t>Inferensial</a:t>
            </a:r>
            <a:r>
              <a:rPr lang="en-US" sz="1800" b="1" dirty="0">
                <a:solidFill>
                  <a:srgbClr val="00357B"/>
                </a:solidFill>
                <a:latin typeface="Montserrat Bold"/>
                <a:ea typeface="Montserrat Bold"/>
                <a:cs typeface="Montserrat Bold"/>
                <a:sym typeface="Montserrat Bold"/>
              </a:rPr>
              <a:t>)</a:t>
            </a:r>
          </a:p>
          <a:p>
            <a:pPr algn="just">
              <a:lnSpc>
                <a:spcPts val="2520"/>
              </a:lnSpc>
              <a:spcBef>
                <a:spcPct val="0"/>
              </a:spcBef>
            </a:pPr>
            <a:r>
              <a:rPr lang="en-US" sz="1800" b="1" dirty="0">
                <a:solidFill>
                  <a:srgbClr val="00357B"/>
                </a:solidFill>
                <a:latin typeface="Montserrat Bold"/>
                <a:ea typeface="Montserrat Bold"/>
                <a:cs typeface="Montserrat Bold"/>
                <a:sym typeface="Montserrat Bold"/>
              </a:rPr>
              <a:t>6. </a:t>
            </a:r>
            <a:r>
              <a:rPr lang="en-US" sz="1800" b="1" dirty="0" err="1">
                <a:solidFill>
                  <a:srgbClr val="00357B"/>
                </a:solidFill>
                <a:latin typeface="Montserrat Bold"/>
                <a:ea typeface="Montserrat Bold"/>
                <a:cs typeface="Montserrat Bold"/>
                <a:sym typeface="Montserrat Bold"/>
              </a:rPr>
              <a:t>Siapa</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aja</a:t>
            </a:r>
            <a:r>
              <a:rPr lang="en-US" sz="1800" b="1" dirty="0">
                <a:solidFill>
                  <a:srgbClr val="00357B"/>
                </a:solidFill>
                <a:latin typeface="Montserrat Bold"/>
                <a:ea typeface="Montserrat Bold"/>
                <a:cs typeface="Montserrat Bold"/>
                <a:sym typeface="Montserrat Bold"/>
              </a:rPr>
              <a:t> Cast/</a:t>
            </a:r>
            <a:r>
              <a:rPr lang="en-US" sz="1800" b="1" dirty="0" err="1">
                <a:solidFill>
                  <a:srgbClr val="00357B"/>
                </a:solidFill>
                <a:latin typeface="Montserrat Bold"/>
                <a:ea typeface="Montserrat Bold"/>
                <a:cs typeface="Montserrat Bold"/>
                <a:sym typeface="Montserrat Bold"/>
              </a:rPr>
              <a:t>Pemeran</a:t>
            </a:r>
            <a:r>
              <a:rPr lang="en-US" sz="1800" b="1" dirty="0">
                <a:solidFill>
                  <a:srgbClr val="00357B"/>
                </a:solidFill>
                <a:latin typeface="Montserrat Bold"/>
                <a:ea typeface="Montserrat Bold"/>
                <a:cs typeface="Montserrat Bold"/>
                <a:sym typeface="Montserrat Bold"/>
              </a:rPr>
              <a:t> yang paling </a:t>
            </a:r>
            <a:r>
              <a:rPr lang="en-US" sz="1800" b="1" dirty="0" err="1">
                <a:solidFill>
                  <a:srgbClr val="00357B"/>
                </a:solidFill>
                <a:latin typeface="Montserrat Bold"/>
                <a:ea typeface="Montserrat Bold"/>
                <a:cs typeface="Montserrat Bold"/>
                <a:sym typeface="Montserrat Bold"/>
              </a:rPr>
              <a:t>sering</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muncul</a:t>
            </a:r>
            <a:r>
              <a:rPr lang="en-US" sz="1800" b="1" dirty="0">
                <a:solidFill>
                  <a:srgbClr val="00357B"/>
                </a:solidFill>
                <a:latin typeface="Montserrat Bold"/>
                <a:ea typeface="Montserrat Bold"/>
                <a:cs typeface="Montserrat Bold"/>
                <a:sym typeface="Montserrat Bold"/>
              </a:rPr>
              <a:t> di Disney+ ? (WHO)</a:t>
            </a:r>
          </a:p>
          <a:p>
            <a:pPr algn="just">
              <a:lnSpc>
                <a:spcPts val="2520"/>
              </a:lnSpc>
              <a:spcBef>
                <a:spcPct val="0"/>
              </a:spcBef>
            </a:pPr>
            <a:r>
              <a:rPr lang="en-US" sz="1800" b="1" dirty="0">
                <a:solidFill>
                  <a:srgbClr val="00357B"/>
                </a:solidFill>
                <a:latin typeface="Montserrat Bold"/>
                <a:ea typeface="Montserrat Bold"/>
                <a:cs typeface="Montserrat Bold"/>
                <a:sym typeface="Montserrat Bold"/>
              </a:rPr>
              <a:t>7. </a:t>
            </a:r>
            <a:r>
              <a:rPr lang="en-US" sz="1800" b="1" dirty="0" err="1">
                <a:solidFill>
                  <a:srgbClr val="00357B"/>
                </a:solidFill>
                <a:latin typeface="Montserrat Bold"/>
                <a:ea typeface="Montserrat Bold"/>
                <a:cs typeface="Montserrat Bold"/>
                <a:sym typeface="Montserrat Bold"/>
              </a:rPr>
              <a:t>Bagaimana</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gambaran</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statistik</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jumlah</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konten</a:t>
            </a:r>
            <a:r>
              <a:rPr lang="en-US" sz="1800" b="1" dirty="0">
                <a:solidFill>
                  <a:srgbClr val="00357B"/>
                </a:solidFill>
                <a:latin typeface="Montserrat Bold"/>
                <a:ea typeface="Montserrat Bold"/>
                <a:cs typeface="Montserrat Bold"/>
                <a:sym typeface="Montserrat Bold"/>
              </a:rPr>
              <a:t> yang </a:t>
            </a:r>
            <a:r>
              <a:rPr lang="en-US" sz="1800" b="1" dirty="0" err="1">
                <a:solidFill>
                  <a:srgbClr val="00357B"/>
                </a:solidFill>
                <a:latin typeface="Montserrat Bold"/>
                <a:ea typeface="Montserrat Bold"/>
                <a:cs typeface="Montserrat Bold"/>
                <a:sym typeface="Montserrat Bold"/>
              </a:rPr>
              <a:t>dirilis</a:t>
            </a:r>
            <a:r>
              <a:rPr lang="en-US" sz="1800" b="1" dirty="0">
                <a:solidFill>
                  <a:srgbClr val="00357B"/>
                </a:solidFill>
                <a:latin typeface="Montserrat Bold"/>
                <a:ea typeface="Montserrat Bold"/>
                <a:cs typeface="Montserrat Bold"/>
                <a:sym typeface="Montserrat Bold"/>
              </a:rPr>
              <a:t> di Disney+ </a:t>
            </a:r>
            <a:r>
              <a:rPr lang="en-US" sz="1800" b="1" dirty="0" err="1">
                <a:solidFill>
                  <a:srgbClr val="00357B"/>
                </a:solidFill>
                <a:latin typeface="Montserrat Bold"/>
                <a:ea typeface="Montserrat Bold"/>
                <a:cs typeface="Montserrat Bold"/>
                <a:sym typeface="Montserrat Bold"/>
              </a:rPr>
              <a:t>setiap</a:t>
            </a:r>
            <a:r>
              <a:rPr lang="en-US" sz="1800" b="1" dirty="0">
                <a:solidFill>
                  <a:srgbClr val="00357B"/>
                </a:solidFill>
                <a:latin typeface="Montserrat Bold"/>
                <a:ea typeface="Montserrat Bold"/>
                <a:cs typeface="Montserrat Bold"/>
                <a:sym typeface="Montserrat Bold"/>
              </a:rPr>
              <a:t> </a:t>
            </a:r>
            <a:r>
              <a:rPr lang="en-US" sz="1800" b="1" dirty="0" err="1">
                <a:solidFill>
                  <a:srgbClr val="00357B"/>
                </a:solidFill>
                <a:latin typeface="Montserrat Bold"/>
                <a:ea typeface="Montserrat Bold"/>
                <a:cs typeface="Montserrat Bold"/>
                <a:sym typeface="Montserrat Bold"/>
              </a:rPr>
              <a:t>tahun</a:t>
            </a:r>
            <a:r>
              <a:rPr lang="en-US" sz="1800" b="1" dirty="0">
                <a:solidFill>
                  <a:srgbClr val="00357B"/>
                </a:solidFill>
                <a:latin typeface="Montserrat Bold"/>
                <a:ea typeface="Montserrat Bold"/>
                <a:cs typeface="Montserrat Bold"/>
                <a:sym typeface="Montserrat Bold"/>
              </a:rPr>
              <a:t>?(</a:t>
            </a:r>
            <a:r>
              <a:rPr lang="en-US" sz="1800" b="1" dirty="0" err="1">
                <a:solidFill>
                  <a:srgbClr val="00357B"/>
                </a:solidFill>
                <a:latin typeface="Montserrat Bold"/>
                <a:ea typeface="Montserrat Bold"/>
                <a:cs typeface="Montserrat Bold"/>
                <a:sym typeface="Montserrat Bold"/>
              </a:rPr>
              <a:t>Deskriptif</a:t>
            </a:r>
            <a:r>
              <a:rPr lang="en-US" sz="1800" b="1" dirty="0">
                <a:solidFill>
                  <a:srgbClr val="00357B"/>
                </a:solidFill>
                <a:latin typeface="Montserrat Bold"/>
                <a:ea typeface="Montserrat Bold"/>
                <a:cs typeface="Montserrat Bold"/>
                <a:sym typeface="Montserrat Bold"/>
              </a:rPr>
              <a:t>)</a:t>
            </a:r>
          </a:p>
        </p:txBody>
      </p:sp>
      <p:sp>
        <p:nvSpPr>
          <p:cNvPr id="18" name="TextBox 18"/>
          <p:cNvSpPr txBox="1"/>
          <p:nvPr/>
        </p:nvSpPr>
        <p:spPr>
          <a:xfrm>
            <a:off x="9309240" y="1282642"/>
            <a:ext cx="2658189" cy="703884"/>
          </a:xfrm>
          <a:prstGeom prst="rect">
            <a:avLst/>
          </a:prstGeom>
        </p:spPr>
        <p:txBody>
          <a:bodyPr lIns="0" tIns="0" rIns="0" bIns="0" rtlCol="0" anchor="t">
            <a:spAutoFit/>
          </a:bodyPr>
          <a:lstStyle/>
          <a:p>
            <a:pPr algn="l">
              <a:lnSpc>
                <a:spcPts val="5828"/>
              </a:lnSpc>
            </a:pPr>
            <a:r>
              <a:rPr lang="en-US" sz="4163" b="1">
                <a:solidFill>
                  <a:srgbClr val="00357B"/>
                </a:solidFill>
                <a:latin typeface="Montserrat Bold"/>
                <a:ea typeface="Montserrat Bold"/>
                <a:cs typeface="Montserrat Bold"/>
                <a:sym typeface="Montserrat Bold"/>
              </a:rPr>
              <a:t>Objective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grpSp>
        <p:nvGrpSpPr>
          <p:cNvPr id="4" name="Group 4"/>
          <p:cNvGrpSpPr/>
          <p:nvPr/>
        </p:nvGrpSpPr>
        <p:grpSpPr>
          <a:xfrm>
            <a:off x="97031" y="32442"/>
            <a:ext cx="55540" cy="55550"/>
            <a:chOff x="0" y="0"/>
            <a:chExt cx="55537" cy="55550"/>
          </a:xfrm>
        </p:grpSpPr>
        <p:sp>
          <p:nvSpPr>
            <p:cNvPr id="5" name="Freeform 5"/>
            <p:cNvSpPr/>
            <p:nvPr/>
          </p:nvSpPr>
          <p:spPr>
            <a:xfrm>
              <a:off x="4" y="4"/>
              <a:ext cx="55588" cy="55479"/>
            </a:xfrm>
            <a:custGeom>
              <a:avLst/>
              <a:gdLst/>
              <a:ahLst/>
              <a:cxnLst/>
              <a:rect l="l" t="t" r="r" b="b"/>
              <a:pathLst>
                <a:path w="55588" h="55479">
                  <a:moveTo>
                    <a:pt x="10663" y="49656"/>
                  </a:moveTo>
                  <a:cubicBezTo>
                    <a:pt x="-1528" y="40385"/>
                    <a:pt x="-3560" y="22604"/>
                    <a:pt x="6092" y="10411"/>
                  </a:cubicBezTo>
                  <a:cubicBezTo>
                    <a:pt x="15743" y="-1782"/>
                    <a:pt x="33648" y="-3433"/>
                    <a:pt x="45458" y="6346"/>
                  </a:cubicBezTo>
                  <a:cubicBezTo>
                    <a:pt x="57269" y="16126"/>
                    <a:pt x="58920" y="33526"/>
                    <a:pt x="49522" y="45211"/>
                  </a:cubicBezTo>
                  <a:cubicBezTo>
                    <a:pt x="40125" y="56896"/>
                    <a:pt x="22727" y="58928"/>
                    <a:pt x="10663" y="49656"/>
                  </a:cubicBezTo>
                </a:path>
              </a:pathLst>
            </a:custGeom>
            <a:solidFill>
              <a:srgbClr val="FFFFFF"/>
            </a:solidFill>
          </p:spPr>
        </p:sp>
      </p:grpSp>
      <p:grpSp>
        <p:nvGrpSpPr>
          <p:cNvPr id="6" name="Group 6"/>
          <p:cNvGrpSpPr/>
          <p:nvPr/>
        </p:nvGrpSpPr>
        <p:grpSpPr>
          <a:xfrm>
            <a:off x="2657094" y="61408"/>
            <a:ext cx="30594" cy="30604"/>
            <a:chOff x="0" y="0"/>
            <a:chExt cx="30594" cy="30607"/>
          </a:xfrm>
        </p:grpSpPr>
        <p:sp>
          <p:nvSpPr>
            <p:cNvPr id="7" name="Freeform 7"/>
            <p:cNvSpPr/>
            <p:nvPr/>
          </p:nvSpPr>
          <p:spPr>
            <a:xfrm>
              <a:off x="-28" y="-18"/>
              <a:ext cx="30586" cy="30633"/>
            </a:xfrm>
            <a:custGeom>
              <a:avLst/>
              <a:gdLst/>
              <a:ahLst/>
              <a:cxnLst/>
              <a:rect l="l" t="t" r="r" b="b"/>
              <a:pathLst>
                <a:path w="30586" h="30633">
                  <a:moveTo>
                    <a:pt x="3203" y="24786"/>
                  </a:moveTo>
                  <a:cubicBezTo>
                    <a:pt x="-1877" y="18181"/>
                    <a:pt x="-861" y="8655"/>
                    <a:pt x="5869" y="3320"/>
                  </a:cubicBezTo>
                  <a:cubicBezTo>
                    <a:pt x="12599" y="-2014"/>
                    <a:pt x="22123" y="-744"/>
                    <a:pt x="27329" y="5861"/>
                  </a:cubicBezTo>
                  <a:cubicBezTo>
                    <a:pt x="32536" y="12465"/>
                    <a:pt x="31393" y="22245"/>
                    <a:pt x="24663" y="27453"/>
                  </a:cubicBezTo>
                  <a:cubicBezTo>
                    <a:pt x="17933" y="32660"/>
                    <a:pt x="8409" y="31263"/>
                    <a:pt x="3203" y="24786"/>
                  </a:cubicBezTo>
                </a:path>
              </a:pathLst>
            </a:custGeom>
            <a:solidFill>
              <a:srgbClr val="FFFFFF"/>
            </a:solidFill>
          </p:spPr>
        </p:sp>
      </p:grpSp>
      <p:grpSp>
        <p:nvGrpSpPr>
          <p:cNvPr id="8" name="Group 8"/>
          <p:cNvGrpSpPr/>
          <p:nvPr/>
        </p:nvGrpSpPr>
        <p:grpSpPr>
          <a:xfrm>
            <a:off x="2827582" y="342414"/>
            <a:ext cx="55540" cy="55531"/>
            <a:chOff x="0" y="0"/>
            <a:chExt cx="55537" cy="55524"/>
          </a:xfrm>
        </p:grpSpPr>
        <p:sp>
          <p:nvSpPr>
            <p:cNvPr id="9" name="Freeform 9"/>
            <p:cNvSpPr/>
            <p:nvPr/>
          </p:nvSpPr>
          <p:spPr>
            <a:xfrm>
              <a:off x="-25" y="100"/>
              <a:ext cx="55526" cy="55319"/>
            </a:xfrm>
            <a:custGeom>
              <a:avLst/>
              <a:gdLst/>
              <a:ahLst/>
              <a:cxnLst/>
              <a:rect l="l" t="t" r="r" b="b"/>
              <a:pathLst>
                <a:path w="55526" h="55319">
                  <a:moveTo>
                    <a:pt x="2692" y="39902"/>
                  </a:moveTo>
                  <a:cubicBezTo>
                    <a:pt x="-3785" y="26314"/>
                    <a:pt x="1803" y="9805"/>
                    <a:pt x="15392" y="2948"/>
                  </a:cubicBezTo>
                  <a:cubicBezTo>
                    <a:pt x="28981" y="-3910"/>
                    <a:pt x="46000" y="1551"/>
                    <a:pt x="52731" y="15647"/>
                  </a:cubicBezTo>
                  <a:cubicBezTo>
                    <a:pt x="59462" y="29742"/>
                    <a:pt x="53620" y="46378"/>
                    <a:pt x="39650" y="52728"/>
                  </a:cubicBezTo>
                  <a:cubicBezTo>
                    <a:pt x="25679" y="59077"/>
                    <a:pt x="9296" y="53362"/>
                    <a:pt x="2692" y="39902"/>
                  </a:cubicBezTo>
                </a:path>
              </a:pathLst>
            </a:custGeom>
            <a:solidFill>
              <a:srgbClr val="FFFFFF"/>
            </a:solidFill>
          </p:spPr>
        </p:sp>
      </p:grpSp>
      <p:grpSp>
        <p:nvGrpSpPr>
          <p:cNvPr id="10" name="Group 10"/>
          <p:cNvGrpSpPr/>
          <p:nvPr/>
        </p:nvGrpSpPr>
        <p:grpSpPr>
          <a:xfrm>
            <a:off x="2931404" y="655577"/>
            <a:ext cx="80524" cy="80572"/>
            <a:chOff x="0" y="0"/>
            <a:chExt cx="80518" cy="80569"/>
          </a:xfrm>
        </p:grpSpPr>
        <p:sp>
          <p:nvSpPr>
            <p:cNvPr id="11" name="Freeform 11"/>
            <p:cNvSpPr/>
            <p:nvPr/>
          </p:nvSpPr>
          <p:spPr>
            <a:xfrm>
              <a:off x="34" y="15"/>
              <a:ext cx="80489" cy="80510"/>
            </a:xfrm>
            <a:custGeom>
              <a:avLst/>
              <a:gdLst/>
              <a:ahLst/>
              <a:cxnLst/>
              <a:rect l="l" t="t" r="r" b="b"/>
              <a:pathLst>
                <a:path w="80489" h="80510">
                  <a:moveTo>
                    <a:pt x="1109" y="49767"/>
                  </a:moveTo>
                  <a:cubicBezTo>
                    <a:pt x="-3971" y="28813"/>
                    <a:pt x="8856" y="7224"/>
                    <a:pt x="30317" y="1382"/>
                  </a:cubicBezTo>
                  <a:cubicBezTo>
                    <a:pt x="51779" y="-4460"/>
                    <a:pt x="74003" y="8748"/>
                    <a:pt x="79337" y="30972"/>
                  </a:cubicBezTo>
                  <a:cubicBezTo>
                    <a:pt x="84671" y="53196"/>
                    <a:pt x="70955" y="75040"/>
                    <a:pt x="49113" y="79612"/>
                  </a:cubicBezTo>
                  <a:cubicBezTo>
                    <a:pt x="27270" y="84184"/>
                    <a:pt x="6062" y="70849"/>
                    <a:pt x="1109" y="49767"/>
                  </a:cubicBezTo>
                </a:path>
              </a:pathLst>
            </a:custGeom>
            <a:solidFill>
              <a:srgbClr val="FFFFFF"/>
            </a:solidFill>
          </p:spPr>
        </p:sp>
      </p:grpSp>
      <p:grpSp>
        <p:nvGrpSpPr>
          <p:cNvPr id="12" name="Group 12"/>
          <p:cNvGrpSpPr/>
          <p:nvPr/>
        </p:nvGrpSpPr>
        <p:grpSpPr>
          <a:xfrm>
            <a:off x="2921879" y="1318660"/>
            <a:ext cx="130521" cy="130569"/>
            <a:chOff x="0" y="0"/>
            <a:chExt cx="130518" cy="130569"/>
          </a:xfrm>
        </p:grpSpPr>
        <p:sp>
          <p:nvSpPr>
            <p:cNvPr id="13" name="Freeform 13"/>
            <p:cNvSpPr/>
            <p:nvPr/>
          </p:nvSpPr>
          <p:spPr>
            <a:xfrm>
              <a:off x="8" y="39"/>
              <a:ext cx="130504" cy="130514"/>
            </a:xfrm>
            <a:custGeom>
              <a:avLst/>
              <a:gdLst/>
              <a:ahLst/>
              <a:cxnLst/>
              <a:rect l="l" t="t" r="r" b="b"/>
              <a:pathLst>
                <a:path w="130504" h="130514">
                  <a:moveTo>
                    <a:pt x="51552" y="128737"/>
                  </a:moveTo>
                  <a:cubicBezTo>
                    <a:pt x="16502" y="120228"/>
                    <a:pt x="-5342" y="86320"/>
                    <a:pt x="1135" y="52665"/>
                  </a:cubicBezTo>
                  <a:cubicBezTo>
                    <a:pt x="7612" y="19011"/>
                    <a:pt x="40504" y="-4484"/>
                    <a:pt x="76190" y="723"/>
                  </a:cubicBezTo>
                  <a:cubicBezTo>
                    <a:pt x="111876" y="5803"/>
                    <a:pt x="136386" y="40219"/>
                    <a:pt x="129274" y="77303"/>
                  </a:cubicBezTo>
                  <a:cubicBezTo>
                    <a:pt x="122035" y="114387"/>
                    <a:pt x="86603" y="137246"/>
                    <a:pt x="51679" y="128737"/>
                  </a:cubicBezTo>
                </a:path>
              </a:pathLst>
            </a:custGeom>
            <a:solidFill>
              <a:srgbClr val="FFFFFF"/>
            </a:solidFill>
          </p:spPr>
        </p:sp>
      </p:grpSp>
      <p:grpSp>
        <p:nvGrpSpPr>
          <p:cNvPr id="14" name="Group 14"/>
          <p:cNvGrpSpPr/>
          <p:nvPr/>
        </p:nvGrpSpPr>
        <p:grpSpPr>
          <a:xfrm>
            <a:off x="2963275" y="986161"/>
            <a:ext cx="105556" cy="105594"/>
            <a:chOff x="0" y="0"/>
            <a:chExt cx="105562" cy="105600"/>
          </a:xfrm>
        </p:grpSpPr>
        <p:sp>
          <p:nvSpPr>
            <p:cNvPr id="15" name="Freeform 15"/>
            <p:cNvSpPr/>
            <p:nvPr/>
          </p:nvSpPr>
          <p:spPr>
            <a:xfrm>
              <a:off x="-9" y="30"/>
              <a:ext cx="105561" cy="105518"/>
            </a:xfrm>
            <a:custGeom>
              <a:avLst/>
              <a:gdLst/>
              <a:ahLst/>
              <a:cxnLst/>
              <a:rect l="l" t="t" r="r" b="b"/>
              <a:pathLst>
                <a:path w="105561" h="105518">
                  <a:moveTo>
                    <a:pt x="9" y="53947"/>
                  </a:moveTo>
                  <a:cubicBezTo>
                    <a:pt x="-499" y="26006"/>
                    <a:pt x="21727" y="1875"/>
                    <a:pt x="50684" y="97"/>
                  </a:cubicBezTo>
                  <a:cubicBezTo>
                    <a:pt x="79640" y="-1681"/>
                    <a:pt x="104914" y="21307"/>
                    <a:pt x="105549" y="51661"/>
                  </a:cubicBezTo>
                  <a:cubicBezTo>
                    <a:pt x="106184" y="81761"/>
                    <a:pt x="82180" y="106018"/>
                    <a:pt x="53097" y="105510"/>
                  </a:cubicBezTo>
                  <a:cubicBezTo>
                    <a:pt x="24013" y="105002"/>
                    <a:pt x="644" y="82015"/>
                    <a:pt x="9" y="53947"/>
                  </a:cubicBezTo>
                </a:path>
              </a:pathLst>
            </a:custGeom>
            <a:solidFill>
              <a:srgbClr val="FFFFFF"/>
            </a:solidFill>
          </p:spPr>
        </p:sp>
      </p:grpSp>
      <p:grpSp>
        <p:nvGrpSpPr>
          <p:cNvPr id="16" name="Group 16"/>
          <p:cNvGrpSpPr/>
          <p:nvPr/>
        </p:nvGrpSpPr>
        <p:grpSpPr>
          <a:xfrm>
            <a:off x="3194828" y="153695"/>
            <a:ext cx="69723" cy="69799"/>
            <a:chOff x="0" y="0"/>
            <a:chExt cx="69723" cy="69799"/>
          </a:xfrm>
        </p:grpSpPr>
        <p:sp>
          <p:nvSpPr>
            <p:cNvPr id="17" name="Freeform 17"/>
            <p:cNvSpPr/>
            <p:nvPr/>
          </p:nvSpPr>
          <p:spPr>
            <a:xfrm>
              <a:off x="23" y="6"/>
              <a:ext cx="69640" cy="69832"/>
            </a:xfrm>
            <a:custGeom>
              <a:avLst/>
              <a:gdLst/>
              <a:ahLst/>
              <a:cxnLst/>
              <a:rect l="l" t="t" r="r" b="b"/>
              <a:pathLst>
                <a:path w="69640" h="69832">
                  <a:moveTo>
                    <a:pt x="3406" y="50160"/>
                  </a:moveTo>
                  <a:cubicBezTo>
                    <a:pt x="-4722" y="33269"/>
                    <a:pt x="2136" y="12440"/>
                    <a:pt x="19282" y="3804"/>
                  </a:cubicBezTo>
                  <a:cubicBezTo>
                    <a:pt x="36427" y="-5086"/>
                    <a:pt x="57637" y="2153"/>
                    <a:pt x="66146" y="19806"/>
                  </a:cubicBezTo>
                  <a:cubicBezTo>
                    <a:pt x="74656" y="37460"/>
                    <a:pt x="67035" y="58415"/>
                    <a:pt x="49636" y="66543"/>
                  </a:cubicBezTo>
                  <a:cubicBezTo>
                    <a:pt x="32236" y="74672"/>
                    <a:pt x="11534" y="67178"/>
                    <a:pt x="3406" y="50160"/>
                  </a:cubicBezTo>
                </a:path>
              </a:pathLst>
            </a:custGeom>
            <a:solidFill>
              <a:srgbClr val="FFFFFF"/>
            </a:solidFill>
          </p:spPr>
        </p:sp>
      </p:grpSp>
      <p:grpSp>
        <p:nvGrpSpPr>
          <p:cNvPr id="18" name="Group 18"/>
          <p:cNvGrpSpPr/>
          <p:nvPr/>
        </p:nvGrpSpPr>
        <p:grpSpPr>
          <a:xfrm>
            <a:off x="3325149" y="546916"/>
            <a:ext cx="101156" cy="101117"/>
            <a:chOff x="0" y="0"/>
            <a:chExt cx="101156" cy="101117"/>
          </a:xfrm>
        </p:grpSpPr>
        <p:sp>
          <p:nvSpPr>
            <p:cNvPr id="19" name="Freeform 19"/>
            <p:cNvSpPr/>
            <p:nvPr/>
          </p:nvSpPr>
          <p:spPr>
            <a:xfrm>
              <a:off x="17" y="68"/>
              <a:ext cx="101089" cy="101110"/>
            </a:xfrm>
            <a:custGeom>
              <a:avLst/>
              <a:gdLst/>
              <a:ahLst/>
              <a:cxnLst/>
              <a:rect l="l" t="t" r="r" b="b"/>
              <a:pathLst>
                <a:path w="101089" h="101110">
                  <a:moveTo>
                    <a:pt x="1380" y="62414"/>
                  </a:moveTo>
                  <a:cubicBezTo>
                    <a:pt x="-4970" y="35999"/>
                    <a:pt x="11159" y="8949"/>
                    <a:pt x="38084" y="1710"/>
                  </a:cubicBezTo>
                  <a:cubicBezTo>
                    <a:pt x="65008" y="-5529"/>
                    <a:pt x="93076" y="10854"/>
                    <a:pt x="99680" y="38793"/>
                  </a:cubicBezTo>
                  <a:cubicBezTo>
                    <a:pt x="106284" y="66732"/>
                    <a:pt x="89012" y="94290"/>
                    <a:pt x="61706" y="100005"/>
                  </a:cubicBezTo>
                  <a:cubicBezTo>
                    <a:pt x="34401" y="105719"/>
                    <a:pt x="7730" y="88702"/>
                    <a:pt x="1380" y="62414"/>
                  </a:cubicBezTo>
                </a:path>
              </a:pathLst>
            </a:custGeom>
            <a:solidFill>
              <a:srgbClr val="FFFFFF"/>
            </a:solidFill>
          </p:spPr>
        </p:sp>
      </p:grpSp>
      <p:grpSp>
        <p:nvGrpSpPr>
          <p:cNvPr id="20" name="Group 20"/>
          <p:cNvGrpSpPr/>
          <p:nvPr/>
        </p:nvGrpSpPr>
        <p:grpSpPr>
          <a:xfrm>
            <a:off x="3365173" y="961882"/>
            <a:ext cx="132531" cy="132626"/>
            <a:chOff x="0" y="0"/>
            <a:chExt cx="132525" cy="132626"/>
          </a:xfrm>
        </p:grpSpPr>
        <p:sp>
          <p:nvSpPr>
            <p:cNvPr id="21" name="Freeform 21"/>
            <p:cNvSpPr/>
            <p:nvPr/>
          </p:nvSpPr>
          <p:spPr>
            <a:xfrm>
              <a:off x="-15" y="1"/>
              <a:ext cx="132485" cy="132721"/>
            </a:xfrm>
            <a:custGeom>
              <a:avLst/>
              <a:gdLst/>
              <a:ahLst/>
              <a:cxnLst/>
              <a:rect l="l" t="t" r="r" b="b"/>
              <a:pathLst>
                <a:path w="132485" h="132721">
                  <a:moveTo>
                    <a:pt x="15" y="67818"/>
                  </a:moveTo>
                  <a:cubicBezTo>
                    <a:pt x="-747" y="32638"/>
                    <a:pt x="27192" y="2412"/>
                    <a:pt x="63767" y="126"/>
                  </a:cubicBezTo>
                  <a:cubicBezTo>
                    <a:pt x="100341" y="-2160"/>
                    <a:pt x="131709" y="26923"/>
                    <a:pt x="132471" y="65024"/>
                  </a:cubicBezTo>
                  <a:cubicBezTo>
                    <a:pt x="133233" y="102997"/>
                    <a:pt x="103262" y="133223"/>
                    <a:pt x="66561" y="132715"/>
                  </a:cubicBezTo>
                  <a:cubicBezTo>
                    <a:pt x="29859" y="132207"/>
                    <a:pt x="904" y="102997"/>
                    <a:pt x="15" y="67818"/>
                  </a:cubicBezTo>
                </a:path>
              </a:pathLst>
            </a:custGeom>
            <a:solidFill>
              <a:srgbClr val="FFFFFF"/>
            </a:solidFill>
          </p:spPr>
        </p:sp>
      </p:grpSp>
      <p:grpSp>
        <p:nvGrpSpPr>
          <p:cNvPr id="22" name="Group 22"/>
          <p:cNvGrpSpPr/>
          <p:nvPr/>
        </p:nvGrpSpPr>
        <p:grpSpPr>
          <a:xfrm>
            <a:off x="3665430" y="-87239"/>
            <a:ext cx="87954" cy="87916"/>
            <a:chOff x="0" y="0"/>
            <a:chExt cx="87948" cy="87909"/>
          </a:xfrm>
        </p:grpSpPr>
        <p:sp>
          <p:nvSpPr>
            <p:cNvPr id="23" name="Freeform 23"/>
            <p:cNvSpPr/>
            <p:nvPr/>
          </p:nvSpPr>
          <p:spPr>
            <a:xfrm>
              <a:off x="36321" y="87246"/>
              <a:ext cx="15493" cy="635"/>
            </a:xfrm>
            <a:custGeom>
              <a:avLst/>
              <a:gdLst/>
              <a:ahLst/>
              <a:cxnLst/>
              <a:rect l="l" t="t" r="r" b="b"/>
              <a:pathLst>
                <a:path w="15493" h="635">
                  <a:moveTo>
                    <a:pt x="0" y="0"/>
                  </a:moveTo>
                  <a:cubicBezTo>
                    <a:pt x="2539" y="381"/>
                    <a:pt x="5079" y="635"/>
                    <a:pt x="7746" y="635"/>
                  </a:cubicBezTo>
                  <a:cubicBezTo>
                    <a:pt x="10413" y="635"/>
                    <a:pt x="12826" y="381"/>
                    <a:pt x="15493" y="0"/>
                  </a:cubicBezTo>
                  <a:close/>
                </a:path>
              </a:pathLst>
            </a:custGeom>
            <a:solidFill>
              <a:srgbClr val="FFFFFF"/>
            </a:solidFill>
          </p:spPr>
        </p:sp>
      </p:grpSp>
      <p:grpSp>
        <p:nvGrpSpPr>
          <p:cNvPr id="24" name="Group 24"/>
          <p:cNvGrpSpPr/>
          <p:nvPr/>
        </p:nvGrpSpPr>
        <p:grpSpPr>
          <a:xfrm>
            <a:off x="3829822" y="408375"/>
            <a:ext cx="127483" cy="127587"/>
            <a:chOff x="0" y="0"/>
            <a:chExt cx="127483" cy="127597"/>
          </a:xfrm>
        </p:grpSpPr>
        <p:sp>
          <p:nvSpPr>
            <p:cNvPr id="25" name="Freeform 25"/>
            <p:cNvSpPr/>
            <p:nvPr/>
          </p:nvSpPr>
          <p:spPr>
            <a:xfrm>
              <a:off x="39" y="-35"/>
              <a:ext cx="127527" cy="127689"/>
            </a:xfrm>
            <a:custGeom>
              <a:avLst/>
              <a:gdLst/>
              <a:ahLst/>
              <a:cxnLst/>
              <a:rect l="l" t="t" r="r" b="b"/>
              <a:pathLst>
                <a:path w="127527" h="127689">
                  <a:moveTo>
                    <a:pt x="1739" y="78905"/>
                  </a:moveTo>
                  <a:cubicBezTo>
                    <a:pt x="-6262" y="45757"/>
                    <a:pt x="14058" y="11465"/>
                    <a:pt x="47968" y="2194"/>
                  </a:cubicBezTo>
                  <a:cubicBezTo>
                    <a:pt x="81877" y="-7077"/>
                    <a:pt x="117184" y="13879"/>
                    <a:pt x="125693" y="49186"/>
                  </a:cubicBezTo>
                  <a:cubicBezTo>
                    <a:pt x="134202" y="84494"/>
                    <a:pt x="112231" y="119039"/>
                    <a:pt x="77686" y="126278"/>
                  </a:cubicBezTo>
                  <a:cubicBezTo>
                    <a:pt x="43269" y="133517"/>
                    <a:pt x="9613" y="112181"/>
                    <a:pt x="1739" y="78905"/>
                  </a:cubicBezTo>
                </a:path>
              </a:pathLst>
            </a:custGeom>
            <a:solidFill>
              <a:srgbClr val="FFFFFF"/>
            </a:solidFill>
          </p:spPr>
        </p:sp>
      </p:grpSp>
      <p:grpSp>
        <p:nvGrpSpPr>
          <p:cNvPr id="26" name="Group 26"/>
          <p:cNvGrpSpPr/>
          <p:nvPr/>
        </p:nvGrpSpPr>
        <p:grpSpPr>
          <a:xfrm>
            <a:off x="3880266" y="931764"/>
            <a:ext cx="167059" cy="167135"/>
            <a:chOff x="0" y="0"/>
            <a:chExt cx="167068" cy="167145"/>
          </a:xfrm>
        </p:grpSpPr>
        <p:sp>
          <p:nvSpPr>
            <p:cNvPr id="27" name="Freeform 27"/>
            <p:cNvSpPr/>
            <p:nvPr/>
          </p:nvSpPr>
          <p:spPr>
            <a:xfrm>
              <a:off x="-17" y="-36"/>
              <a:ext cx="167178" cy="167055"/>
            </a:xfrm>
            <a:custGeom>
              <a:avLst/>
              <a:gdLst/>
              <a:ahLst/>
              <a:cxnLst/>
              <a:rect l="l" t="t" r="r" b="b"/>
              <a:pathLst>
                <a:path w="167178" h="167055">
                  <a:moveTo>
                    <a:pt x="17" y="85383"/>
                  </a:moveTo>
                  <a:cubicBezTo>
                    <a:pt x="-872" y="41058"/>
                    <a:pt x="34181" y="2830"/>
                    <a:pt x="80410" y="163"/>
                  </a:cubicBezTo>
                  <a:cubicBezTo>
                    <a:pt x="126386" y="-2758"/>
                    <a:pt x="166011" y="33819"/>
                    <a:pt x="167154" y="81700"/>
                  </a:cubicBezTo>
                  <a:cubicBezTo>
                    <a:pt x="168297" y="129580"/>
                    <a:pt x="130196" y="167682"/>
                    <a:pt x="84093" y="167047"/>
                  </a:cubicBezTo>
                  <a:cubicBezTo>
                    <a:pt x="37864" y="166412"/>
                    <a:pt x="1033" y="129834"/>
                    <a:pt x="17" y="85383"/>
                  </a:cubicBezTo>
                </a:path>
              </a:pathLst>
            </a:custGeom>
            <a:solidFill>
              <a:srgbClr val="FFFFFF"/>
            </a:solidFill>
          </p:spPr>
        </p:sp>
      </p:grpSp>
      <p:grpSp>
        <p:nvGrpSpPr>
          <p:cNvPr id="28" name="Group 28"/>
          <p:cNvGrpSpPr/>
          <p:nvPr/>
        </p:nvGrpSpPr>
        <p:grpSpPr>
          <a:xfrm>
            <a:off x="4477903" y="230591"/>
            <a:ext cx="161382" cy="161458"/>
            <a:chOff x="0" y="0"/>
            <a:chExt cx="161392" cy="161455"/>
          </a:xfrm>
        </p:grpSpPr>
        <p:sp>
          <p:nvSpPr>
            <p:cNvPr id="29" name="Freeform 29"/>
            <p:cNvSpPr/>
            <p:nvPr/>
          </p:nvSpPr>
          <p:spPr>
            <a:xfrm>
              <a:off x="-10" y="-88"/>
              <a:ext cx="161436" cy="161509"/>
            </a:xfrm>
            <a:custGeom>
              <a:avLst/>
              <a:gdLst/>
              <a:ahLst/>
              <a:cxnLst/>
              <a:rect l="l" t="t" r="r" b="b"/>
              <a:pathLst>
                <a:path w="161436" h="161509">
                  <a:moveTo>
                    <a:pt x="2169" y="99908"/>
                  </a:moveTo>
                  <a:cubicBezTo>
                    <a:pt x="-7864" y="57872"/>
                    <a:pt x="17791" y="14439"/>
                    <a:pt x="60845" y="2755"/>
                  </a:cubicBezTo>
                  <a:cubicBezTo>
                    <a:pt x="103899" y="-8929"/>
                    <a:pt x="148478" y="17614"/>
                    <a:pt x="159146" y="62190"/>
                  </a:cubicBezTo>
                  <a:cubicBezTo>
                    <a:pt x="169814" y="106766"/>
                    <a:pt x="142128" y="150581"/>
                    <a:pt x="98565" y="159724"/>
                  </a:cubicBezTo>
                  <a:cubicBezTo>
                    <a:pt x="54876" y="168868"/>
                    <a:pt x="12329" y="141945"/>
                    <a:pt x="2169" y="99908"/>
                  </a:cubicBezTo>
                </a:path>
              </a:pathLst>
            </a:custGeom>
            <a:solidFill>
              <a:srgbClr val="FFFFFF"/>
            </a:solidFill>
          </p:spPr>
        </p:sp>
      </p:grpSp>
      <p:grpSp>
        <p:nvGrpSpPr>
          <p:cNvPr id="30" name="Group 30"/>
          <p:cNvGrpSpPr/>
          <p:nvPr/>
        </p:nvGrpSpPr>
        <p:grpSpPr>
          <a:xfrm>
            <a:off x="4541796" y="892969"/>
            <a:ext cx="211426" cy="211503"/>
            <a:chOff x="0" y="0"/>
            <a:chExt cx="211430" cy="211506"/>
          </a:xfrm>
        </p:grpSpPr>
        <p:sp>
          <p:nvSpPr>
            <p:cNvPr id="31" name="Freeform 31"/>
            <p:cNvSpPr/>
            <p:nvPr/>
          </p:nvSpPr>
          <p:spPr>
            <a:xfrm>
              <a:off x="-26" y="-44"/>
              <a:ext cx="211512" cy="211508"/>
            </a:xfrm>
            <a:custGeom>
              <a:avLst/>
              <a:gdLst/>
              <a:ahLst/>
              <a:cxnLst/>
              <a:rect l="l" t="t" r="r" b="b"/>
              <a:pathLst>
                <a:path w="211512" h="211508">
                  <a:moveTo>
                    <a:pt x="31777" y="180515"/>
                  </a:moveTo>
                  <a:cubicBezTo>
                    <a:pt x="12599" y="161719"/>
                    <a:pt x="661" y="136445"/>
                    <a:pt x="26" y="108124"/>
                  </a:cubicBezTo>
                  <a:cubicBezTo>
                    <a:pt x="-609" y="79802"/>
                    <a:pt x="10313" y="54020"/>
                    <a:pt x="28475" y="34462"/>
                  </a:cubicBezTo>
                  <a:cubicBezTo>
                    <a:pt x="46890" y="14903"/>
                    <a:pt x="72545" y="1695"/>
                    <a:pt x="101756" y="171"/>
                  </a:cubicBezTo>
                  <a:cubicBezTo>
                    <a:pt x="130840" y="-1480"/>
                    <a:pt x="158018" y="8934"/>
                    <a:pt x="177958" y="27731"/>
                  </a:cubicBezTo>
                  <a:cubicBezTo>
                    <a:pt x="197897" y="46527"/>
                    <a:pt x="210852" y="73325"/>
                    <a:pt x="211487" y="103424"/>
                  </a:cubicBezTo>
                  <a:cubicBezTo>
                    <a:pt x="212122" y="133524"/>
                    <a:pt x="200438" y="160957"/>
                    <a:pt x="181260" y="180515"/>
                  </a:cubicBezTo>
                  <a:cubicBezTo>
                    <a:pt x="162082" y="200074"/>
                    <a:pt x="135666" y="211758"/>
                    <a:pt x="106455" y="211504"/>
                  </a:cubicBezTo>
                  <a:cubicBezTo>
                    <a:pt x="77244" y="211250"/>
                    <a:pt x="50954" y="199185"/>
                    <a:pt x="31777" y="180515"/>
                  </a:cubicBezTo>
                </a:path>
              </a:pathLst>
            </a:custGeom>
            <a:solidFill>
              <a:srgbClr val="FFFFFF"/>
            </a:solidFill>
          </p:spPr>
        </p:sp>
      </p:grpSp>
      <p:sp>
        <p:nvSpPr>
          <p:cNvPr id="32" name="Freeform 32"/>
          <p:cNvSpPr/>
          <p:nvPr/>
        </p:nvSpPr>
        <p:spPr>
          <a:xfrm>
            <a:off x="4994672" y="8631298"/>
            <a:ext cx="11534965" cy="1658750"/>
          </a:xfrm>
          <a:custGeom>
            <a:avLst/>
            <a:gdLst/>
            <a:ahLst/>
            <a:cxnLst/>
            <a:rect l="l" t="t" r="r" b="b"/>
            <a:pathLst>
              <a:path w="11534965" h="1658750">
                <a:moveTo>
                  <a:pt x="0" y="0"/>
                </a:moveTo>
                <a:lnTo>
                  <a:pt x="11534965" y="0"/>
                </a:lnTo>
                <a:lnTo>
                  <a:pt x="11534965" y="1658750"/>
                </a:lnTo>
                <a:lnTo>
                  <a:pt x="0" y="16587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3" name="Freeform 33"/>
          <p:cNvSpPr/>
          <p:nvPr/>
        </p:nvSpPr>
        <p:spPr>
          <a:xfrm>
            <a:off x="-601008" y="1315755"/>
            <a:ext cx="6268202" cy="4297632"/>
          </a:xfrm>
          <a:custGeom>
            <a:avLst/>
            <a:gdLst/>
            <a:ahLst/>
            <a:cxnLst/>
            <a:rect l="l" t="t" r="r" b="b"/>
            <a:pathLst>
              <a:path w="6268202" h="4297632">
                <a:moveTo>
                  <a:pt x="0" y="0"/>
                </a:moveTo>
                <a:lnTo>
                  <a:pt x="6268202" y="0"/>
                </a:lnTo>
                <a:lnTo>
                  <a:pt x="6268202" y="4297632"/>
                </a:lnTo>
                <a:lnTo>
                  <a:pt x="0" y="429763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4" name="Group 34"/>
          <p:cNvGrpSpPr/>
          <p:nvPr/>
        </p:nvGrpSpPr>
        <p:grpSpPr>
          <a:xfrm>
            <a:off x="5297014" y="5867"/>
            <a:ext cx="204149" cy="204226"/>
            <a:chOff x="0" y="0"/>
            <a:chExt cx="204153" cy="204229"/>
          </a:xfrm>
        </p:grpSpPr>
        <p:sp>
          <p:nvSpPr>
            <p:cNvPr id="35" name="Freeform 35"/>
            <p:cNvSpPr/>
            <p:nvPr/>
          </p:nvSpPr>
          <p:spPr>
            <a:xfrm>
              <a:off x="50" y="78"/>
              <a:ext cx="204137" cy="204112"/>
            </a:xfrm>
            <a:custGeom>
              <a:avLst/>
              <a:gdLst/>
              <a:ahLst/>
              <a:cxnLst/>
              <a:rect l="l" t="t" r="r" b="b"/>
              <a:pathLst>
                <a:path w="204137" h="204112">
                  <a:moveTo>
                    <a:pt x="2744" y="126291"/>
                  </a:moveTo>
                  <a:cubicBezTo>
                    <a:pt x="-9956" y="72949"/>
                    <a:pt x="22556" y="18211"/>
                    <a:pt x="77040" y="3478"/>
                  </a:cubicBezTo>
                  <a:cubicBezTo>
                    <a:pt x="131523" y="-11254"/>
                    <a:pt x="187785" y="22148"/>
                    <a:pt x="201247" y="78537"/>
                  </a:cubicBezTo>
                  <a:cubicBezTo>
                    <a:pt x="214709" y="134927"/>
                    <a:pt x="179784" y="190300"/>
                    <a:pt x="124665" y="201858"/>
                  </a:cubicBezTo>
                  <a:cubicBezTo>
                    <a:pt x="69547" y="213415"/>
                    <a:pt x="15444" y="179378"/>
                    <a:pt x="2744" y="126291"/>
                  </a:cubicBezTo>
                </a:path>
              </a:pathLst>
            </a:custGeom>
            <a:solidFill>
              <a:srgbClr val="FFFFFF"/>
            </a:solidFill>
          </p:spPr>
        </p:sp>
      </p:grpSp>
      <p:grpSp>
        <p:nvGrpSpPr>
          <p:cNvPr id="36" name="Group 36"/>
          <p:cNvGrpSpPr/>
          <p:nvPr/>
        </p:nvGrpSpPr>
        <p:grpSpPr>
          <a:xfrm>
            <a:off x="5377834" y="843867"/>
            <a:ext cx="267519" cy="267672"/>
            <a:chOff x="0" y="0"/>
            <a:chExt cx="267513" cy="267665"/>
          </a:xfrm>
        </p:grpSpPr>
        <p:sp>
          <p:nvSpPr>
            <p:cNvPr id="37" name="Freeform 37"/>
            <p:cNvSpPr/>
            <p:nvPr/>
          </p:nvSpPr>
          <p:spPr>
            <a:xfrm>
              <a:off x="-30" y="49"/>
              <a:ext cx="267519" cy="267542"/>
            </a:xfrm>
            <a:custGeom>
              <a:avLst/>
              <a:gdLst/>
              <a:ahLst/>
              <a:cxnLst/>
              <a:rect l="l" t="t" r="r" b="b"/>
              <a:pathLst>
                <a:path w="267519" h="267542">
                  <a:moveTo>
                    <a:pt x="40289" y="228293"/>
                  </a:moveTo>
                  <a:cubicBezTo>
                    <a:pt x="16032" y="204671"/>
                    <a:pt x="792" y="172541"/>
                    <a:pt x="30" y="136855"/>
                  </a:cubicBezTo>
                  <a:cubicBezTo>
                    <a:pt x="-732" y="101168"/>
                    <a:pt x="12984" y="68403"/>
                    <a:pt x="36098" y="43511"/>
                  </a:cubicBezTo>
                  <a:cubicBezTo>
                    <a:pt x="59212" y="18874"/>
                    <a:pt x="91723" y="2237"/>
                    <a:pt x="128553" y="205"/>
                  </a:cubicBezTo>
                  <a:cubicBezTo>
                    <a:pt x="165383" y="-1827"/>
                    <a:pt x="199800" y="11381"/>
                    <a:pt x="225073" y="35002"/>
                  </a:cubicBezTo>
                  <a:cubicBezTo>
                    <a:pt x="250345" y="58624"/>
                    <a:pt x="266728" y="92786"/>
                    <a:pt x="267490" y="130886"/>
                  </a:cubicBezTo>
                  <a:cubicBezTo>
                    <a:pt x="268252" y="168985"/>
                    <a:pt x="253647" y="203782"/>
                    <a:pt x="229390" y="228420"/>
                  </a:cubicBezTo>
                  <a:cubicBezTo>
                    <a:pt x="205261" y="253185"/>
                    <a:pt x="171479" y="267916"/>
                    <a:pt x="134522" y="267535"/>
                  </a:cubicBezTo>
                  <a:cubicBezTo>
                    <a:pt x="97565" y="267154"/>
                    <a:pt x="64419" y="251915"/>
                    <a:pt x="40162" y="228293"/>
                  </a:cubicBezTo>
                </a:path>
              </a:pathLst>
            </a:custGeom>
            <a:solidFill>
              <a:srgbClr val="FFFFFF"/>
            </a:solidFill>
          </p:spPr>
        </p:sp>
      </p:grpSp>
      <p:grpSp>
        <p:nvGrpSpPr>
          <p:cNvPr id="38" name="Group 38"/>
          <p:cNvGrpSpPr/>
          <p:nvPr/>
        </p:nvGrpSpPr>
        <p:grpSpPr>
          <a:xfrm>
            <a:off x="9544383" y="0"/>
            <a:ext cx="8743617" cy="10287000"/>
            <a:chOff x="0" y="0"/>
            <a:chExt cx="11658156" cy="13716000"/>
          </a:xfrm>
        </p:grpSpPr>
        <p:sp>
          <p:nvSpPr>
            <p:cNvPr id="39" name="Freeform 39"/>
            <p:cNvSpPr/>
            <p:nvPr/>
          </p:nvSpPr>
          <p:spPr>
            <a:xfrm>
              <a:off x="0" y="0"/>
              <a:ext cx="11658092" cy="13716000"/>
            </a:xfrm>
            <a:custGeom>
              <a:avLst/>
              <a:gdLst/>
              <a:ahLst/>
              <a:cxnLst/>
              <a:rect l="l" t="t" r="r" b="b"/>
              <a:pathLst>
                <a:path w="11658092" h="13716000">
                  <a:moveTo>
                    <a:pt x="4241419" y="0"/>
                  </a:moveTo>
                  <a:cubicBezTo>
                    <a:pt x="1711833" y="1423035"/>
                    <a:pt x="0" y="4157345"/>
                    <a:pt x="0" y="7296785"/>
                  </a:cubicBezTo>
                  <a:cubicBezTo>
                    <a:pt x="0" y="9878441"/>
                    <a:pt x="1157605" y="12186158"/>
                    <a:pt x="2975610" y="13716000"/>
                  </a:cubicBezTo>
                  <a:lnTo>
                    <a:pt x="11658092" y="13716000"/>
                  </a:lnTo>
                  <a:lnTo>
                    <a:pt x="11658092" y="0"/>
                  </a:lnTo>
                  <a:close/>
                </a:path>
              </a:pathLst>
            </a:custGeom>
            <a:blipFill>
              <a:blip r:embed="rId5"/>
              <a:stretch>
                <a:fillRect l="-36776" t="-7607" r="-77783" b="-13815"/>
              </a:stretch>
            </a:blipFill>
          </p:spPr>
        </p:sp>
      </p:grpSp>
      <p:sp>
        <p:nvSpPr>
          <p:cNvPr id="40" name="Freeform 40"/>
          <p:cNvSpPr/>
          <p:nvPr/>
        </p:nvSpPr>
        <p:spPr>
          <a:xfrm>
            <a:off x="4688357" y="8790346"/>
            <a:ext cx="1879321" cy="1563205"/>
          </a:xfrm>
          <a:custGeom>
            <a:avLst/>
            <a:gdLst/>
            <a:ahLst/>
            <a:cxnLst/>
            <a:rect l="l" t="t" r="r" b="b"/>
            <a:pathLst>
              <a:path w="1879321" h="1563205">
                <a:moveTo>
                  <a:pt x="0" y="0"/>
                </a:moveTo>
                <a:lnTo>
                  <a:pt x="1879321" y="0"/>
                </a:lnTo>
                <a:lnTo>
                  <a:pt x="1879321" y="1563205"/>
                </a:lnTo>
                <a:lnTo>
                  <a:pt x="0" y="156320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1" name="Freeform 41"/>
          <p:cNvSpPr/>
          <p:nvPr/>
        </p:nvSpPr>
        <p:spPr>
          <a:xfrm>
            <a:off x="-63503" y="-764086"/>
            <a:ext cx="20742916" cy="13524519"/>
          </a:xfrm>
          <a:custGeom>
            <a:avLst/>
            <a:gdLst/>
            <a:ahLst/>
            <a:cxnLst/>
            <a:rect l="l" t="t" r="r" b="b"/>
            <a:pathLst>
              <a:path w="20742916" h="13524519">
                <a:moveTo>
                  <a:pt x="0" y="0"/>
                </a:moveTo>
                <a:lnTo>
                  <a:pt x="20742916" y="0"/>
                </a:lnTo>
                <a:lnTo>
                  <a:pt x="20742916" y="13524519"/>
                </a:lnTo>
                <a:lnTo>
                  <a:pt x="0" y="135245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42" name="TextBox 42"/>
          <p:cNvSpPr txBox="1"/>
          <p:nvPr/>
        </p:nvSpPr>
        <p:spPr>
          <a:xfrm>
            <a:off x="1028700" y="3656752"/>
            <a:ext cx="7685542" cy="3047648"/>
          </a:xfrm>
          <a:prstGeom prst="rect">
            <a:avLst/>
          </a:prstGeom>
        </p:spPr>
        <p:txBody>
          <a:bodyPr lIns="0" tIns="0" rIns="0" bIns="0" rtlCol="0" anchor="t">
            <a:spAutoFit/>
          </a:bodyPr>
          <a:lstStyle/>
          <a:p>
            <a:pPr algn="l">
              <a:lnSpc>
                <a:spcPts val="11698"/>
              </a:lnSpc>
            </a:pPr>
            <a:r>
              <a:rPr lang="en-US" sz="8397" b="1">
                <a:solidFill>
                  <a:srgbClr val="0C3E80"/>
                </a:solidFill>
                <a:latin typeface="Poppins Bold"/>
                <a:ea typeface="Poppins Bold"/>
                <a:cs typeface="Poppins Bold"/>
                <a:sym typeface="Poppins Bold"/>
              </a:rPr>
              <a:t>DATA SOURCE AND TOOLS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a:hlinkClick r:id="rId2" tooltip="https://www.kaggle.com/datasets/shivamb/disney-movies-and-tv-shows"/>
            </p:cNvPr>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3">
                <a:alphaModFix amt="5999"/>
              </a:blip>
              <a:stretch>
                <a:fillRect/>
              </a:stretch>
            </a:blipFill>
          </p:spPr>
        </p:sp>
      </p:grpSp>
      <p:sp>
        <p:nvSpPr>
          <p:cNvPr id="4" name="Freeform 4"/>
          <p:cNvSpPr/>
          <p:nvPr/>
        </p:nvSpPr>
        <p:spPr>
          <a:xfrm>
            <a:off x="1078078" y="7194366"/>
            <a:ext cx="437283" cy="437283"/>
          </a:xfrm>
          <a:custGeom>
            <a:avLst/>
            <a:gdLst/>
            <a:ahLst/>
            <a:cxnLst/>
            <a:rect l="l" t="t" r="r" b="b"/>
            <a:pathLst>
              <a:path w="437283" h="437283">
                <a:moveTo>
                  <a:pt x="0" y="0"/>
                </a:moveTo>
                <a:lnTo>
                  <a:pt x="437283" y="0"/>
                </a:lnTo>
                <a:lnTo>
                  <a:pt x="437283" y="437283"/>
                </a:lnTo>
                <a:lnTo>
                  <a:pt x="0" y="43728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078078" y="7852639"/>
            <a:ext cx="437283" cy="437283"/>
          </a:xfrm>
          <a:custGeom>
            <a:avLst/>
            <a:gdLst/>
            <a:ahLst/>
            <a:cxnLst/>
            <a:rect l="l" t="t" r="r" b="b"/>
            <a:pathLst>
              <a:path w="437283" h="437283">
                <a:moveTo>
                  <a:pt x="0" y="0"/>
                </a:moveTo>
                <a:lnTo>
                  <a:pt x="437283" y="0"/>
                </a:lnTo>
                <a:lnTo>
                  <a:pt x="437283" y="437283"/>
                </a:lnTo>
                <a:lnTo>
                  <a:pt x="0" y="43728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078078" y="8510911"/>
            <a:ext cx="437283" cy="437283"/>
          </a:xfrm>
          <a:custGeom>
            <a:avLst/>
            <a:gdLst/>
            <a:ahLst/>
            <a:cxnLst/>
            <a:rect l="l" t="t" r="r" b="b"/>
            <a:pathLst>
              <a:path w="437283" h="437283">
                <a:moveTo>
                  <a:pt x="0" y="0"/>
                </a:moveTo>
                <a:lnTo>
                  <a:pt x="437283" y="0"/>
                </a:lnTo>
                <a:lnTo>
                  <a:pt x="437283" y="437284"/>
                </a:lnTo>
                <a:lnTo>
                  <a:pt x="0" y="43728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078078" y="9169194"/>
            <a:ext cx="437283" cy="437283"/>
          </a:xfrm>
          <a:custGeom>
            <a:avLst/>
            <a:gdLst/>
            <a:ahLst/>
            <a:cxnLst/>
            <a:rect l="l" t="t" r="r" b="b"/>
            <a:pathLst>
              <a:path w="437283" h="437283">
                <a:moveTo>
                  <a:pt x="0" y="0"/>
                </a:moveTo>
                <a:lnTo>
                  <a:pt x="437283" y="0"/>
                </a:lnTo>
                <a:lnTo>
                  <a:pt x="437283" y="437283"/>
                </a:lnTo>
                <a:lnTo>
                  <a:pt x="0" y="437283"/>
                </a:lnTo>
                <a:lnTo>
                  <a:pt x="0" y="0"/>
                </a:lnTo>
                <a:close/>
              </a:path>
            </a:pathLst>
          </a:custGeom>
          <a:blipFill>
            <a:blip>
              <a:extLst>
                <a:ext uri="{96DAC541-7B7A-43D3-8B79-37D633B846F1}">
                  <asvg:svgBlip xmlns:asvg="http://schemas.microsoft.com/office/drawing/2016/SVG/main" r:embed="rId7"/>
                </a:ext>
              </a:extLst>
            </a:blip>
            <a:stretch>
              <a:fillRect/>
            </a:stretch>
          </a:blipFill>
        </p:spPr>
      </p:sp>
      <p:grpSp>
        <p:nvGrpSpPr>
          <p:cNvPr id="8" name="Group 8"/>
          <p:cNvGrpSpPr/>
          <p:nvPr/>
        </p:nvGrpSpPr>
        <p:grpSpPr>
          <a:xfrm>
            <a:off x="-3048" y="1242779"/>
            <a:ext cx="8311744" cy="727967"/>
            <a:chOff x="0" y="0"/>
            <a:chExt cx="11082325" cy="970623"/>
          </a:xfrm>
        </p:grpSpPr>
        <p:sp>
          <p:nvSpPr>
            <p:cNvPr id="9" name="Freeform 9"/>
            <p:cNvSpPr/>
            <p:nvPr/>
          </p:nvSpPr>
          <p:spPr>
            <a:xfrm>
              <a:off x="0" y="0"/>
              <a:ext cx="11082325" cy="970623"/>
            </a:xfrm>
            <a:custGeom>
              <a:avLst/>
              <a:gdLst/>
              <a:ahLst/>
              <a:cxnLst/>
              <a:rect l="l" t="t" r="r" b="b"/>
              <a:pathLst>
                <a:path w="11082325" h="970623">
                  <a:moveTo>
                    <a:pt x="0" y="0"/>
                  </a:moveTo>
                  <a:lnTo>
                    <a:pt x="11082325" y="0"/>
                  </a:lnTo>
                  <a:lnTo>
                    <a:pt x="11082325" y="970623"/>
                  </a:lnTo>
                  <a:lnTo>
                    <a:pt x="0" y="97062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1375664" y="155575"/>
              <a:ext cx="3109214" cy="620624"/>
            </a:xfrm>
            <a:prstGeom prst="rect">
              <a:avLst/>
            </a:prstGeom>
          </p:spPr>
          <p:txBody>
            <a:bodyPr lIns="0" tIns="0" rIns="0" bIns="0" rtlCol="0" anchor="t">
              <a:spAutoFit/>
            </a:bodyPr>
            <a:lstStyle/>
            <a:p>
              <a:pPr algn="l">
                <a:lnSpc>
                  <a:spcPts val="3932"/>
                </a:lnSpc>
              </a:pPr>
              <a:r>
                <a:rPr lang="en-US" sz="2808" b="1">
                  <a:solidFill>
                    <a:srgbClr val="000000"/>
                  </a:solidFill>
                  <a:latin typeface="Montserrat Bold"/>
                  <a:ea typeface="Montserrat Bold"/>
                  <a:cs typeface="Montserrat Bold"/>
                  <a:sym typeface="Montserrat Bold"/>
                </a:rPr>
                <a:t>Data Source</a:t>
              </a:r>
            </a:p>
          </p:txBody>
        </p:sp>
      </p:grpSp>
      <p:sp>
        <p:nvSpPr>
          <p:cNvPr id="11" name="Freeform 11"/>
          <p:cNvSpPr/>
          <p:nvPr/>
        </p:nvSpPr>
        <p:spPr>
          <a:xfrm>
            <a:off x="113627" y="2445525"/>
            <a:ext cx="16388994" cy="1577441"/>
          </a:xfrm>
          <a:custGeom>
            <a:avLst/>
            <a:gdLst/>
            <a:ahLst/>
            <a:cxnLst/>
            <a:rect l="l" t="t" r="r" b="b"/>
            <a:pathLst>
              <a:path w="16388994" h="1577441">
                <a:moveTo>
                  <a:pt x="0" y="0"/>
                </a:moveTo>
                <a:lnTo>
                  <a:pt x="16388994" y="0"/>
                </a:lnTo>
                <a:lnTo>
                  <a:pt x="16388994" y="1577440"/>
                </a:lnTo>
                <a:lnTo>
                  <a:pt x="0" y="1577440"/>
                </a:lnTo>
                <a:lnTo>
                  <a:pt x="0" y="0"/>
                </a:lnTo>
                <a:close/>
              </a:path>
            </a:pathLst>
          </a:custGeom>
          <a:blipFill>
            <a:blip r:embed="rId9"/>
            <a:stretch>
              <a:fillRect/>
            </a:stretch>
          </a:blipFill>
        </p:spPr>
      </p:sp>
      <p:sp>
        <p:nvSpPr>
          <p:cNvPr id="12" name="Freeform 12"/>
          <p:cNvSpPr/>
          <p:nvPr/>
        </p:nvSpPr>
        <p:spPr>
          <a:xfrm>
            <a:off x="113627" y="4108690"/>
            <a:ext cx="3788280" cy="3524873"/>
          </a:xfrm>
          <a:custGeom>
            <a:avLst/>
            <a:gdLst/>
            <a:ahLst/>
            <a:cxnLst/>
            <a:rect l="l" t="t" r="r" b="b"/>
            <a:pathLst>
              <a:path w="3788280" h="3524873">
                <a:moveTo>
                  <a:pt x="0" y="0"/>
                </a:moveTo>
                <a:lnTo>
                  <a:pt x="3788280" y="0"/>
                </a:lnTo>
                <a:lnTo>
                  <a:pt x="3788280" y="3524874"/>
                </a:lnTo>
                <a:lnTo>
                  <a:pt x="0" y="3524874"/>
                </a:lnTo>
                <a:lnTo>
                  <a:pt x="0" y="0"/>
                </a:lnTo>
                <a:close/>
              </a:path>
            </a:pathLst>
          </a:custGeom>
          <a:blipFill>
            <a:blip r:embed="rId10"/>
            <a:stretch>
              <a:fillRect t="-290" b="-290"/>
            </a:stretch>
          </a:blipFill>
        </p:spPr>
      </p:sp>
      <p:sp>
        <p:nvSpPr>
          <p:cNvPr id="13" name="Freeform 13"/>
          <p:cNvSpPr/>
          <p:nvPr/>
        </p:nvSpPr>
        <p:spPr>
          <a:xfrm>
            <a:off x="4152824" y="4108690"/>
            <a:ext cx="4671988" cy="3398905"/>
          </a:xfrm>
          <a:custGeom>
            <a:avLst/>
            <a:gdLst/>
            <a:ahLst/>
            <a:cxnLst/>
            <a:rect l="l" t="t" r="r" b="b"/>
            <a:pathLst>
              <a:path w="4671988" h="3398905">
                <a:moveTo>
                  <a:pt x="0" y="0"/>
                </a:moveTo>
                <a:lnTo>
                  <a:pt x="4671988" y="0"/>
                </a:lnTo>
                <a:lnTo>
                  <a:pt x="4671988" y="3398906"/>
                </a:lnTo>
                <a:lnTo>
                  <a:pt x="0" y="3398906"/>
                </a:lnTo>
                <a:lnTo>
                  <a:pt x="0" y="0"/>
                </a:lnTo>
                <a:close/>
              </a:path>
            </a:pathLst>
          </a:custGeom>
          <a:blipFill>
            <a:blip r:embed="rId11"/>
            <a:stretch>
              <a:fillRect t="-1946" b="-1946"/>
            </a:stretch>
          </a:blipFill>
        </p:spPr>
      </p:sp>
      <p:sp>
        <p:nvSpPr>
          <p:cNvPr id="14" name="Freeform 14"/>
          <p:cNvSpPr/>
          <p:nvPr/>
        </p:nvSpPr>
        <p:spPr>
          <a:xfrm>
            <a:off x="113627" y="7719289"/>
            <a:ext cx="4406503" cy="2301174"/>
          </a:xfrm>
          <a:custGeom>
            <a:avLst/>
            <a:gdLst/>
            <a:ahLst/>
            <a:cxnLst/>
            <a:rect l="l" t="t" r="r" b="b"/>
            <a:pathLst>
              <a:path w="4406503" h="2301174">
                <a:moveTo>
                  <a:pt x="0" y="0"/>
                </a:moveTo>
                <a:lnTo>
                  <a:pt x="4406504" y="0"/>
                </a:lnTo>
                <a:lnTo>
                  <a:pt x="4406504" y="2301174"/>
                </a:lnTo>
                <a:lnTo>
                  <a:pt x="0" y="2301174"/>
                </a:lnTo>
                <a:lnTo>
                  <a:pt x="0" y="0"/>
                </a:lnTo>
                <a:close/>
              </a:path>
            </a:pathLst>
          </a:custGeom>
          <a:blipFill>
            <a:blip r:embed="rId12"/>
            <a:stretch>
              <a:fillRect/>
            </a:stretch>
          </a:blipFill>
        </p:spPr>
      </p:sp>
      <p:sp>
        <p:nvSpPr>
          <p:cNvPr id="15" name="Freeform 15"/>
          <p:cNvSpPr/>
          <p:nvPr/>
        </p:nvSpPr>
        <p:spPr>
          <a:xfrm>
            <a:off x="4660578" y="7740344"/>
            <a:ext cx="4623869" cy="2259063"/>
          </a:xfrm>
          <a:custGeom>
            <a:avLst/>
            <a:gdLst/>
            <a:ahLst/>
            <a:cxnLst/>
            <a:rect l="l" t="t" r="r" b="b"/>
            <a:pathLst>
              <a:path w="4623869" h="2259063">
                <a:moveTo>
                  <a:pt x="0" y="0"/>
                </a:moveTo>
                <a:lnTo>
                  <a:pt x="4623869" y="0"/>
                </a:lnTo>
                <a:lnTo>
                  <a:pt x="4623869" y="2259063"/>
                </a:lnTo>
                <a:lnTo>
                  <a:pt x="0" y="2259063"/>
                </a:lnTo>
                <a:lnTo>
                  <a:pt x="0" y="0"/>
                </a:lnTo>
                <a:close/>
              </a:path>
            </a:pathLst>
          </a:custGeom>
          <a:blipFill>
            <a:blip r:embed="rId13"/>
            <a:stretch>
              <a:fillRect l="-1956" t="-843" r="-1956" b="-438"/>
            </a:stretch>
          </a:blipFill>
        </p:spPr>
      </p:sp>
      <p:sp>
        <p:nvSpPr>
          <p:cNvPr id="16" name="Freeform 16"/>
          <p:cNvSpPr/>
          <p:nvPr/>
        </p:nvSpPr>
        <p:spPr>
          <a:xfrm>
            <a:off x="13744543" y="4343194"/>
            <a:ext cx="4176905" cy="3139931"/>
          </a:xfrm>
          <a:custGeom>
            <a:avLst/>
            <a:gdLst/>
            <a:ahLst/>
            <a:cxnLst/>
            <a:rect l="l" t="t" r="r" b="b"/>
            <a:pathLst>
              <a:path w="4176905" h="3139931">
                <a:moveTo>
                  <a:pt x="0" y="0"/>
                </a:moveTo>
                <a:lnTo>
                  <a:pt x="4176906" y="0"/>
                </a:lnTo>
                <a:lnTo>
                  <a:pt x="4176906" y="3139930"/>
                </a:lnTo>
                <a:lnTo>
                  <a:pt x="0" y="3139930"/>
                </a:lnTo>
                <a:lnTo>
                  <a:pt x="0" y="0"/>
                </a:lnTo>
                <a:close/>
              </a:path>
            </a:pathLst>
          </a:custGeom>
          <a:blipFill>
            <a:blip r:embed="rId14"/>
            <a:stretch>
              <a:fillRect/>
            </a:stretch>
          </a:blipFill>
        </p:spPr>
      </p:sp>
      <p:sp>
        <p:nvSpPr>
          <p:cNvPr id="17" name="Freeform 17"/>
          <p:cNvSpPr/>
          <p:nvPr/>
        </p:nvSpPr>
        <p:spPr>
          <a:xfrm>
            <a:off x="9427322" y="7757780"/>
            <a:ext cx="5206428" cy="2380829"/>
          </a:xfrm>
          <a:custGeom>
            <a:avLst/>
            <a:gdLst/>
            <a:ahLst/>
            <a:cxnLst/>
            <a:rect l="l" t="t" r="r" b="b"/>
            <a:pathLst>
              <a:path w="5206428" h="2380829">
                <a:moveTo>
                  <a:pt x="0" y="0"/>
                </a:moveTo>
                <a:lnTo>
                  <a:pt x="5206428" y="0"/>
                </a:lnTo>
                <a:lnTo>
                  <a:pt x="5206428" y="2380829"/>
                </a:lnTo>
                <a:lnTo>
                  <a:pt x="0" y="2380829"/>
                </a:lnTo>
                <a:lnTo>
                  <a:pt x="0" y="0"/>
                </a:lnTo>
                <a:close/>
              </a:path>
            </a:pathLst>
          </a:custGeom>
          <a:blipFill>
            <a:blip r:embed="rId15"/>
            <a:stretch>
              <a:fillRect/>
            </a:stretch>
          </a:blipFill>
        </p:spPr>
      </p:sp>
      <p:sp>
        <p:nvSpPr>
          <p:cNvPr id="18" name="Freeform 18"/>
          <p:cNvSpPr/>
          <p:nvPr/>
        </p:nvSpPr>
        <p:spPr>
          <a:xfrm>
            <a:off x="9005252" y="4197370"/>
            <a:ext cx="4558316" cy="3347513"/>
          </a:xfrm>
          <a:custGeom>
            <a:avLst/>
            <a:gdLst/>
            <a:ahLst/>
            <a:cxnLst/>
            <a:rect l="l" t="t" r="r" b="b"/>
            <a:pathLst>
              <a:path w="4558316" h="3347513">
                <a:moveTo>
                  <a:pt x="0" y="0"/>
                </a:moveTo>
                <a:lnTo>
                  <a:pt x="4558316" y="0"/>
                </a:lnTo>
                <a:lnTo>
                  <a:pt x="4558316" y="3347514"/>
                </a:lnTo>
                <a:lnTo>
                  <a:pt x="0" y="3347514"/>
                </a:lnTo>
                <a:lnTo>
                  <a:pt x="0" y="0"/>
                </a:lnTo>
                <a:close/>
              </a:path>
            </a:pathLst>
          </a:custGeom>
          <a:blipFill>
            <a:blip r:embed="rId16"/>
            <a:stretch>
              <a:fillRect/>
            </a:stretch>
          </a:blipFill>
        </p:spPr>
      </p:sp>
      <p:sp>
        <p:nvSpPr>
          <p:cNvPr id="19" name="TextBox 19"/>
          <p:cNvSpPr txBox="1"/>
          <p:nvPr/>
        </p:nvSpPr>
        <p:spPr>
          <a:xfrm>
            <a:off x="1028700" y="484080"/>
            <a:ext cx="10255710" cy="584521"/>
          </a:xfrm>
          <a:prstGeom prst="rect">
            <a:avLst/>
          </a:prstGeom>
        </p:spPr>
        <p:txBody>
          <a:bodyPr lIns="0" tIns="0" rIns="0" bIns="0" rtlCol="0" anchor="t">
            <a:spAutoFit/>
          </a:bodyPr>
          <a:lstStyle/>
          <a:p>
            <a:pPr algn="l">
              <a:lnSpc>
                <a:spcPts val="3373"/>
              </a:lnSpc>
            </a:pPr>
            <a:r>
              <a:rPr lang="en-US" sz="6746" b="1">
                <a:solidFill>
                  <a:srgbClr val="003780"/>
                </a:solidFill>
                <a:latin typeface="Montserrat Bold"/>
                <a:ea typeface="Montserrat Bold"/>
                <a:cs typeface="Montserrat Bold"/>
                <a:sym typeface="Montserrat Bold"/>
              </a:rPr>
              <a:t>Data Source and Tools</a:t>
            </a:r>
          </a:p>
        </p:txBody>
      </p:sp>
      <p:sp>
        <p:nvSpPr>
          <p:cNvPr id="20" name="TextBox 20"/>
          <p:cNvSpPr txBox="1"/>
          <p:nvPr/>
        </p:nvSpPr>
        <p:spPr>
          <a:xfrm>
            <a:off x="1918392" y="1802025"/>
            <a:ext cx="102965" cy="772649"/>
          </a:xfrm>
          <a:prstGeom prst="rect">
            <a:avLst/>
          </a:prstGeom>
        </p:spPr>
        <p:txBody>
          <a:bodyPr lIns="0" tIns="0" rIns="0" bIns="0" rtlCol="0" anchor="t">
            <a:spAutoFit/>
          </a:bodyPr>
          <a:lstStyle/>
          <a:p>
            <a:pPr algn="l">
              <a:lnSpc>
                <a:spcPts val="7021"/>
              </a:lnSpc>
            </a:pPr>
            <a:r>
              <a:rPr lang="en-US" sz="2808" b="1">
                <a:solidFill>
                  <a:srgbClr val="000000"/>
                </a:solidFill>
                <a:latin typeface="Montserrat Bold"/>
                <a:ea typeface="Montserrat Bold"/>
                <a:cs typeface="Montserrat Bold"/>
                <a:sym typeface="Montserrat Bold"/>
              </a:rPr>
              <a:t> </a:t>
            </a:r>
          </a:p>
        </p:txBody>
      </p:sp>
      <p:sp>
        <p:nvSpPr>
          <p:cNvPr id="21" name="TextBox 21"/>
          <p:cNvSpPr txBox="1"/>
          <p:nvPr/>
        </p:nvSpPr>
        <p:spPr>
          <a:xfrm>
            <a:off x="193396" y="2010550"/>
            <a:ext cx="16701275" cy="349250"/>
          </a:xfrm>
          <a:prstGeom prst="rect">
            <a:avLst/>
          </a:prstGeom>
        </p:spPr>
        <p:txBody>
          <a:bodyPr lIns="0" tIns="0" rIns="0" bIns="0" rtlCol="0" anchor="t">
            <a:spAutoFit/>
          </a:bodyPr>
          <a:lstStyle/>
          <a:p>
            <a:pPr algn="l">
              <a:lnSpc>
                <a:spcPts val="2800"/>
              </a:lnSpc>
            </a:pPr>
            <a:r>
              <a:rPr lang="en-US" sz="2000">
                <a:solidFill>
                  <a:srgbClr val="000000"/>
                </a:solidFill>
                <a:latin typeface="Arimo"/>
                <a:ea typeface="Arimo"/>
                <a:cs typeface="Arimo"/>
                <a:sym typeface="Arimo"/>
              </a:rPr>
              <a:t>Datasource = </a:t>
            </a:r>
            <a:r>
              <a:rPr lang="en-US" sz="2000" u="sng">
                <a:solidFill>
                  <a:srgbClr val="000000"/>
                </a:solidFill>
                <a:latin typeface="Arimo"/>
                <a:ea typeface="Arimo"/>
                <a:cs typeface="Arimo"/>
                <a:sym typeface="Arimo"/>
                <a:hlinkClick r:id="rId2" tooltip="https://www.kaggle.com/datasets/shivamb/disney-movies-and-tv-shows"/>
              </a:rPr>
              <a:t>https://www.kaggle.com/datasets/shivamb/disney-movies-and-tv-shows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grpSp>
        <p:nvGrpSpPr>
          <p:cNvPr id="4" name="Group 4"/>
          <p:cNvGrpSpPr/>
          <p:nvPr/>
        </p:nvGrpSpPr>
        <p:grpSpPr>
          <a:xfrm>
            <a:off x="97031" y="32442"/>
            <a:ext cx="55540" cy="55550"/>
            <a:chOff x="0" y="0"/>
            <a:chExt cx="55537" cy="55550"/>
          </a:xfrm>
        </p:grpSpPr>
        <p:sp>
          <p:nvSpPr>
            <p:cNvPr id="5" name="Freeform 5"/>
            <p:cNvSpPr/>
            <p:nvPr/>
          </p:nvSpPr>
          <p:spPr>
            <a:xfrm>
              <a:off x="4" y="4"/>
              <a:ext cx="55588" cy="55479"/>
            </a:xfrm>
            <a:custGeom>
              <a:avLst/>
              <a:gdLst/>
              <a:ahLst/>
              <a:cxnLst/>
              <a:rect l="l" t="t" r="r" b="b"/>
              <a:pathLst>
                <a:path w="55588" h="55479">
                  <a:moveTo>
                    <a:pt x="10663" y="49656"/>
                  </a:moveTo>
                  <a:cubicBezTo>
                    <a:pt x="-1528" y="40385"/>
                    <a:pt x="-3560" y="22604"/>
                    <a:pt x="6092" y="10411"/>
                  </a:cubicBezTo>
                  <a:cubicBezTo>
                    <a:pt x="15743" y="-1782"/>
                    <a:pt x="33648" y="-3433"/>
                    <a:pt x="45458" y="6346"/>
                  </a:cubicBezTo>
                  <a:cubicBezTo>
                    <a:pt x="57269" y="16126"/>
                    <a:pt x="58920" y="33526"/>
                    <a:pt x="49522" y="45211"/>
                  </a:cubicBezTo>
                  <a:cubicBezTo>
                    <a:pt x="40125" y="56896"/>
                    <a:pt x="22727" y="58928"/>
                    <a:pt x="10663" y="49656"/>
                  </a:cubicBezTo>
                </a:path>
              </a:pathLst>
            </a:custGeom>
            <a:solidFill>
              <a:srgbClr val="FFFFFF"/>
            </a:solidFill>
          </p:spPr>
        </p:sp>
      </p:grpSp>
      <p:grpSp>
        <p:nvGrpSpPr>
          <p:cNvPr id="6" name="Group 6"/>
          <p:cNvGrpSpPr/>
          <p:nvPr/>
        </p:nvGrpSpPr>
        <p:grpSpPr>
          <a:xfrm>
            <a:off x="2657094" y="61408"/>
            <a:ext cx="30594" cy="30604"/>
            <a:chOff x="0" y="0"/>
            <a:chExt cx="30594" cy="30607"/>
          </a:xfrm>
        </p:grpSpPr>
        <p:sp>
          <p:nvSpPr>
            <p:cNvPr id="7" name="Freeform 7"/>
            <p:cNvSpPr/>
            <p:nvPr/>
          </p:nvSpPr>
          <p:spPr>
            <a:xfrm>
              <a:off x="-28" y="-18"/>
              <a:ext cx="30586" cy="30633"/>
            </a:xfrm>
            <a:custGeom>
              <a:avLst/>
              <a:gdLst/>
              <a:ahLst/>
              <a:cxnLst/>
              <a:rect l="l" t="t" r="r" b="b"/>
              <a:pathLst>
                <a:path w="30586" h="30633">
                  <a:moveTo>
                    <a:pt x="3203" y="24786"/>
                  </a:moveTo>
                  <a:cubicBezTo>
                    <a:pt x="-1877" y="18181"/>
                    <a:pt x="-861" y="8655"/>
                    <a:pt x="5869" y="3320"/>
                  </a:cubicBezTo>
                  <a:cubicBezTo>
                    <a:pt x="12599" y="-2014"/>
                    <a:pt x="22123" y="-744"/>
                    <a:pt x="27329" y="5861"/>
                  </a:cubicBezTo>
                  <a:cubicBezTo>
                    <a:pt x="32536" y="12465"/>
                    <a:pt x="31393" y="22245"/>
                    <a:pt x="24663" y="27453"/>
                  </a:cubicBezTo>
                  <a:cubicBezTo>
                    <a:pt x="17933" y="32660"/>
                    <a:pt x="8409" y="31263"/>
                    <a:pt x="3203" y="24786"/>
                  </a:cubicBezTo>
                </a:path>
              </a:pathLst>
            </a:custGeom>
            <a:solidFill>
              <a:srgbClr val="FFFFFF"/>
            </a:solidFill>
          </p:spPr>
        </p:sp>
      </p:grpSp>
      <p:grpSp>
        <p:nvGrpSpPr>
          <p:cNvPr id="8" name="Group 8"/>
          <p:cNvGrpSpPr/>
          <p:nvPr/>
        </p:nvGrpSpPr>
        <p:grpSpPr>
          <a:xfrm>
            <a:off x="2827582" y="342414"/>
            <a:ext cx="55540" cy="55531"/>
            <a:chOff x="0" y="0"/>
            <a:chExt cx="55537" cy="55524"/>
          </a:xfrm>
        </p:grpSpPr>
        <p:sp>
          <p:nvSpPr>
            <p:cNvPr id="9" name="Freeform 9"/>
            <p:cNvSpPr/>
            <p:nvPr/>
          </p:nvSpPr>
          <p:spPr>
            <a:xfrm>
              <a:off x="-25" y="100"/>
              <a:ext cx="55526" cy="55319"/>
            </a:xfrm>
            <a:custGeom>
              <a:avLst/>
              <a:gdLst/>
              <a:ahLst/>
              <a:cxnLst/>
              <a:rect l="l" t="t" r="r" b="b"/>
              <a:pathLst>
                <a:path w="55526" h="55319">
                  <a:moveTo>
                    <a:pt x="2692" y="39902"/>
                  </a:moveTo>
                  <a:cubicBezTo>
                    <a:pt x="-3785" y="26314"/>
                    <a:pt x="1803" y="9805"/>
                    <a:pt x="15392" y="2948"/>
                  </a:cubicBezTo>
                  <a:cubicBezTo>
                    <a:pt x="28981" y="-3910"/>
                    <a:pt x="46000" y="1551"/>
                    <a:pt x="52731" y="15647"/>
                  </a:cubicBezTo>
                  <a:cubicBezTo>
                    <a:pt x="59462" y="29742"/>
                    <a:pt x="53620" y="46378"/>
                    <a:pt x="39650" y="52728"/>
                  </a:cubicBezTo>
                  <a:cubicBezTo>
                    <a:pt x="25679" y="59077"/>
                    <a:pt x="9296" y="53362"/>
                    <a:pt x="2692" y="39902"/>
                  </a:cubicBezTo>
                </a:path>
              </a:pathLst>
            </a:custGeom>
            <a:solidFill>
              <a:srgbClr val="FFFFFF"/>
            </a:solidFill>
          </p:spPr>
        </p:sp>
      </p:grpSp>
      <p:grpSp>
        <p:nvGrpSpPr>
          <p:cNvPr id="10" name="Group 10"/>
          <p:cNvGrpSpPr/>
          <p:nvPr/>
        </p:nvGrpSpPr>
        <p:grpSpPr>
          <a:xfrm>
            <a:off x="2931404" y="655577"/>
            <a:ext cx="80524" cy="80572"/>
            <a:chOff x="0" y="0"/>
            <a:chExt cx="80518" cy="80569"/>
          </a:xfrm>
        </p:grpSpPr>
        <p:sp>
          <p:nvSpPr>
            <p:cNvPr id="11" name="Freeform 11"/>
            <p:cNvSpPr/>
            <p:nvPr/>
          </p:nvSpPr>
          <p:spPr>
            <a:xfrm>
              <a:off x="34" y="15"/>
              <a:ext cx="80489" cy="80510"/>
            </a:xfrm>
            <a:custGeom>
              <a:avLst/>
              <a:gdLst/>
              <a:ahLst/>
              <a:cxnLst/>
              <a:rect l="l" t="t" r="r" b="b"/>
              <a:pathLst>
                <a:path w="80489" h="80510">
                  <a:moveTo>
                    <a:pt x="1109" y="49767"/>
                  </a:moveTo>
                  <a:cubicBezTo>
                    <a:pt x="-3971" y="28813"/>
                    <a:pt x="8856" y="7224"/>
                    <a:pt x="30317" y="1382"/>
                  </a:cubicBezTo>
                  <a:cubicBezTo>
                    <a:pt x="51779" y="-4460"/>
                    <a:pt x="74003" y="8748"/>
                    <a:pt x="79337" y="30972"/>
                  </a:cubicBezTo>
                  <a:cubicBezTo>
                    <a:pt x="84671" y="53196"/>
                    <a:pt x="70955" y="75040"/>
                    <a:pt x="49113" y="79612"/>
                  </a:cubicBezTo>
                  <a:cubicBezTo>
                    <a:pt x="27270" y="84184"/>
                    <a:pt x="6062" y="70849"/>
                    <a:pt x="1109" y="49767"/>
                  </a:cubicBezTo>
                </a:path>
              </a:pathLst>
            </a:custGeom>
            <a:solidFill>
              <a:srgbClr val="FFFFFF"/>
            </a:solidFill>
          </p:spPr>
        </p:sp>
      </p:grpSp>
      <p:grpSp>
        <p:nvGrpSpPr>
          <p:cNvPr id="12" name="Group 12"/>
          <p:cNvGrpSpPr/>
          <p:nvPr/>
        </p:nvGrpSpPr>
        <p:grpSpPr>
          <a:xfrm>
            <a:off x="2921879" y="1318660"/>
            <a:ext cx="130521" cy="130569"/>
            <a:chOff x="0" y="0"/>
            <a:chExt cx="130518" cy="130569"/>
          </a:xfrm>
        </p:grpSpPr>
        <p:sp>
          <p:nvSpPr>
            <p:cNvPr id="13" name="Freeform 13"/>
            <p:cNvSpPr/>
            <p:nvPr/>
          </p:nvSpPr>
          <p:spPr>
            <a:xfrm>
              <a:off x="8" y="39"/>
              <a:ext cx="130504" cy="130514"/>
            </a:xfrm>
            <a:custGeom>
              <a:avLst/>
              <a:gdLst/>
              <a:ahLst/>
              <a:cxnLst/>
              <a:rect l="l" t="t" r="r" b="b"/>
              <a:pathLst>
                <a:path w="130504" h="130514">
                  <a:moveTo>
                    <a:pt x="51552" y="128737"/>
                  </a:moveTo>
                  <a:cubicBezTo>
                    <a:pt x="16502" y="120228"/>
                    <a:pt x="-5342" y="86320"/>
                    <a:pt x="1135" y="52665"/>
                  </a:cubicBezTo>
                  <a:cubicBezTo>
                    <a:pt x="7612" y="19011"/>
                    <a:pt x="40504" y="-4484"/>
                    <a:pt x="76190" y="723"/>
                  </a:cubicBezTo>
                  <a:cubicBezTo>
                    <a:pt x="111876" y="5803"/>
                    <a:pt x="136386" y="40219"/>
                    <a:pt x="129274" y="77303"/>
                  </a:cubicBezTo>
                  <a:cubicBezTo>
                    <a:pt x="122035" y="114387"/>
                    <a:pt x="86603" y="137246"/>
                    <a:pt x="51679" y="128737"/>
                  </a:cubicBezTo>
                </a:path>
              </a:pathLst>
            </a:custGeom>
            <a:solidFill>
              <a:srgbClr val="FFFFFF"/>
            </a:solidFill>
          </p:spPr>
        </p:sp>
      </p:grpSp>
      <p:grpSp>
        <p:nvGrpSpPr>
          <p:cNvPr id="14" name="Group 14"/>
          <p:cNvGrpSpPr/>
          <p:nvPr/>
        </p:nvGrpSpPr>
        <p:grpSpPr>
          <a:xfrm>
            <a:off x="2963275" y="986161"/>
            <a:ext cx="105556" cy="105594"/>
            <a:chOff x="0" y="0"/>
            <a:chExt cx="105562" cy="105600"/>
          </a:xfrm>
        </p:grpSpPr>
        <p:sp>
          <p:nvSpPr>
            <p:cNvPr id="15" name="Freeform 15"/>
            <p:cNvSpPr/>
            <p:nvPr/>
          </p:nvSpPr>
          <p:spPr>
            <a:xfrm>
              <a:off x="-9" y="30"/>
              <a:ext cx="105561" cy="105518"/>
            </a:xfrm>
            <a:custGeom>
              <a:avLst/>
              <a:gdLst/>
              <a:ahLst/>
              <a:cxnLst/>
              <a:rect l="l" t="t" r="r" b="b"/>
              <a:pathLst>
                <a:path w="105561" h="105518">
                  <a:moveTo>
                    <a:pt x="9" y="53947"/>
                  </a:moveTo>
                  <a:cubicBezTo>
                    <a:pt x="-499" y="26006"/>
                    <a:pt x="21727" y="1875"/>
                    <a:pt x="50684" y="97"/>
                  </a:cubicBezTo>
                  <a:cubicBezTo>
                    <a:pt x="79640" y="-1681"/>
                    <a:pt x="104914" y="21307"/>
                    <a:pt x="105549" y="51661"/>
                  </a:cubicBezTo>
                  <a:cubicBezTo>
                    <a:pt x="106184" y="81761"/>
                    <a:pt x="82180" y="106018"/>
                    <a:pt x="53097" y="105510"/>
                  </a:cubicBezTo>
                  <a:cubicBezTo>
                    <a:pt x="24013" y="105002"/>
                    <a:pt x="644" y="82015"/>
                    <a:pt x="9" y="53947"/>
                  </a:cubicBezTo>
                </a:path>
              </a:pathLst>
            </a:custGeom>
            <a:solidFill>
              <a:srgbClr val="FFFFFF"/>
            </a:solidFill>
          </p:spPr>
        </p:sp>
      </p:grpSp>
      <p:grpSp>
        <p:nvGrpSpPr>
          <p:cNvPr id="16" name="Group 16"/>
          <p:cNvGrpSpPr/>
          <p:nvPr/>
        </p:nvGrpSpPr>
        <p:grpSpPr>
          <a:xfrm>
            <a:off x="3194828" y="153695"/>
            <a:ext cx="69723" cy="69799"/>
            <a:chOff x="0" y="0"/>
            <a:chExt cx="69723" cy="69799"/>
          </a:xfrm>
        </p:grpSpPr>
        <p:sp>
          <p:nvSpPr>
            <p:cNvPr id="17" name="Freeform 17"/>
            <p:cNvSpPr/>
            <p:nvPr/>
          </p:nvSpPr>
          <p:spPr>
            <a:xfrm>
              <a:off x="23" y="6"/>
              <a:ext cx="69640" cy="69832"/>
            </a:xfrm>
            <a:custGeom>
              <a:avLst/>
              <a:gdLst/>
              <a:ahLst/>
              <a:cxnLst/>
              <a:rect l="l" t="t" r="r" b="b"/>
              <a:pathLst>
                <a:path w="69640" h="69832">
                  <a:moveTo>
                    <a:pt x="3406" y="50160"/>
                  </a:moveTo>
                  <a:cubicBezTo>
                    <a:pt x="-4722" y="33269"/>
                    <a:pt x="2136" y="12440"/>
                    <a:pt x="19282" y="3804"/>
                  </a:cubicBezTo>
                  <a:cubicBezTo>
                    <a:pt x="36427" y="-5086"/>
                    <a:pt x="57637" y="2153"/>
                    <a:pt x="66146" y="19806"/>
                  </a:cubicBezTo>
                  <a:cubicBezTo>
                    <a:pt x="74656" y="37460"/>
                    <a:pt x="67035" y="58415"/>
                    <a:pt x="49636" y="66543"/>
                  </a:cubicBezTo>
                  <a:cubicBezTo>
                    <a:pt x="32236" y="74672"/>
                    <a:pt x="11534" y="67178"/>
                    <a:pt x="3406" y="50160"/>
                  </a:cubicBezTo>
                </a:path>
              </a:pathLst>
            </a:custGeom>
            <a:solidFill>
              <a:srgbClr val="FFFFFF"/>
            </a:solidFill>
          </p:spPr>
        </p:sp>
      </p:grpSp>
      <p:grpSp>
        <p:nvGrpSpPr>
          <p:cNvPr id="18" name="Group 18"/>
          <p:cNvGrpSpPr/>
          <p:nvPr/>
        </p:nvGrpSpPr>
        <p:grpSpPr>
          <a:xfrm>
            <a:off x="3325149" y="546916"/>
            <a:ext cx="101156" cy="101117"/>
            <a:chOff x="0" y="0"/>
            <a:chExt cx="101156" cy="101117"/>
          </a:xfrm>
        </p:grpSpPr>
        <p:sp>
          <p:nvSpPr>
            <p:cNvPr id="19" name="Freeform 19"/>
            <p:cNvSpPr/>
            <p:nvPr/>
          </p:nvSpPr>
          <p:spPr>
            <a:xfrm>
              <a:off x="17" y="68"/>
              <a:ext cx="101089" cy="101110"/>
            </a:xfrm>
            <a:custGeom>
              <a:avLst/>
              <a:gdLst/>
              <a:ahLst/>
              <a:cxnLst/>
              <a:rect l="l" t="t" r="r" b="b"/>
              <a:pathLst>
                <a:path w="101089" h="101110">
                  <a:moveTo>
                    <a:pt x="1380" y="62414"/>
                  </a:moveTo>
                  <a:cubicBezTo>
                    <a:pt x="-4970" y="35999"/>
                    <a:pt x="11159" y="8949"/>
                    <a:pt x="38084" y="1710"/>
                  </a:cubicBezTo>
                  <a:cubicBezTo>
                    <a:pt x="65008" y="-5529"/>
                    <a:pt x="93076" y="10854"/>
                    <a:pt x="99680" y="38793"/>
                  </a:cubicBezTo>
                  <a:cubicBezTo>
                    <a:pt x="106284" y="66732"/>
                    <a:pt x="89012" y="94290"/>
                    <a:pt x="61706" y="100005"/>
                  </a:cubicBezTo>
                  <a:cubicBezTo>
                    <a:pt x="34401" y="105719"/>
                    <a:pt x="7730" y="88702"/>
                    <a:pt x="1380" y="62414"/>
                  </a:cubicBezTo>
                </a:path>
              </a:pathLst>
            </a:custGeom>
            <a:solidFill>
              <a:srgbClr val="FFFFFF"/>
            </a:solidFill>
          </p:spPr>
        </p:sp>
      </p:grpSp>
      <p:grpSp>
        <p:nvGrpSpPr>
          <p:cNvPr id="20" name="Group 20"/>
          <p:cNvGrpSpPr/>
          <p:nvPr/>
        </p:nvGrpSpPr>
        <p:grpSpPr>
          <a:xfrm>
            <a:off x="3365173" y="961882"/>
            <a:ext cx="132531" cy="132626"/>
            <a:chOff x="0" y="0"/>
            <a:chExt cx="132525" cy="132626"/>
          </a:xfrm>
        </p:grpSpPr>
        <p:sp>
          <p:nvSpPr>
            <p:cNvPr id="21" name="Freeform 21"/>
            <p:cNvSpPr/>
            <p:nvPr/>
          </p:nvSpPr>
          <p:spPr>
            <a:xfrm>
              <a:off x="-15" y="1"/>
              <a:ext cx="132485" cy="132721"/>
            </a:xfrm>
            <a:custGeom>
              <a:avLst/>
              <a:gdLst/>
              <a:ahLst/>
              <a:cxnLst/>
              <a:rect l="l" t="t" r="r" b="b"/>
              <a:pathLst>
                <a:path w="132485" h="132721">
                  <a:moveTo>
                    <a:pt x="15" y="67818"/>
                  </a:moveTo>
                  <a:cubicBezTo>
                    <a:pt x="-747" y="32638"/>
                    <a:pt x="27192" y="2412"/>
                    <a:pt x="63767" y="126"/>
                  </a:cubicBezTo>
                  <a:cubicBezTo>
                    <a:pt x="100341" y="-2160"/>
                    <a:pt x="131709" y="26923"/>
                    <a:pt x="132471" y="65024"/>
                  </a:cubicBezTo>
                  <a:cubicBezTo>
                    <a:pt x="133233" y="102997"/>
                    <a:pt x="103262" y="133223"/>
                    <a:pt x="66561" y="132715"/>
                  </a:cubicBezTo>
                  <a:cubicBezTo>
                    <a:pt x="29859" y="132207"/>
                    <a:pt x="904" y="102997"/>
                    <a:pt x="15" y="67818"/>
                  </a:cubicBezTo>
                </a:path>
              </a:pathLst>
            </a:custGeom>
            <a:solidFill>
              <a:srgbClr val="FFFFFF"/>
            </a:solidFill>
          </p:spPr>
        </p:sp>
      </p:grpSp>
      <p:grpSp>
        <p:nvGrpSpPr>
          <p:cNvPr id="22" name="Group 22"/>
          <p:cNvGrpSpPr/>
          <p:nvPr/>
        </p:nvGrpSpPr>
        <p:grpSpPr>
          <a:xfrm>
            <a:off x="3665430" y="-87239"/>
            <a:ext cx="87954" cy="87916"/>
            <a:chOff x="0" y="0"/>
            <a:chExt cx="87948" cy="87909"/>
          </a:xfrm>
        </p:grpSpPr>
        <p:sp>
          <p:nvSpPr>
            <p:cNvPr id="23" name="Freeform 23"/>
            <p:cNvSpPr/>
            <p:nvPr/>
          </p:nvSpPr>
          <p:spPr>
            <a:xfrm>
              <a:off x="36321" y="87246"/>
              <a:ext cx="15493" cy="635"/>
            </a:xfrm>
            <a:custGeom>
              <a:avLst/>
              <a:gdLst/>
              <a:ahLst/>
              <a:cxnLst/>
              <a:rect l="l" t="t" r="r" b="b"/>
              <a:pathLst>
                <a:path w="15493" h="635">
                  <a:moveTo>
                    <a:pt x="0" y="0"/>
                  </a:moveTo>
                  <a:cubicBezTo>
                    <a:pt x="2539" y="381"/>
                    <a:pt x="5079" y="635"/>
                    <a:pt x="7746" y="635"/>
                  </a:cubicBezTo>
                  <a:cubicBezTo>
                    <a:pt x="10413" y="635"/>
                    <a:pt x="12826" y="381"/>
                    <a:pt x="15493" y="0"/>
                  </a:cubicBezTo>
                  <a:close/>
                </a:path>
              </a:pathLst>
            </a:custGeom>
            <a:solidFill>
              <a:srgbClr val="FFFFFF"/>
            </a:solidFill>
          </p:spPr>
        </p:sp>
      </p:grpSp>
      <p:grpSp>
        <p:nvGrpSpPr>
          <p:cNvPr id="24" name="Group 24"/>
          <p:cNvGrpSpPr/>
          <p:nvPr/>
        </p:nvGrpSpPr>
        <p:grpSpPr>
          <a:xfrm>
            <a:off x="3829822" y="408375"/>
            <a:ext cx="127483" cy="127587"/>
            <a:chOff x="0" y="0"/>
            <a:chExt cx="127483" cy="127597"/>
          </a:xfrm>
        </p:grpSpPr>
        <p:sp>
          <p:nvSpPr>
            <p:cNvPr id="25" name="Freeform 25"/>
            <p:cNvSpPr/>
            <p:nvPr/>
          </p:nvSpPr>
          <p:spPr>
            <a:xfrm>
              <a:off x="39" y="-35"/>
              <a:ext cx="127527" cy="127689"/>
            </a:xfrm>
            <a:custGeom>
              <a:avLst/>
              <a:gdLst/>
              <a:ahLst/>
              <a:cxnLst/>
              <a:rect l="l" t="t" r="r" b="b"/>
              <a:pathLst>
                <a:path w="127527" h="127689">
                  <a:moveTo>
                    <a:pt x="1739" y="78905"/>
                  </a:moveTo>
                  <a:cubicBezTo>
                    <a:pt x="-6262" y="45757"/>
                    <a:pt x="14058" y="11465"/>
                    <a:pt x="47968" y="2194"/>
                  </a:cubicBezTo>
                  <a:cubicBezTo>
                    <a:pt x="81877" y="-7077"/>
                    <a:pt x="117184" y="13879"/>
                    <a:pt x="125693" y="49186"/>
                  </a:cubicBezTo>
                  <a:cubicBezTo>
                    <a:pt x="134202" y="84494"/>
                    <a:pt x="112231" y="119039"/>
                    <a:pt x="77686" y="126278"/>
                  </a:cubicBezTo>
                  <a:cubicBezTo>
                    <a:pt x="43269" y="133517"/>
                    <a:pt x="9613" y="112181"/>
                    <a:pt x="1739" y="78905"/>
                  </a:cubicBezTo>
                </a:path>
              </a:pathLst>
            </a:custGeom>
            <a:solidFill>
              <a:srgbClr val="FFFFFF"/>
            </a:solidFill>
          </p:spPr>
        </p:sp>
      </p:grpSp>
      <p:grpSp>
        <p:nvGrpSpPr>
          <p:cNvPr id="26" name="Group 26"/>
          <p:cNvGrpSpPr/>
          <p:nvPr/>
        </p:nvGrpSpPr>
        <p:grpSpPr>
          <a:xfrm>
            <a:off x="3880266" y="931764"/>
            <a:ext cx="167059" cy="167135"/>
            <a:chOff x="0" y="0"/>
            <a:chExt cx="167068" cy="167145"/>
          </a:xfrm>
        </p:grpSpPr>
        <p:sp>
          <p:nvSpPr>
            <p:cNvPr id="27" name="Freeform 27"/>
            <p:cNvSpPr/>
            <p:nvPr/>
          </p:nvSpPr>
          <p:spPr>
            <a:xfrm>
              <a:off x="-17" y="-36"/>
              <a:ext cx="167178" cy="167055"/>
            </a:xfrm>
            <a:custGeom>
              <a:avLst/>
              <a:gdLst/>
              <a:ahLst/>
              <a:cxnLst/>
              <a:rect l="l" t="t" r="r" b="b"/>
              <a:pathLst>
                <a:path w="167178" h="167055">
                  <a:moveTo>
                    <a:pt x="17" y="85383"/>
                  </a:moveTo>
                  <a:cubicBezTo>
                    <a:pt x="-872" y="41058"/>
                    <a:pt x="34181" y="2830"/>
                    <a:pt x="80410" y="163"/>
                  </a:cubicBezTo>
                  <a:cubicBezTo>
                    <a:pt x="126386" y="-2758"/>
                    <a:pt x="166011" y="33819"/>
                    <a:pt x="167154" y="81700"/>
                  </a:cubicBezTo>
                  <a:cubicBezTo>
                    <a:pt x="168297" y="129580"/>
                    <a:pt x="130196" y="167682"/>
                    <a:pt x="84093" y="167047"/>
                  </a:cubicBezTo>
                  <a:cubicBezTo>
                    <a:pt x="37864" y="166412"/>
                    <a:pt x="1033" y="129834"/>
                    <a:pt x="17" y="85383"/>
                  </a:cubicBezTo>
                </a:path>
              </a:pathLst>
            </a:custGeom>
            <a:solidFill>
              <a:srgbClr val="FFFFFF"/>
            </a:solidFill>
          </p:spPr>
        </p:sp>
      </p:grpSp>
      <p:grpSp>
        <p:nvGrpSpPr>
          <p:cNvPr id="28" name="Group 28"/>
          <p:cNvGrpSpPr/>
          <p:nvPr/>
        </p:nvGrpSpPr>
        <p:grpSpPr>
          <a:xfrm>
            <a:off x="4477903" y="230591"/>
            <a:ext cx="161382" cy="161458"/>
            <a:chOff x="0" y="0"/>
            <a:chExt cx="161392" cy="161455"/>
          </a:xfrm>
        </p:grpSpPr>
        <p:sp>
          <p:nvSpPr>
            <p:cNvPr id="29" name="Freeform 29"/>
            <p:cNvSpPr/>
            <p:nvPr/>
          </p:nvSpPr>
          <p:spPr>
            <a:xfrm>
              <a:off x="-10" y="-88"/>
              <a:ext cx="161436" cy="161509"/>
            </a:xfrm>
            <a:custGeom>
              <a:avLst/>
              <a:gdLst/>
              <a:ahLst/>
              <a:cxnLst/>
              <a:rect l="l" t="t" r="r" b="b"/>
              <a:pathLst>
                <a:path w="161436" h="161509">
                  <a:moveTo>
                    <a:pt x="2169" y="99908"/>
                  </a:moveTo>
                  <a:cubicBezTo>
                    <a:pt x="-7864" y="57872"/>
                    <a:pt x="17791" y="14439"/>
                    <a:pt x="60845" y="2755"/>
                  </a:cubicBezTo>
                  <a:cubicBezTo>
                    <a:pt x="103899" y="-8929"/>
                    <a:pt x="148478" y="17614"/>
                    <a:pt x="159146" y="62190"/>
                  </a:cubicBezTo>
                  <a:cubicBezTo>
                    <a:pt x="169814" y="106766"/>
                    <a:pt x="142128" y="150581"/>
                    <a:pt x="98565" y="159724"/>
                  </a:cubicBezTo>
                  <a:cubicBezTo>
                    <a:pt x="54876" y="168868"/>
                    <a:pt x="12329" y="141945"/>
                    <a:pt x="2169" y="99908"/>
                  </a:cubicBezTo>
                </a:path>
              </a:pathLst>
            </a:custGeom>
            <a:solidFill>
              <a:srgbClr val="FFFFFF"/>
            </a:solidFill>
          </p:spPr>
        </p:sp>
      </p:grpSp>
      <p:grpSp>
        <p:nvGrpSpPr>
          <p:cNvPr id="30" name="Group 30"/>
          <p:cNvGrpSpPr/>
          <p:nvPr/>
        </p:nvGrpSpPr>
        <p:grpSpPr>
          <a:xfrm>
            <a:off x="4541796" y="892969"/>
            <a:ext cx="211426" cy="211503"/>
            <a:chOff x="0" y="0"/>
            <a:chExt cx="211430" cy="211506"/>
          </a:xfrm>
        </p:grpSpPr>
        <p:sp>
          <p:nvSpPr>
            <p:cNvPr id="31" name="Freeform 31"/>
            <p:cNvSpPr/>
            <p:nvPr/>
          </p:nvSpPr>
          <p:spPr>
            <a:xfrm>
              <a:off x="-26" y="-44"/>
              <a:ext cx="211512" cy="211508"/>
            </a:xfrm>
            <a:custGeom>
              <a:avLst/>
              <a:gdLst/>
              <a:ahLst/>
              <a:cxnLst/>
              <a:rect l="l" t="t" r="r" b="b"/>
              <a:pathLst>
                <a:path w="211512" h="211508">
                  <a:moveTo>
                    <a:pt x="31777" y="180515"/>
                  </a:moveTo>
                  <a:cubicBezTo>
                    <a:pt x="12599" y="161719"/>
                    <a:pt x="661" y="136445"/>
                    <a:pt x="26" y="108124"/>
                  </a:cubicBezTo>
                  <a:cubicBezTo>
                    <a:pt x="-609" y="79802"/>
                    <a:pt x="10313" y="54020"/>
                    <a:pt x="28475" y="34462"/>
                  </a:cubicBezTo>
                  <a:cubicBezTo>
                    <a:pt x="46890" y="14903"/>
                    <a:pt x="72545" y="1695"/>
                    <a:pt x="101756" y="171"/>
                  </a:cubicBezTo>
                  <a:cubicBezTo>
                    <a:pt x="130840" y="-1480"/>
                    <a:pt x="158018" y="8934"/>
                    <a:pt x="177958" y="27731"/>
                  </a:cubicBezTo>
                  <a:cubicBezTo>
                    <a:pt x="197897" y="46527"/>
                    <a:pt x="210852" y="73325"/>
                    <a:pt x="211487" y="103424"/>
                  </a:cubicBezTo>
                  <a:cubicBezTo>
                    <a:pt x="212122" y="133524"/>
                    <a:pt x="200438" y="160957"/>
                    <a:pt x="181260" y="180515"/>
                  </a:cubicBezTo>
                  <a:cubicBezTo>
                    <a:pt x="162082" y="200074"/>
                    <a:pt x="135666" y="211758"/>
                    <a:pt x="106455" y="211504"/>
                  </a:cubicBezTo>
                  <a:cubicBezTo>
                    <a:pt x="77244" y="211250"/>
                    <a:pt x="50954" y="199185"/>
                    <a:pt x="31777" y="180515"/>
                  </a:cubicBezTo>
                </a:path>
              </a:pathLst>
            </a:custGeom>
            <a:solidFill>
              <a:srgbClr val="FFFFFF"/>
            </a:solidFill>
          </p:spPr>
        </p:sp>
      </p:grpSp>
      <p:sp>
        <p:nvSpPr>
          <p:cNvPr id="32" name="Freeform 32"/>
          <p:cNvSpPr/>
          <p:nvPr/>
        </p:nvSpPr>
        <p:spPr>
          <a:xfrm>
            <a:off x="4994672" y="8631298"/>
            <a:ext cx="11534965" cy="1658750"/>
          </a:xfrm>
          <a:custGeom>
            <a:avLst/>
            <a:gdLst/>
            <a:ahLst/>
            <a:cxnLst/>
            <a:rect l="l" t="t" r="r" b="b"/>
            <a:pathLst>
              <a:path w="11534965" h="1658750">
                <a:moveTo>
                  <a:pt x="0" y="0"/>
                </a:moveTo>
                <a:lnTo>
                  <a:pt x="11534965" y="0"/>
                </a:lnTo>
                <a:lnTo>
                  <a:pt x="11534965" y="1658750"/>
                </a:lnTo>
                <a:lnTo>
                  <a:pt x="0" y="16587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3" name="Freeform 33"/>
          <p:cNvSpPr/>
          <p:nvPr/>
        </p:nvSpPr>
        <p:spPr>
          <a:xfrm>
            <a:off x="-601008" y="1315755"/>
            <a:ext cx="6268202" cy="4297632"/>
          </a:xfrm>
          <a:custGeom>
            <a:avLst/>
            <a:gdLst/>
            <a:ahLst/>
            <a:cxnLst/>
            <a:rect l="l" t="t" r="r" b="b"/>
            <a:pathLst>
              <a:path w="6268202" h="4297632">
                <a:moveTo>
                  <a:pt x="0" y="0"/>
                </a:moveTo>
                <a:lnTo>
                  <a:pt x="6268202" y="0"/>
                </a:lnTo>
                <a:lnTo>
                  <a:pt x="6268202" y="4297632"/>
                </a:lnTo>
                <a:lnTo>
                  <a:pt x="0" y="429763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4" name="Group 34"/>
          <p:cNvGrpSpPr/>
          <p:nvPr/>
        </p:nvGrpSpPr>
        <p:grpSpPr>
          <a:xfrm>
            <a:off x="5297014" y="5867"/>
            <a:ext cx="204149" cy="204226"/>
            <a:chOff x="0" y="0"/>
            <a:chExt cx="204153" cy="204229"/>
          </a:xfrm>
        </p:grpSpPr>
        <p:sp>
          <p:nvSpPr>
            <p:cNvPr id="35" name="Freeform 35"/>
            <p:cNvSpPr/>
            <p:nvPr/>
          </p:nvSpPr>
          <p:spPr>
            <a:xfrm>
              <a:off x="50" y="78"/>
              <a:ext cx="204137" cy="204112"/>
            </a:xfrm>
            <a:custGeom>
              <a:avLst/>
              <a:gdLst/>
              <a:ahLst/>
              <a:cxnLst/>
              <a:rect l="l" t="t" r="r" b="b"/>
              <a:pathLst>
                <a:path w="204137" h="204112">
                  <a:moveTo>
                    <a:pt x="2744" y="126291"/>
                  </a:moveTo>
                  <a:cubicBezTo>
                    <a:pt x="-9956" y="72949"/>
                    <a:pt x="22556" y="18211"/>
                    <a:pt x="77040" y="3478"/>
                  </a:cubicBezTo>
                  <a:cubicBezTo>
                    <a:pt x="131523" y="-11254"/>
                    <a:pt x="187785" y="22148"/>
                    <a:pt x="201247" y="78537"/>
                  </a:cubicBezTo>
                  <a:cubicBezTo>
                    <a:pt x="214709" y="134927"/>
                    <a:pt x="179784" y="190300"/>
                    <a:pt x="124665" y="201858"/>
                  </a:cubicBezTo>
                  <a:cubicBezTo>
                    <a:pt x="69547" y="213415"/>
                    <a:pt x="15444" y="179378"/>
                    <a:pt x="2744" y="126291"/>
                  </a:cubicBezTo>
                </a:path>
              </a:pathLst>
            </a:custGeom>
            <a:solidFill>
              <a:srgbClr val="FFFFFF"/>
            </a:solidFill>
          </p:spPr>
        </p:sp>
      </p:grpSp>
      <p:grpSp>
        <p:nvGrpSpPr>
          <p:cNvPr id="36" name="Group 36"/>
          <p:cNvGrpSpPr/>
          <p:nvPr/>
        </p:nvGrpSpPr>
        <p:grpSpPr>
          <a:xfrm>
            <a:off x="5377834" y="843867"/>
            <a:ext cx="267519" cy="267672"/>
            <a:chOff x="0" y="0"/>
            <a:chExt cx="267513" cy="267665"/>
          </a:xfrm>
        </p:grpSpPr>
        <p:sp>
          <p:nvSpPr>
            <p:cNvPr id="37" name="Freeform 37"/>
            <p:cNvSpPr/>
            <p:nvPr/>
          </p:nvSpPr>
          <p:spPr>
            <a:xfrm>
              <a:off x="-30" y="49"/>
              <a:ext cx="267519" cy="267542"/>
            </a:xfrm>
            <a:custGeom>
              <a:avLst/>
              <a:gdLst/>
              <a:ahLst/>
              <a:cxnLst/>
              <a:rect l="l" t="t" r="r" b="b"/>
              <a:pathLst>
                <a:path w="267519" h="267542">
                  <a:moveTo>
                    <a:pt x="40289" y="228293"/>
                  </a:moveTo>
                  <a:cubicBezTo>
                    <a:pt x="16032" y="204671"/>
                    <a:pt x="792" y="172541"/>
                    <a:pt x="30" y="136855"/>
                  </a:cubicBezTo>
                  <a:cubicBezTo>
                    <a:pt x="-732" y="101168"/>
                    <a:pt x="12984" y="68403"/>
                    <a:pt x="36098" y="43511"/>
                  </a:cubicBezTo>
                  <a:cubicBezTo>
                    <a:pt x="59212" y="18874"/>
                    <a:pt x="91723" y="2237"/>
                    <a:pt x="128553" y="205"/>
                  </a:cubicBezTo>
                  <a:cubicBezTo>
                    <a:pt x="165383" y="-1827"/>
                    <a:pt x="199800" y="11381"/>
                    <a:pt x="225073" y="35002"/>
                  </a:cubicBezTo>
                  <a:cubicBezTo>
                    <a:pt x="250345" y="58624"/>
                    <a:pt x="266728" y="92786"/>
                    <a:pt x="267490" y="130886"/>
                  </a:cubicBezTo>
                  <a:cubicBezTo>
                    <a:pt x="268252" y="168985"/>
                    <a:pt x="253647" y="203782"/>
                    <a:pt x="229390" y="228420"/>
                  </a:cubicBezTo>
                  <a:cubicBezTo>
                    <a:pt x="205261" y="253185"/>
                    <a:pt x="171479" y="267916"/>
                    <a:pt x="134522" y="267535"/>
                  </a:cubicBezTo>
                  <a:cubicBezTo>
                    <a:pt x="97565" y="267154"/>
                    <a:pt x="64419" y="251915"/>
                    <a:pt x="40162" y="228293"/>
                  </a:cubicBezTo>
                </a:path>
              </a:pathLst>
            </a:custGeom>
            <a:solidFill>
              <a:srgbClr val="FFFFFF"/>
            </a:solidFill>
          </p:spPr>
        </p:sp>
      </p:grpSp>
      <p:grpSp>
        <p:nvGrpSpPr>
          <p:cNvPr id="38" name="Group 38"/>
          <p:cNvGrpSpPr/>
          <p:nvPr/>
        </p:nvGrpSpPr>
        <p:grpSpPr>
          <a:xfrm>
            <a:off x="9544383" y="0"/>
            <a:ext cx="8743617" cy="10287000"/>
            <a:chOff x="0" y="0"/>
            <a:chExt cx="11658156" cy="13716000"/>
          </a:xfrm>
        </p:grpSpPr>
        <p:sp>
          <p:nvSpPr>
            <p:cNvPr id="39" name="Freeform 39"/>
            <p:cNvSpPr/>
            <p:nvPr/>
          </p:nvSpPr>
          <p:spPr>
            <a:xfrm>
              <a:off x="0" y="0"/>
              <a:ext cx="11658092" cy="13716000"/>
            </a:xfrm>
            <a:custGeom>
              <a:avLst/>
              <a:gdLst/>
              <a:ahLst/>
              <a:cxnLst/>
              <a:rect l="l" t="t" r="r" b="b"/>
              <a:pathLst>
                <a:path w="11658092" h="13716000">
                  <a:moveTo>
                    <a:pt x="4241419" y="0"/>
                  </a:moveTo>
                  <a:cubicBezTo>
                    <a:pt x="1711833" y="1423035"/>
                    <a:pt x="0" y="4157345"/>
                    <a:pt x="0" y="7296785"/>
                  </a:cubicBezTo>
                  <a:cubicBezTo>
                    <a:pt x="0" y="9878441"/>
                    <a:pt x="1157605" y="12186158"/>
                    <a:pt x="2975610" y="13716000"/>
                  </a:cubicBezTo>
                  <a:lnTo>
                    <a:pt x="11658092" y="13716000"/>
                  </a:lnTo>
                  <a:lnTo>
                    <a:pt x="11658092" y="0"/>
                  </a:lnTo>
                  <a:close/>
                </a:path>
              </a:pathLst>
            </a:custGeom>
            <a:blipFill>
              <a:blip r:embed="rId5"/>
              <a:stretch>
                <a:fillRect l="-50396" t="-7607" r="-91740" b="-13815"/>
              </a:stretch>
            </a:blipFill>
          </p:spPr>
        </p:sp>
      </p:grpSp>
      <p:sp>
        <p:nvSpPr>
          <p:cNvPr id="40" name="Freeform 40"/>
          <p:cNvSpPr/>
          <p:nvPr/>
        </p:nvSpPr>
        <p:spPr>
          <a:xfrm>
            <a:off x="4688357" y="8790346"/>
            <a:ext cx="1879321" cy="1563205"/>
          </a:xfrm>
          <a:custGeom>
            <a:avLst/>
            <a:gdLst/>
            <a:ahLst/>
            <a:cxnLst/>
            <a:rect l="l" t="t" r="r" b="b"/>
            <a:pathLst>
              <a:path w="1879321" h="1563205">
                <a:moveTo>
                  <a:pt x="0" y="0"/>
                </a:moveTo>
                <a:lnTo>
                  <a:pt x="1879321" y="0"/>
                </a:lnTo>
                <a:lnTo>
                  <a:pt x="1879321" y="1563205"/>
                </a:lnTo>
                <a:lnTo>
                  <a:pt x="0" y="156320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1" name="Freeform 41"/>
          <p:cNvSpPr/>
          <p:nvPr/>
        </p:nvSpPr>
        <p:spPr>
          <a:xfrm>
            <a:off x="-63503" y="-764086"/>
            <a:ext cx="20742916" cy="13524519"/>
          </a:xfrm>
          <a:custGeom>
            <a:avLst/>
            <a:gdLst/>
            <a:ahLst/>
            <a:cxnLst/>
            <a:rect l="l" t="t" r="r" b="b"/>
            <a:pathLst>
              <a:path w="20742916" h="13524519">
                <a:moveTo>
                  <a:pt x="0" y="0"/>
                </a:moveTo>
                <a:lnTo>
                  <a:pt x="20742916" y="0"/>
                </a:lnTo>
                <a:lnTo>
                  <a:pt x="20742916" y="13524519"/>
                </a:lnTo>
                <a:lnTo>
                  <a:pt x="0" y="135245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42" name="TextBox 42"/>
          <p:cNvSpPr txBox="1"/>
          <p:nvPr/>
        </p:nvSpPr>
        <p:spPr>
          <a:xfrm>
            <a:off x="1028700" y="3515830"/>
            <a:ext cx="5451681" cy="3600098"/>
          </a:xfrm>
          <a:prstGeom prst="rect">
            <a:avLst/>
          </a:prstGeom>
        </p:spPr>
        <p:txBody>
          <a:bodyPr lIns="0" tIns="0" rIns="0" bIns="0" rtlCol="0" anchor="t">
            <a:spAutoFit/>
          </a:bodyPr>
          <a:lstStyle/>
          <a:p>
            <a:pPr algn="l">
              <a:lnSpc>
                <a:spcPts val="13797"/>
              </a:lnSpc>
            </a:pPr>
            <a:r>
              <a:rPr lang="en-US" sz="9897" b="1">
                <a:solidFill>
                  <a:srgbClr val="0C3E80"/>
                </a:solidFill>
                <a:latin typeface="Poppins Bold"/>
                <a:ea typeface="Poppins Bold"/>
                <a:cs typeface="Poppins Bold"/>
                <a:sym typeface="Poppins Bold"/>
              </a:rPr>
              <a:t>PROSES KINERJA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grpSp>
        <p:nvGrpSpPr>
          <p:cNvPr id="4" name="Group 4"/>
          <p:cNvGrpSpPr/>
          <p:nvPr/>
        </p:nvGrpSpPr>
        <p:grpSpPr>
          <a:xfrm>
            <a:off x="10563139" y="-63503"/>
            <a:ext cx="7791402" cy="10417045"/>
            <a:chOff x="0" y="0"/>
            <a:chExt cx="7791399" cy="10417048"/>
          </a:xfrm>
        </p:grpSpPr>
        <p:sp>
          <p:nvSpPr>
            <p:cNvPr id="5" name="Freeform 5"/>
            <p:cNvSpPr/>
            <p:nvPr/>
          </p:nvSpPr>
          <p:spPr>
            <a:xfrm>
              <a:off x="957834" y="5863971"/>
              <a:ext cx="6434958" cy="4486529"/>
            </a:xfrm>
            <a:custGeom>
              <a:avLst/>
              <a:gdLst/>
              <a:ahLst/>
              <a:cxnLst/>
              <a:rect l="l" t="t" r="r" b="b"/>
              <a:pathLst>
                <a:path w="6434958" h="4486529">
                  <a:moveTo>
                    <a:pt x="6121904" y="0"/>
                  </a:moveTo>
                  <a:cubicBezTo>
                    <a:pt x="6103235" y="40386"/>
                    <a:pt x="6084438" y="80772"/>
                    <a:pt x="6064372" y="121539"/>
                  </a:cubicBezTo>
                  <a:cubicBezTo>
                    <a:pt x="5407275" y="1473073"/>
                    <a:pt x="4175376" y="2821178"/>
                    <a:pt x="1819147" y="3844544"/>
                  </a:cubicBezTo>
                  <a:cubicBezTo>
                    <a:pt x="1275206" y="4080637"/>
                    <a:pt x="662812" y="4297045"/>
                    <a:pt x="0" y="4486529"/>
                  </a:cubicBezTo>
                  <a:lnTo>
                    <a:pt x="4260592" y="4486529"/>
                  </a:lnTo>
                  <a:cubicBezTo>
                    <a:pt x="4519038" y="4296918"/>
                    <a:pt x="4757924" y="4080637"/>
                    <a:pt x="4970141" y="3844544"/>
                  </a:cubicBezTo>
                  <a:cubicBezTo>
                    <a:pt x="5698104" y="3033395"/>
                    <a:pt x="6150859" y="2018538"/>
                    <a:pt x="6434958" y="959739"/>
                  </a:cubicBezTo>
                  <a:cubicBezTo>
                    <a:pt x="6347836" y="634365"/>
                    <a:pt x="6244458" y="312547"/>
                    <a:pt x="6121903" y="0"/>
                  </a:cubicBezTo>
                  <a:close/>
                </a:path>
              </a:pathLst>
            </a:custGeom>
            <a:solidFill>
              <a:srgbClr val="003780"/>
            </a:solidFill>
          </p:spPr>
        </p:sp>
        <p:sp>
          <p:nvSpPr>
            <p:cNvPr id="6" name="Freeform 6"/>
            <p:cNvSpPr/>
            <p:nvPr/>
          </p:nvSpPr>
          <p:spPr>
            <a:xfrm>
              <a:off x="4403849" y="6823710"/>
              <a:ext cx="3321048" cy="3526790"/>
            </a:xfrm>
            <a:custGeom>
              <a:avLst/>
              <a:gdLst/>
              <a:ahLst/>
              <a:cxnLst/>
              <a:rect l="l" t="t" r="r" b="b"/>
              <a:pathLst>
                <a:path w="3321048" h="3526790">
                  <a:moveTo>
                    <a:pt x="2988943" y="0"/>
                  </a:moveTo>
                  <a:cubicBezTo>
                    <a:pt x="2745230" y="908685"/>
                    <a:pt x="1361820" y="2851023"/>
                    <a:pt x="0" y="3526790"/>
                  </a:cubicBezTo>
                  <a:lnTo>
                    <a:pt x="3321048" y="3526790"/>
                  </a:lnTo>
                  <a:lnTo>
                    <a:pt x="3321048" y="1723771"/>
                  </a:lnTo>
                  <a:cubicBezTo>
                    <a:pt x="3281170" y="1427480"/>
                    <a:pt x="3235069" y="1132078"/>
                    <a:pt x="3179443" y="838201"/>
                  </a:cubicBezTo>
                  <a:cubicBezTo>
                    <a:pt x="3126230" y="557657"/>
                    <a:pt x="3063239" y="277115"/>
                    <a:pt x="2988943" y="1"/>
                  </a:cubicBezTo>
                  <a:close/>
                </a:path>
              </a:pathLst>
            </a:custGeom>
            <a:solidFill>
              <a:srgbClr val="5CE1E6"/>
            </a:solidFill>
          </p:spPr>
        </p:sp>
        <p:sp>
          <p:nvSpPr>
            <p:cNvPr id="7" name="Freeform 7"/>
            <p:cNvSpPr/>
            <p:nvPr/>
          </p:nvSpPr>
          <p:spPr>
            <a:xfrm>
              <a:off x="6384032" y="6823710"/>
              <a:ext cx="1340865" cy="3526790"/>
            </a:xfrm>
            <a:custGeom>
              <a:avLst/>
              <a:gdLst/>
              <a:ahLst/>
              <a:cxnLst/>
              <a:rect l="l" t="t" r="r" b="b"/>
              <a:pathLst>
                <a:path w="1340865" h="3526790">
                  <a:moveTo>
                    <a:pt x="1243457" y="0"/>
                  </a:moveTo>
                  <a:cubicBezTo>
                    <a:pt x="1081024" y="1058672"/>
                    <a:pt x="822198" y="2073656"/>
                    <a:pt x="405764" y="2884805"/>
                  </a:cubicBezTo>
                  <a:cubicBezTo>
                    <a:pt x="284480" y="3121279"/>
                    <a:pt x="147828" y="3337433"/>
                    <a:pt x="0" y="3526790"/>
                  </a:cubicBezTo>
                  <a:lnTo>
                    <a:pt x="1340865" y="3526790"/>
                  </a:lnTo>
                  <a:lnTo>
                    <a:pt x="1340865" y="735076"/>
                  </a:lnTo>
                  <a:cubicBezTo>
                    <a:pt x="1312925" y="488950"/>
                    <a:pt x="1280668" y="243205"/>
                    <a:pt x="1243584" y="0"/>
                  </a:cubicBezTo>
                  <a:close/>
                </a:path>
              </a:pathLst>
            </a:custGeom>
            <a:solidFill>
              <a:srgbClr val="9CFBED"/>
            </a:solidFill>
          </p:spPr>
        </p:sp>
        <p:sp>
          <p:nvSpPr>
            <p:cNvPr id="8" name="Freeform 8"/>
            <p:cNvSpPr/>
            <p:nvPr/>
          </p:nvSpPr>
          <p:spPr>
            <a:xfrm>
              <a:off x="5509105" y="1652270"/>
              <a:ext cx="2215919" cy="6896481"/>
            </a:xfrm>
            <a:custGeom>
              <a:avLst/>
              <a:gdLst/>
              <a:ahLst/>
              <a:cxnLst/>
              <a:rect l="l" t="t" r="r" b="b"/>
              <a:pathLst>
                <a:path w="2215919" h="6896481">
                  <a:moveTo>
                    <a:pt x="2215792" y="0"/>
                  </a:moveTo>
                  <a:cubicBezTo>
                    <a:pt x="1458237" y="179578"/>
                    <a:pt x="-953237" y="880618"/>
                    <a:pt x="409599" y="2276856"/>
                  </a:cubicBezTo>
                  <a:cubicBezTo>
                    <a:pt x="412520" y="2280285"/>
                    <a:pt x="415441" y="2283714"/>
                    <a:pt x="418489" y="2287143"/>
                  </a:cubicBezTo>
                  <a:cubicBezTo>
                    <a:pt x="922552" y="2848737"/>
                    <a:pt x="1294535" y="3508248"/>
                    <a:pt x="1570251" y="4212082"/>
                  </a:cubicBezTo>
                  <a:cubicBezTo>
                    <a:pt x="1692807" y="4524629"/>
                    <a:pt x="1796185" y="4846066"/>
                    <a:pt x="1883307" y="5171821"/>
                  </a:cubicBezTo>
                  <a:cubicBezTo>
                    <a:pt x="1957601" y="5448935"/>
                    <a:pt x="2020594" y="5729478"/>
                    <a:pt x="2073807" y="6010021"/>
                  </a:cubicBezTo>
                  <a:cubicBezTo>
                    <a:pt x="2129687" y="6304280"/>
                    <a:pt x="2175914" y="6599936"/>
                    <a:pt x="2215920" y="6896481"/>
                  </a:cubicBezTo>
                  <a:lnTo>
                    <a:pt x="2215920" y="0"/>
                  </a:lnTo>
                  <a:close/>
                </a:path>
              </a:pathLst>
            </a:custGeom>
            <a:solidFill>
              <a:srgbClr val="9CFBED"/>
            </a:solidFill>
          </p:spPr>
        </p:sp>
        <p:sp>
          <p:nvSpPr>
            <p:cNvPr id="9" name="Freeform 9"/>
            <p:cNvSpPr/>
            <p:nvPr/>
          </p:nvSpPr>
          <p:spPr>
            <a:xfrm>
              <a:off x="6411371" y="1683766"/>
              <a:ext cx="1313653" cy="6052820"/>
            </a:xfrm>
            <a:custGeom>
              <a:avLst/>
              <a:gdLst/>
              <a:ahLst/>
              <a:cxnLst/>
              <a:rect l="l" t="t" r="r" b="b"/>
              <a:pathLst>
                <a:path w="1313653" h="6052820">
                  <a:moveTo>
                    <a:pt x="1313526" y="0"/>
                  </a:moveTo>
                  <a:cubicBezTo>
                    <a:pt x="769078" y="221234"/>
                    <a:pt x="-556294" y="920115"/>
                    <a:pt x="257903" y="2245360"/>
                  </a:cubicBezTo>
                  <a:cubicBezTo>
                    <a:pt x="259934" y="2248789"/>
                    <a:pt x="261840" y="2252218"/>
                    <a:pt x="263871" y="2255647"/>
                  </a:cubicBezTo>
                  <a:cubicBezTo>
                    <a:pt x="580863" y="2817241"/>
                    <a:pt x="815179" y="3476752"/>
                    <a:pt x="988407" y="4180586"/>
                  </a:cubicBezTo>
                  <a:cubicBezTo>
                    <a:pt x="1065242" y="4493133"/>
                    <a:pt x="1130646" y="4814570"/>
                    <a:pt x="1185257" y="5140325"/>
                  </a:cubicBezTo>
                  <a:cubicBezTo>
                    <a:pt x="1231993" y="5417439"/>
                    <a:pt x="1271362" y="5697982"/>
                    <a:pt x="1304891" y="5978525"/>
                  </a:cubicBezTo>
                  <a:cubicBezTo>
                    <a:pt x="1307811" y="6003290"/>
                    <a:pt x="1310732" y="6028056"/>
                    <a:pt x="1313654" y="6052820"/>
                  </a:cubicBezTo>
                  <a:lnTo>
                    <a:pt x="1313654" y="0"/>
                  </a:lnTo>
                  <a:close/>
                </a:path>
              </a:pathLst>
            </a:custGeom>
            <a:solidFill>
              <a:srgbClr val="5CE1E6"/>
            </a:solidFill>
          </p:spPr>
        </p:sp>
        <p:sp>
          <p:nvSpPr>
            <p:cNvPr id="10" name="Freeform 10"/>
            <p:cNvSpPr/>
            <p:nvPr/>
          </p:nvSpPr>
          <p:spPr>
            <a:xfrm>
              <a:off x="7182203" y="1781937"/>
              <a:ext cx="542694" cy="4547362"/>
            </a:xfrm>
            <a:custGeom>
              <a:avLst/>
              <a:gdLst/>
              <a:ahLst/>
              <a:cxnLst/>
              <a:rect l="l" t="t" r="r" b="b"/>
              <a:pathLst>
                <a:path w="542694" h="4547362">
                  <a:moveTo>
                    <a:pt x="542694" y="0"/>
                  </a:moveTo>
                  <a:cubicBezTo>
                    <a:pt x="241577" y="296164"/>
                    <a:pt x="-228449" y="977900"/>
                    <a:pt x="127913" y="2147189"/>
                  </a:cubicBezTo>
                  <a:cubicBezTo>
                    <a:pt x="128928" y="2150618"/>
                    <a:pt x="129944" y="2154047"/>
                    <a:pt x="130834" y="2157476"/>
                  </a:cubicBezTo>
                  <a:cubicBezTo>
                    <a:pt x="288313" y="2719070"/>
                    <a:pt x="404518" y="3378581"/>
                    <a:pt x="490625" y="4082415"/>
                  </a:cubicBezTo>
                  <a:cubicBezTo>
                    <a:pt x="509421" y="4235450"/>
                    <a:pt x="526692" y="4390644"/>
                    <a:pt x="542694" y="4547362"/>
                  </a:cubicBezTo>
                  <a:lnTo>
                    <a:pt x="542694" y="0"/>
                  </a:lnTo>
                  <a:close/>
                </a:path>
              </a:pathLst>
            </a:custGeom>
            <a:solidFill>
              <a:srgbClr val="003780"/>
            </a:solidFill>
          </p:spPr>
        </p:sp>
        <p:sp>
          <p:nvSpPr>
            <p:cNvPr id="11" name="Freeform 11"/>
            <p:cNvSpPr/>
            <p:nvPr/>
          </p:nvSpPr>
          <p:spPr>
            <a:xfrm>
              <a:off x="1273428" y="63500"/>
              <a:ext cx="6434451" cy="4486402"/>
            </a:xfrm>
            <a:custGeom>
              <a:avLst/>
              <a:gdLst/>
              <a:ahLst/>
              <a:cxnLst/>
              <a:rect l="l" t="t" r="r" b="b"/>
              <a:pathLst>
                <a:path w="6434451" h="4486402">
                  <a:moveTo>
                    <a:pt x="0" y="0"/>
                  </a:moveTo>
                  <a:cubicBezTo>
                    <a:pt x="662686" y="189484"/>
                    <a:pt x="1274952" y="405765"/>
                    <a:pt x="1818766" y="641858"/>
                  </a:cubicBezTo>
                  <a:cubicBezTo>
                    <a:pt x="4174869" y="1665224"/>
                    <a:pt x="5406767" y="3013329"/>
                    <a:pt x="6063865" y="4364863"/>
                  </a:cubicBezTo>
                  <a:cubicBezTo>
                    <a:pt x="6084059" y="4405757"/>
                    <a:pt x="6102727" y="4446016"/>
                    <a:pt x="6121397" y="4486402"/>
                  </a:cubicBezTo>
                  <a:cubicBezTo>
                    <a:pt x="6243951" y="4173855"/>
                    <a:pt x="6347329" y="3851910"/>
                    <a:pt x="6434451" y="3526663"/>
                  </a:cubicBezTo>
                  <a:cubicBezTo>
                    <a:pt x="6150479" y="2467991"/>
                    <a:pt x="5697597" y="1453007"/>
                    <a:pt x="4969634" y="641858"/>
                  </a:cubicBezTo>
                  <a:cubicBezTo>
                    <a:pt x="4757544" y="405765"/>
                    <a:pt x="4518784" y="189484"/>
                    <a:pt x="4260340" y="0"/>
                  </a:cubicBezTo>
                  <a:close/>
                </a:path>
              </a:pathLst>
            </a:custGeom>
            <a:solidFill>
              <a:srgbClr val="003780"/>
            </a:solidFill>
          </p:spPr>
        </p:sp>
        <p:sp>
          <p:nvSpPr>
            <p:cNvPr id="12" name="Freeform 12"/>
            <p:cNvSpPr/>
            <p:nvPr/>
          </p:nvSpPr>
          <p:spPr>
            <a:xfrm>
              <a:off x="4719317" y="63500"/>
              <a:ext cx="3005453" cy="3526663"/>
            </a:xfrm>
            <a:custGeom>
              <a:avLst/>
              <a:gdLst/>
              <a:ahLst/>
              <a:cxnLst/>
              <a:rect l="l" t="t" r="r" b="b"/>
              <a:pathLst>
                <a:path w="3005453" h="3526663">
                  <a:moveTo>
                    <a:pt x="0" y="0"/>
                  </a:moveTo>
                  <a:cubicBezTo>
                    <a:pt x="1361693" y="675894"/>
                    <a:pt x="2744849" y="2618105"/>
                    <a:pt x="2988562" y="3526663"/>
                  </a:cubicBezTo>
                  <a:cubicBezTo>
                    <a:pt x="2994277" y="3505327"/>
                    <a:pt x="2999865" y="3483991"/>
                    <a:pt x="3005453" y="3462655"/>
                  </a:cubicBezTo>
                  <a:lnTo>
                    <a:pt x="3005453" y="0"/>
                  </a:lnTo>
                  <a:close/>
                </a:path>
              </a:pathLst>
            </a:custGeom>
            <a:solidFill>
              <a:srgbClr val="5CE1E6"/>
            </a:solidFill>
          </p:spPr>
        </p:sp>
        <p:sp>
          <p:nvSpPr>
            <p:cNvPr id="13" name="Freeform 13"/>
            <p:cNvSpPr/>
            <p:nvPr/>
          </p:nvSpPr>
          <p:spPr>
            <a:xfrm>
              <a:off x="6699372" y="63500"/>
              <a:ext cx="1025525" cy="2399030"/>
            </a:xfrm>
            <a:custGeom>
              <a:avLst/>
              <a:gdLst/>
              <a:ahLst/>
              <a:cxnLst/>
              <a:rect l="l" t="t" r="r" b="b"/>
              <a:pathLst>
                <a:path w="1025525" h="2399030">
                  <a:moveTo>
                    <a:pt x="0" y="0"/>
                  </a:moveTo>
                  <a:cubicBezTo>
                    <a:pt x="147829" y="189357"/>
                    <a:pt x="284354" y="405511"/>
                    <a:pt x="405639" y="641858"/>
                  </a:cubicBezTo>
                  <a:cubicBezTo>
                    <a:pt x="670942" y="1158621"/>
                    <a:pt x="872364" y="1758188"/>
                    <a:pt x="1025525" y="2399030"/>
                  </a:cubicBezTo>
                  <a:lnTo>
                    <a:pt x="1025525" y="0"/>
                  </a:lnTo>
                  <a:close/>
                </a:path>
              </a:pathLst>
            </a:custGeom>
            <a:solidFill>
              <a:srgbClr val="9CFBED"/>
            </a:solidFill>
          </p:spPr>
        </p:sp>
        <p:sp>
          <p:nvSpPr>
            <p:cNvPr id="14" name="Freeform 14"/>
            <p:cNvSpPr/>
            <p:nvPr/>
          </p:nvSpPr>
          <p:spPr>
            <a:xfrm>
              <a:off x="5824196" y="3523742"/>
              <a:ext cx="1900702" cy="5155819"/>
            </a:xfrm>
            <a:custGeom>
              <a:avLst/>
              <a:gdLst/>
              <a:ahLst/>
              <a:cxnLst/>
              <a:rect l="l" t="t" r="r" b="b"/>
              <a:pathLst>
                <a:path w="1900702" h="5155819">
                  <a:moveTo>
                    <a:pt x="1900701" y="0"/>
                  </a:moveTo>
                  <a:cubicBezTo>
                    <a:pt x="1894986" y="21971"/>
                    <a:pt x="1889145" y="43942"/>
                    <a:pt x="1883303" y="65913"/>
                  </a:cubicBezTo>
                  <a:cubicBezTo>
                    <a:pt x="1796181" y="391795"/>
                    <a:pt x="1692803" y="713105"/>
                    <a:pt x="1570247" y="1025652"/>
                  </a:cubicBezTo>
                  <a:cubicBezTo>
                    <a:pt x="1294658" y="1729486"/>
                    <a:pt x="922547" y="2388997"/>
                    <a:pt x="418485" y="2950591"/>
                  </a:cubicBezTo>
                  <a:cubicBezTo>
                    <a:pt x="415564" y="2954020"/>
                    <a:pt x="412516" y="2957449"/>
                    <a:pt x="409595" y="2960878"/>
                  </a:cubicBezTo>
                  <a:cubicBezTo>
                    <a:pt x="-798047" y="4198112"/>
                    <a:pt x="957981" y="4889500"/>
                    <a:pt x="1900701" y="5155819"/>
                  </a:cubicBezTo>
                  <a:lnTo>
                    <a:pt x="1900701" y="0"/>
                  </a:lnTo>
                  <a:close/>
                </a:path>
              </a:pathLst>
            </a:custGeom>
            <a:solidFill>
              <a:srgbClr val="9CFBED"/>
            </a:solidFill>
          </p:spPr>
        </p:sp>
        <p:sp>
          <p:nvSpPr>
            <p:cNvPr id="15" name="Freeform 15"/>
            <p:cNvSpPr/>
            <p:nvPr/>
          </p:nvSpPr>
          <p:spPr>
            <a:xfrm>
              <a:off x="6726579" y="4508246"/>
              <a:ext cx="998318" cy="4075303"/>
            </a:xfrm>
            <a:custGeom>
              <a:avLst/>
              <a:gdLst/>
              <a:ahLst/>
              <a:cxnLst/>
              <a:rect l="l" t="t" r="r" b="b"/>
              <a:pathLst>
                <a:path w="998318" h="4075303">
                  <a:moveTo>
                    <a:pt x="998318" y="0"/>
                  </a:moveTo>
                  <a:cubicBezTo>
                    <a:pt x="995016" y="13716"/>
                    <a:pt x="991587" y="27559"/>
                    <a:pt x="988286" y="41275"/>
                  </a:cubicBezTo>
                  <a:cubicBezTo>
                    <a:pt x="815058" y="745109"/>
                    <a:pt x="580742" y="1404620"/>
                    <a:pt x="263750" y="1966214"/>
                  </a:cubicBezTo>
                  <a:cubicBezTo>
                    <a:pt x="261846" y="1969643"/>
                    <a:pt x="259813" y="1973072"/>
                    <a:pt x="257909" y="1976501"/>
                  </a:cubicBezTo>
                  <a:cubicBezTo>
                    <a:pt x="-423827" y="3086101"/>
                    <a:pt x="394434" y="3756660"/>
                    <a:pt x="998318" y="4075303"/>
                  </a:cubicBezTo>
                  <a:lnTo>
                    <a:pt x="998318" y="0"/>
                  </a:lnTo>
                  <a:close/>
                </a:path>
              </a:pathLst>
            </a:custGeom>
            <a:solidFill>
              <a:srgbClr val="5CE1E6"/>
            </a:solidFill>
          </p:spPr>
        </p:sp>
        <p:sp>
          <p:nvSpPr>
            <p:cNvPr id="16" name="Freeform 16"/>
            <p:cNvSpPr/>
            <p:nvPr/>
          </p:nvSpPr>
          <p:spPr>
            <a:xfrm>
              <a:off x="7497435" y="6096127"/>
              <a:ext cx="227590" cy="2117344"/>
            </a:xfrm>
            <a:custGeom>
              <a:avLst/>
              <a:gdLst/>
              <a:ahLst/>
              <a:cxnLst/>
              <a:rect l="l" t="t" r="r" b="b"/>
              <a:pathLst>
                <a:path w="227590" h="2117344">
                  <a:moveTo>
                    <a:pt x="227462" y="0"/>
                  </a:moveTo>
                  <a:cubicBezTo>
                    <a:pt x="197109" y="130302"/>
                    <a:pt x="164852" y="256667"/>
                    <a:pt x="130816" y="378333"/>
                  </a:cubicBezTo>
                  <a:cubicBezTo>
                    <a:pt x="129799" y="381762"/>
                    <a:pt x="128783" y="385191"/>
                    <a:pt x="127894" y="388620"/>
                  </a:cubicBezTo>
                  <a:cubicBezTo>
                    <a:pt x="-111755" y="1175004"/>
                    <a:pt x="22357" y="1740916"/>
                    <a:pt x="227590" y="2117344"/>
                  </a:cubicBezTo>
                  <a:lnTo>
                    <a:pt x="227590" y="0"/>
                  </a:lnTo>
                  <a:close/>
                </a:path>
              </a:pathLst>
            </a:custGeom>
            <a:solidFill>
              <a:srgbClr val="003780"/>
            </a:solidFill>
          </p:spPr>
        </p:sp>
      </p:grpSp>
      <p:grpSp>
        <p:nvGrpSpPr>
          <p:cNvPr id="17" name="Group 17"/>
          <p:cNvGrpSpPr/>
          <p:nvPr/>
        </p:nvGrpSpPr>
        <p:grpSpPr>
          <a:xfrm>
            <a:off x="12231634" y="1520723"/>
            <a:ext cx="6056366" cy="7854725"/>
            <a:chOff x="0" y="0"/>
            <a:chExt cx="8075155" cy="10472966"/>
          </a:xfrm>
        </p:grpSpPr>
        <p:sp>
          <p:nvSpPr>
            <p:cNvPr id="18" name="Freeform 18"/>
            <p:cNvSpPr/>
            <p:nvPr/>
          </p:nvSpPr>
          <p:spPr>
            <a:xfrm>
              <a:off x="0" y="0"/>
              <a:ext cx="8075041" cy="10473055"/>
            </a:xfrm>
            <a:custGeom>
              <a:avLst/>
              <a:gdLst/>
              <a:ahLst/>
              <a:cxnLst/>
              <a:rect l="l" t="t" r="r" b="b"/>
              <a:pathLst>
                <a:path w="8075041" h="10473055">
                  <a:moveTo>
                    <a:pt x="5234813" y="0"/>
                  </a:moveTo>
                  <a:cubicBezTo>
                    <a:pt x="5150231" y="0"/>
                    <a:pt x="5065776" y="2159"/>
                    <a:pt x="4981321" y="6223"/>
                  </a:cubicBezTo>
                  <a:cubicBezTo>
                    <a:pt x="4895723" y="10414"/>
                    <a:pt x="4810252" y="16637"/>
                    <a:pt x="4724908" y="25019"/>
                  </a:cubicBezTo>
                  <a:cubicBezTo>
                    <a:pt x="4639564" y="33401"/>
                    <a:pt x="4554601" y="43815"/>
                    <a:pt x="4469765" y="56388"/>
                  </a:cubicBezTo>
                  <a:cubicBezTo>
                    <a:pt x="4384929" y="68961"/>
                    <a:pt x="4300474" y="83566"/>
                    <a:pt x="4216400" y="100330"/>
                  </a:cubicBezTo>
                  <a:cubicBezTo>
                    <a:pt x="4132326" y="117094"/>
                    <a:pt x="4048760" y="135763"/>
                    <a:pt x="3965575" y="156591"/>
                  </a:cubicBezTo>
                  <a:cubicBezTo>
                    <a:pt x="3882390" y="177419"/>
                    <a:pt x="3799840" y="200279"/>
                    <a:pt x="3717798" y="225044"/>
                  </a:cubicBezTo>
                  <a:cubicBezTo>
                    <a:pt x="3635756" y="249809"/>
                    <a:pt x="3554349" y="276733"/>
                    <a:pt x="3473704" y="305562"/>
                  </a:cubicBezTo>
                  <a:cubicBezTo>
                    <a:pt x="3393059" y="334391"/>
                    <a:pt x="3313049" y="365252"/>
                    <a:pt x="3233801" y="398018"/>
                  </a:cubicBezTo>
                  <a:cubicBezTo>
                    <a:pt x="3154553" y="430784"/>
                    <a:pt x="3076194" y="465455"/>
                    <a:pt x="2998724" y="502158"/>
                  </a:cubicBezTo>
                  <a:cubicBezTo>
                    <a:pt x="2921254" y="538861"/>
                    <a:pt x="2844673" y="577342"/>
                    <a:pt x="2769108" y="617728"/>
                  </a:cubicBezTo>
                  <a:cubicBezTo>
                    <a:pt x="2693543" y="658114"/>
                    <a:pt x="2618994" y="700278"/>
                    <a:pt x="2545461" y="744347"/>
                  </a:cubicBezTo>
                  <a:cubicBezTo>
                    <a:pt x="2471928" y="788416"/>
                    <a:pt x="2399538" y="834263"/>
                    <a:pt x="2328291" y="881888"/>
                  </a:cubicBezTo>
                  <a:cubicBezTo>
                    <a:pt x="2257044" y="929513"/>
                    <a:pt x="2186940" y="978789"/>
                    <a:pt x="2118106" y="1029843"/>
                  </a:cubicBezTo>
                  <a:cubicBezTo>
                    <a:pt x="2049272" y="1080897"/>
                    <a:pt x="1981708" y="1133602"/>
                    <a:pt x="1915414" y="1187958"/>
                  </a:cubicBezTo>
                  <a:cubicBezTo>
                    <a:pt x="1849120" y="1242314"/>
                    <a:pt x="1784223" y="1298321"/>
                    <a:pt x="1720723" y="1355852"/>
                  </a:cubicBezTo>
                  <a:cubicBezTo>
                    <a:pt x="1657223" y="1413383"/>
                    <a:pt x="1595120" y="1472438"/>
                    <a:pt x="1534541" y="1533144"/>
                  </a:cubicBezTo>
                  <a:cubicBezTo>
                    <a:pt x="1473962" y="1593850"/>
                    <a:pt x="1414780" y="1655826"/>
                    <a:pt x="1357249" y="1719326"/>
                  </a:cubicBezTo>
                  <a:cubicBezTo>
                    <a:pt x="1299718" y="1782826"/>
                    <a:pt x="1243711" y="1847723"/>
                    <a:pt x="1189355" y="1914017"/>
                  </a:cubicBezTo>
                  <a:cubicBezTo>
                    <a:pt x="1134999" y="1980311"/>
                    <a:pt x="1082294" y="2047875"/>
                    <a:pt x="1031113" y="2116709"/>
                  </a:cubicBezTo>
                  <a:cubicBezTo>
                    <a:pt x="979932" y="2185543"/>
                    <a:pt x="930656" y="2255647"/>
                    <a:pt x="883031" y="2326894"/>
                  </a:cubicBezTo>
                  <a:cubicBezTo>
                    <a:pt x="835406" y="2398141"/>
                    <a:pt x="789559" y="2470531"/>
                    <a:pt x="745490" y="2544064"/>
                  </a:cubicBezTo>
                  <a:cubicBezTo>
                    <a:pt x="701421" y="2617597"/>
                    <a:pt x="659130" y="2692146"/>
                    <a:pt x="618744" y="2767711"/>
                  </a:cubicBezTo>
                  <a:cubicBezTo>
                    <a:pt x="578358" y="2843276"/>
                    <a:pt x="539750" y="2919857"/>
                    <a:pt x="503174" y="2997327"/>
                  </a:cubicBezTo>
                  <a:cubicBezTo>
                    <a:pt x="466598" y="3074797"/>
                    <a:pt x="431800" y="3153156"/>
                    <a:pt x="399034" y="3232277"/>
                  </a:cubicBezTo>
                  <a:cubicBezTo>
                    <a:pt x="366268" y="3311398"/>
                    <a:pt x="335407" y="3391408"/>
                    <a:pt x="306451" y="3472180"/>
                  </a:cubicBezTo>
                  <a:cubicBezTo>
                    <a:pt x="277495" y="3552952"/>
                    <a:pt x="250698" y="3634232"/>
                    <a:pt x="225806" y="3716274"/>
                  </a:cubicBezTo>
                  <a:cubicBezTo>
                    <a:pt x="200914" y="3798316"/>
                    <a:pt x="178054" y="3880866"/>
                    <a:pt x="157226" y="3964051"/>
                  </a:cubicBezTo>
                  <a:cubicBezTo>
                    <a:pt x="136398" y="4047236"/>
                    <a:pt x="117602" y="4130802"/>
                    <a:pt x="100838" y="4214876"/>
                  </a:cubicBezTo>
                  <a:cubicBezTo>
                    <a:pt x="84074" y="4298950"/>
                    <a:pt x="69469" y="4383405"/>
                    <a:pt x="56896" y="4468114"/>
                  </a:cubicBezTo>
                  <a:cubicBezTo>
                    <a:pt x="44323" y="4552823"/>
                    <a:pt x="33782" y="4637913"/>
                    <a:pt x="25400" y="4723257"/>
                  </a:cubicBezTo>
                  <a:cubicBezTo>
                    <a:pt x="17018" y="4808601"/>
                    <a:pt x="10541" y="4893818"/>
                    <a:pt x="6350" y="4979543"/>
                  </a:cubicBezTo>
                  <a:cubicBezTo>
                    <a:pt x="2159" y="5065268"/>
                    <a:pt x="0" y="5150739"/>
                    <a:pt x="0" y="5236464"/>
                  </a:cubicBezTo>
                  <a:cubicBezTo>
                    <a:pt x="0" y="5322189"/>
                    <a:pt x="2159" y="5407787"/>
                    <a:pt x="6350" y="5493512"/>
                  </a:cubicBezTo>
                  <a:cubicBezTo>
                    <a:pt x="10541" y="5579237"/>
                    <a:pt x="16891" y="5664581"/>
                    <a:pt x="25273" y="5749925"/>
                  </a:cubicBezTo>
                  <a:cubicBezTo>
                    <a:pt x="33655" y="5835269"/>
                    <a:pt x="44196" y="5920232"/>
                    <a:pt x="56769" y="6005068"/>
                  </a:cubicBezTo>
                  <a:cubicBezTo>
                    <a:pt x="69342" y="6089904"/>
                    <a:pt x="83947" y="6174232"/>
                    <a:pt x="100711" y="6258306"/>
                  </a:cubicBezTo>
                  <a:cubicBezTo>
                    <a:pt x="117475" y="6342380"/>
                    <a:pt x="136271" y="6425946"/>
                    <a:pt x="157099" y="6509131"/>
                  </a:cubicBezTo>
                  <a:cubicBezTo>
                    <a:pt x="177927" y="6592316"/>
                    <a:pt x="200787" y="6674866"/>
                    <a:pt x="225679" y="6756908"/>
                  </a:cubicBezTo>
                  <a:cubicBezTo>
                    <a:pt x="250571" y="6838950"/>
                    <a:pt x="277495" y="6920357"/>
                    <a:pt x="306324" y="7001002"/>
                  </a:cubicBezTo>
                  <a:cubicBezTo>
                    <a:pt x="335153" y="7081647"/>
                    <a:pt x="366014" y="7161657"/>
                    <a:pt x="398907" y="7240905"/>
                  </a:cubicBezTo>
                  <a:cubicBezTo>
                    <a:pt x="431800" y="7320153"/>
                    <a:pt x="466471" y="7398385"/>
                    <a:pt x="503047" y="7475855"/>
                  </a:cubicBezTo>
                  <a:cubicBezTo>
                    <a:pt x="539623" y="7553325"/>
                    <a:pt x="578231" y="7629906"/>
                    <a:pt x="618617" y="7705471"/>
                  </a:cubicBezTo>
                  <a:cubicBezTo>
                    <a:pt x="659003" y="7781036"/>
                    <a:pt x="701294" y="7855585"/>
                    <a:pt x="745363" y="7929118"/>
                  </a:cubicBezTo>
                  <a:cubicBezTo>
                    <a:pt x="789432" y="8002651"/>
                    <a:pt x="835279" y="8075041"/>
                    <a:pt x="882904" y="8146288"/>
                  </a:cubicBezTo>
                  <a:cubicBezTo>
                    <a:pt x="930529" y="8217535"/>
                    <a:pt x="979932" y="8287639"/>
                    <a:pt x="1030986" y="8356473"/>
                  </a:cubicBezTo>
                  <a:cubicBezTo>
                    <a:pt x="1082040" y="8425307"/>
                    <a:pt x="1134745" y="8492871"/>
                    <a:pt x="1189228" y="8559165"/>
                  </a:cubicBezTo>
                  <a:cubicBezTo>
                    <a:pt x="1243711" y="8625459"/>
                    <a:pt x="1299591" y="8690356"/>
                    <a:pt x="1357122" y="8753856"/>
                  </a:cubicBezTo>
                  <a:cubicBezTo>
                    <a:pt x="1414653" y="8817356"/>
                    <a:pt x="1473835" y="8879459"/>
                    <a:pt x="1534414" y="8940038"/>
                  </a:cubicBezTo>
                  <a:cubicBezTo>
                    <a:pt x="1594993" y="9000617"/>
                    <a:pt x="1657096" y="9059672"/>
                    <a:pt x="1720596" y="9117330"/>
                  </a:cubicBezTo>
                  <a:cubicBezTo>
                    <a:pt x="1784096" y="9174988"/>
                    <a:pt x="1848993" y="9230868"/>
                    <a:pt x="1915287" y="9285224"/>
                  </a:cubicBezTo>
                  <a:cubicBezTo>
                    <a:pt x="1981581" y="9339580"/>
                    <a:pt x="2049145" y="9392285"/>
                    <a:pt x="2117979" y="9443339"/>
                  </a:cubicBezTo>
                  <a:cubicBezTo>
                    <a:pt x="2186813" y="9494393"/>
                    <a:pt x="2256917" y="9543669"/>
                    <a:pt x="2328164" y="9591294"/>
                  </a:cubicBezTo>
                  <a:cubicBezTo>
                    <a:pt x="2399411" y="9638919"/>
                    <a:pt x="2471801" y="9684766"/>
                    <a:pt x="2545334" y="9728835"/>
                  </a:cubicBezTo>
                  <a:cubicBezTo>
                    <a:pt x="2618867" y="9772904"/>
                    <a:pt x="2693416" y="9815068"/>
                    <a:pt x="2768981" y="9855454"/>
                  </a:cubicBezTo>
                  <a:cubicBezTo>
                    <a:pt x="2844546" y="9895840"/>
                    <a:pt x="2921127" y="9934321"/>
                    <a:pt x="2998597" y="9971024"/>
                  </a:cubicBezTo>
                  <a:cubicBezTo>
                    <a:pt x="3076067" y="10007727"/>
                    <a:pt x="3154426" y="10042398"/>
                    <a:pt x="3233674" y="10075164"/>
                  </a:cubicBezTo>
                  <a:cubicBezTo>
                    <a:pt x="3312922" y="10107930"/>
                    <a:pt x="3392805" y="10138791"/>
                    <a:pt x="3473577" y="10167620"/>
                  </a:cubicBezTo>
                  <a:cubicBezTo>
                    <a:pt x="3554349" y="10196449"/>
                    <a:pt x="3635629" y="10223373"/>
                    <a:pt x="3717671" y="10248138"/>
                  </a:cubicBezTo>
                  <a:cubicBezTo>
                    <a:pt x="3799713" y="10272903"/>
                    <a:pt x="3882263" y="10295890"/>
                    <a:pt x="3965448" y="10316591"/>
                  </a:cubicBezTo>
                  <a:cubicBezTo>
                    <a:pt x="4048633" y="10337292"/>
                    <a:pt x="4132199" y="10356088"/>
                    <a:pt x="4216273" y="10372852"/>
                  </a:cubicBezTo>
                  <a:cubicBezTo>
                    <a:pt x="4300347" y="10389616"/>
                    <a:pt x="4384802" y="10404221"/>
                    <a:pt x="4469638" y="10416667"/>
                  </a:cubicBezTo>
                  <a:cubicBezTo>
                    <a:pt x="4554474" y="10429113"/>
                    <a:pt x="4639437" y="10439654"/>
                    <a:pt x="4724781" y="10448036"/>
                  </a:cubicBezTo>
                  <a:cubicBezTo>
                    <a:pt x="4810125" y="10456418"/>
                    <a:pt x="4895596" y="10462641"/>
                    <a:pt x="4981194" y="10466832"/>
                  </a:cubicBezTo>
                  <a:cubicBezTo>
                    <a:pt x="5066157" y="10471023"/>
                    <a:pt x="5151247" y="10473055"/>
                    <a:pt x="5236337" y="10473055"/>
                  </a:cubicBezTo>
                  <a:cubicBezTo>
                    <a:pt x="5236972" y="10473055"/>
                    <a:pt x="5237607" y="10473055"/>
                    <a:pt x="5238242" y="10473055"/>
                  </a:cubicBezTo>
                  <a:cubicBezTo>
                    <a:pt x="5238877" y="10473055"/>
                    <a:pt x="5239512" y="10473055"/>
                    <a:pt x="5240147" y="10473055"/>
                  </a:cubicBezTo>
                  <a:cubicBezTo>
                    <a:pt x="5325237" y="10473055"/>
                    <a:pt x="5410327" y="10471023"/>
                    <a:pt x="5495290" y="10466832"/>
                  </a:cubicBezTo>
                  <a:cubicBezTo>
                    <a:pt x="5580888" y="10462641"/>
                    <a:pt x="5666359" y="10456418"/>
                    <a:pt x="5751703" y="10448036"/>
                  </a:cubicBezTo>
                  <a:cubicBezTo>
                    <a:pt x="5837047" y="10439654"/>
                    <a:pt x="5922010" y="10429240"/>
                    <a:pt x="6006846" y="10416667"/>
                  </a:cubicBezTo>
                  <a:cubicBezTo>
                    <a:pt x="6091682" y="10404094"/>
                    <a:pt x="6176010" y="10389489"/>
                    <a:pt x="6260084" y="10372852"/>
                  </a:cubicBezTo>
                  <a:cubicBezTo>
                    <a:pt x="6344158" y="10356215"/>
                    <a:pt x="6427724" y="10337419"/>
                    <a:pt x="6510909" y="10316591"/>
                  </a:cubicBezTo>
                  <a:cubicBezTo>
                    <a:pt x="6594094" y="10295763"/>
                    <a:pt x="6676644" y="10272903"/>
                    <a:pt x="6758686" y="10248138"/>
                  </a:cubicBezTo>
                  <a:cubicBezTo>
                    <a:pt x="6840728" y="10223373"/>
                    <a:pt x="6922135" y="10196449"/>
                    <a:pt x="7002780" y="10167620"/>
                  </a:cubicBezTo>
                  <a:cubicBezTo>
                    <a:pt x="7083425" y="10138791"/>
                    <a:pt x="7163435" y="10107930"/>
                    <a:pt x="7242683" y="10075164"/>
                  </a:cubicBezTo>
                  <a:cubicBezTo>
                    <a:pt x="7321931" y="10042398"/>
                    <a:pt x="7400290" y="10007727"/>
                    <a:pt x="7477760" y="9971024"/>
                  </a:cubicBezTo>
                  <a:cubicBezTo>
                    <a:pt x="7555230" y="9934321"/>
                    <a:pt x="7631811" y="9895840"/>
                    <a:pt x="7707376" y="9855454"/>
                  </a:cubicBezTo>
                  <a:cubicBezTo>
                    <a:pt x="7782941" y="9815068"/>
                    <a:pt x="7857490" y="9772904"/>
                    <a:pt x="7931023" y="9728835"/>
                  </a:cubicBezTo>
                  <a:cubicBezTo>
                    <a:pt x="7979537" y="9699752"/>
                    <a:pt x="8027543" y="9670034"/>
                    <a:pt x="8075041" y="9639427"/>
                  </a:cubicBezTo>
                  <a:lnTo>
                    <a:pt x="8075041" y="833882"/>
                  </a:lnTo>
                  <a:cubicBezTo>
                    <a:pt x="8027543" y="803275"/>
                    <a:pt x="7979537" y="773430"/>
                    <a:pt x="7931023" y="744474"/>
                  </a:cubicBezTo>
                  <a:cubicBezTo>
                    <a:pt x="7857490" y="700405"/>
                    <a:pt x="7782941" y="658241"/>
                    <a:pt x="7707376" y="617855"/>
                  </a:cubicBezTo>
                  <a:cubicBezTo>
                    <a:pt x="7631811" y="577469"/>
                    <a:pt x="7555230" y="538988"/>
                    <a:pt x="7477760" y="502285"/>
                  </a:cubicBezTo>
                  <a:cubicBezTo>
                    <a:pt x="7400290" y="465582"/>
                    <a:pt x="7321931" y="430911"/>
                    <a:pt x="7242683" y="398145"/>
                  </a:cubicBezTo>
                  <a:cubicBezTo>
                    <a:pt x="7163435" y="365379"/>
                    <a:pt x="7083552" y="334518"/>
                    <a:pt x="7002780" y="305689"/>
                  </a:cubicBezTo>
                  <a:cubicBezTo>
                    <a:pt x="6922008" y="276860"/>
                    <a:pt x="6840728" y="249936"/>
                    <a:pt x="6758686" y="225171"/>
                  </a:cubicBezTo>
                  <a:cubicBezTo>
                    <a:pt x="6676644" y="200406"/>
                    <a:pt x="6594094" y="177419"/>
                    <a:pt x="6510909" y="156718"/>
                  </a:cubicBezTo>
                  <a:cubicBezTo>
                    <a:pt x="6427724" y="136017"/>
                    <a:pt x="6344158" y="117221"/>
                    <a:pt x="6260084" y="100457"/>
                  </a:cubicBezTo>
                  <a:cubicBezTo>
                    <a:pt x="6176010" y="83693"/>
                    <a:pt x="6091555" y="69088"/>
                    <a:pt x="6006719" y="56642"/>
                  </a:cubicBezTo>
                  <a:cubicBezTo>
                    <a:pt x="5921883" y="44196"/>
                    <a:pt x="5836920" y="33655"/>
                    <a:pt x="5751576" y="25273"/>
                  </a:cubicBezTo>
                  <a:cubicBezTo>
                    <a:pt x="5666232" y="16891"/>
                    <a:pt x="5580888" y="10414"/>
                    <a:pt x="5495290" y="6223"/>
                  </a:cubicBezTo>
                  <a:cubicBezTo>
                    <a:pt x="5410835" y="2159"/>
                    <a:pt x="5326380" y="0"/>
                    <a:pt x="5241798" y="0"/>
                  </a:cubicBezTo>
                  <a:lnTo>
                    <a:pt x="5238242" y="0"/>
                  </a:lnTo>
                  <a:close/>
                </a:path>
              </a:pathLst>
            </a:custGeom>
            <a:blipFill>
              <a:blip r:embed="rId3"/>
              <a:stretch>
                <a:fillRect l="-32401" r="-62054" b="-22"/>
              </a:stretch>
            </a:blipFill>
          </p:spPr>
        </p:sp>
      </p:grpSp>
      <p:sp>
        <p:nvSpPr>
          <p:cNvPr id="19" name="Freeform 19"/>
          <p:cNvSpPr/>
          <p:nvPr/>
        </p:nvSpPr>
        <p:spPr>
          <a:xfrm>
            <a:off x="515579" y="-63503"/>
            <a:ext cx="17838972" cy="10413997"/>
          </a:xfrm>
          <a:custGeom>
            <a:avLst/>
            <a:gdLst/>
            <a:ahLst/>
            <a:cxnLst/>
            <a:rect l="l" t="t" r="r" b="b"/>
            <a:pathLst>
              <a:path w="17838972" h="10413997">
                <a:moveTo>
                  <a:pt x="0" y="0"/>
                </a:moveTo>
                <a:lnTo>
                  <a:pt x="17838972" y="0"/>
                </a:lnTo>
                <a:lnTo>
                  <a:pt x="17838972" y="10413997"/>
                </a:lnTo>
                <a:lnTo>
                  <a:pt x="0" y="10413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0" name="TextBox 20"/>
          <p:cNvSpPr txBox="1"/>
          <p:nvPr/>
        </p:nvSpPr>
        <p:spPr>
          <a:xfrm>
            <a:off x="974817" y="4509630"/>
            <a:ext cx="2519782" cy="1489015"/>
          </a:xfrm>
          <a:prstGeom prst="rect">
            <a:avLst/>
          </a:prstGeom>
        </p:spPr>
        <p:txBody>
          <a:bodyPr lIns="0" tIns="0" rIns="0" bIns="0" rtlCol="0" anchor="t">
            <a:spAutoFit/>
          </a:bodyPr>
          <a:lstStyle/>
          <a:p>
            <a:pPr algn="ctr">
              <a:lnSpc>
                <a:spcPts val="3900"/>
              </a:lnSpc>
            </a:pPr>
            <a:r>
              <a:rPr lang="en-US" sz="2799" b="1">
                <a:solidFill>
                  <a:srgbClr val="3567A1"/>
                </a:solidFill>
                <a:latin typeface="Nunito Sans Condensed Bold"/>
                <a:ea typeface="Nunito Sans Condensed Bold"/>
                <a:cs typeface="Nunito Sans Condensed Bold"/>
                <a:sym typeface="Nunito Sans Condensed Bold"/>
              </a:rPr>
              <a:t>Business Requirement Document (BRD)</a:t>
            </a:r>
          </a:p>
        </p:txBody>
      </p:sp>
      <p:sp>
        <p:nvSpPr>
          <p:cNvPr id="21" name="TextBox 21"/>
          <p:cNvSpPr txBox="1"/>
          <p:nvPr/>
        </p:nvSpPr>
        <p:spPr>
          <a:xfrm>
            <a:off x="2152345" y="6787763"/>
            <a:ext cx="1688211" cy="498415"/>
          </a:xfrm>
          <a:prstGeom prst="rect">
            <a:avLst/>
          </a:prstGeom>
        </p:spPr>
        <p:txBody>
          <a:bodyPr lIns="0" tIns="0" rIns="0" bIns="0" rtlCol="0" anchor="t">
            <a:spAutoFit/>
          </a:bodyPr>
          <a:lstStyle/>
          <a:p>
            <a:pPr algn="l">
              <a:lnSpc>
                <a:spcPts val="3919"/>
              </a:lnSpc>
            </a:pPr>
            <a:r>
              <a:rPr lang="en-US" sz="2799" b="1">
                <a:solidFill>
                  <a:srgbClr val="3567A1"/>
                </a:solidFill>
                <a:latin typeface="Nunito Sans Condensed Bold"/>
                <a:ea typeface="Nunito Sans Condensed Bold"/>
                <a:cs typeface="Nunito Sans Condensed Bold"/>
                <a:sym typeface="Nunito Sans Condensed Bold"/>
              </a:rPr>
              <a:t>Visualisasi </a:t>
            </a:r>
          </a:p>
        </p:txBody>
      </p:sp>
      <p:sp>
        <p:nvSpPr>
          <p:cNvPr id="22" name="TextBox 22"/>
          <p:cNvSpPr txBox="1"/>
          <p:nvPr/>
        </p:nvSpPr>
        <p:spPr>
          <a:xfrm>
            <a:off x="5619436" y="4764167"/>
            <a:ext cx="1785757" cy="993715"/>
          </a:xfrm>
          <a:prstGeom prst="rect">
            <a:avLst/>
          </a:prstGeom>
        </p:spPr>
        <p:txBody>
          <a:bodyPr lIns="0" tIns="0" rIns="0" bIns="0" rtlCol="0" anchor="t">
            <a:spAutoFit/>
          </a:bodyPr>
          <a:lstStyle/>
          <a:p>
            <a:pPr algn="ctr">
              <a:lnSpc>
                <a:spcPts val="3900"/>
              </a:lnSpc>
            </a:pPr>
            <a:r>
              <a:rPr lang="en-US" sz="2799" b="1">
                <a:solidFill>
                  <a:srgbClr val="3567A1"/>
                </a:solidFill>
                <a:latin typeface="Nunito Sans Condensed Bold"/>
                <a:ea typeface="Nunito Sans Condensed Bold"/>
                <a:cs typeface="Nunito Sans Condensed Bold"/>
                <a:sym typeface="Nunito Sans Condensed Bold"/>
              </a:rPr>
              <a:t>Data Preparation</a:t>
            </a:r>
          </a:p>
        </p:txBody>
      </p:sp>
      <p:sp>
        <p:nvSpPr>
          <p:cNvPr id="23" name="TextBox 23"/>
          <p:cNvSpPr txBox="1"/>
          <p:nvPr/>
        </p:nvSpPr>
        <p:spPr>
          <a:xfrm>
            <a:off x="5534092" y="6787763"/>
            <a:ext cx="2093681" cy="498415"/>
          </a:xfrm>
          <a:prstGeom prst="rect">
            <a:avLst/>
          </a:prstGeom>
        </p:spPr>
        <p:txBody>
          <a:bodyPr lIns="0" tIns="0" rIns="0" bIns="0" rtlCol="0" anchor="t">
            <a:spAutoFit/>
          </a:bodyPr>
          <a:lstStyle/>
          <a:p>
            <a:pPr algn="l">
              <a:lnSpc>
                <a:spcPts val="3919"/>
              </a:lnSpc>
            </a:pPr>
            <a:r>
              <a:rPr lang="en-US" sz="2799" b="1">
                <a:solidFill>
                  <a:srgbClr val="3567A1"/>
                </a:solidFill>
                <a:latin typeface="Nunito Sans Condensed Bold"/>
                <a:ea typeface="Nunito Sans Condensed Bold"/>
                <a:cs typeface="Nunito Sans Condensed Bold"/>
                <a:sym typeface="Nunito Sans Condensed Bold"/>
              </a:rPr>
              <a:t>Data Analisis </a:t>
            </a:r>
          </a:p>
        </p:txBody>
      </p:sp>
      <p:sp>
        <p:nvSpPr>
          <p:cNvPr id="24" name="TextBox 24"/>
          <p:cNvSpPr txBox="1"/>
          <p:nvPr/>
        </p:nvSpPr>
        <p:spPr>
          <a:xfrm>
            <a:off x="9379429" y="4995367"/>
            <a:ext cx="2136096" cy="498415"/>
          </a:xfrm>
          <a:prstGeom prst="rect">
            <a:avLst/>
          </a:prstGeom>
        </p:spPr>
        <p:txBody>
          <a:bodyPr lIns="0" tIns="0" rIns="0" bIns="0" rtlCol="0" anchor="t">
            <a:spAutoFit/>
          </a:bodyPr>
          <a:lstStyle/>
          <a:p>
            <a:pPr algn="l">
              <a:lnSpc>
                <a:spcPts val="3919"/>
              </a:lnSpc>
            </a:pPr>
            <a:r>
              <a:rPr lang="en-US" sz="2799" b="1">
                <a:solidFill>
                  <a:srgbClr val="3567A1"/>
                </a:solidFill>
                <a:latin typeface="Nunito Sans Condensed Bold"/>
                <a:ea typeface="Nunito Sans Condensed Bold"/>
                <a:cs typeface="Nunito Sans Condensed Bold"/>
                <a:sym typeface="Nunito Sans Condensed Bold"/>
              </a:rPr>
              <a:t>Data Cleaning</a:t>
            </a:r>
          </a:p>
        </p:txBody>
      </p:sp>
      <p:sp>
        <p:nvSpPr>
          <p:cNvPr id="25" name="TextBox 25"/>
          <p:cNvSpPr txBox="1"/>
          <p:nvPr/>
        </p:nvSpPr>
        <p:spPr>
          <a:xfrm>
            <a:off x="9253452" y="6590595"/>
            <a:ext cx="2392966" cy="914524"/>
          </a:xfrm>
          <a:prstGeom prst="rect">
            <a:avLst/>
          </a:prstGeom>
        </p:spPr>
        <p:txBody>
          <a:bodyPr lIns="0" tIns="0" rIns="0" bIns="0" rtlCol="0" anchor="t">
            <a:spAutoFit/>
          </a:bodyPr>
          <a:lstStyle/>
          <a:p>
            <a:pPr algn="ctr">
              <a:lnSpc>
                <a:spcPts val="3600"/>
              </a:lnSpc>
            </a:pPr>
            <a:r>
              <a:rPr lang="en-US" sz="2599" b="1" dirty="0">
                <a:solidFill>
                  <a:srgbClr val="3567A1"/>
                </a:solidFill>
                <a:latin typeface="Nunito Sans Condensed Bold"/>
                <a:ea typeface="Nunito Sans Condensed Bold"/>
                <a:cs typeface="Nunito Sans Condensed Bold"/>
                <a:sym typeface="Nunito Sans Condensed Bold"/>
              </a:rPr>
              <a:t>Exploratory Data Analysis (EDA)</a:t>
            </a:r>
          </a:p>
        </p:txBody>
      </p:sp>
      <p:sp>
        <p:nvSpPr>
          <p:cNvPr id="26" name="TextBox 26"/>
          <p:cNvSpPr txBox="1"/>
          <p:nvPr/>
        </p:nvSpPr>
        <p:spPr>
          <a:xfrm>
            <a:off x="2152345" y="8141094"/>
            <a:ext cx="2359517" cy="996524"/>
          </a:xfrm>
          <a:prstGeom prst="rect">
            <a:avLst/>
          </a:prstGeom>
        </p:spPr>
        <p:txBody>
          <a:bodyPr lIns="0" tIns="0" rIns="0" bIns="0" rtlCol="0" anchor="t">
            <a:spAutoFit/>
          </a:bodyPr>
          <a:lstStyle/>
          <a:p>
            <a:pPr algn="l">
              <a:lnSpc>
                <a:spcPts val="2646"/>
              </a:lnSpc>
            </a:pPr>
            <a:r>
              <a:rPr lang="en-US" sz="1931" b="1" spc="19">
                <a:solidFill>
                  <a:srgbClr val="FFFFFF"/>
                </a:solidFill>
                <a:latin typeface="Nunito Sans Condensed Bold"/>
                <a:ea typeface="Nunito Sans Condensed Bold"/>
                <a:cs typeface="Nunito Sans Condensed Bold"/>
                <a:sym typeface="Nunito Sans Condensed Bold"/>
              </a:rPr>
              <a:t>1. Trend </a:t>
            </a:r>
          </a:p>
          <a:p>
            <a:pPr algn="l">
              <a:lnSpc>
                <a:spcPts val="2646"/>
              </a:lnSpc>
            </a:pPr>
            <a:r>
              <a:rPr lang="en-US" sz="1931" b="1" spc="19">
                <a:solidFill>
                  <a:srgbClr val="FFFFFF"/>
                </a:solidFill>
                <a:latin typeface="Nunito Sans Condensed Bold"/>
                <a:ea typeface="Nunito Sans Condensed Bold"/>
                <a:cs typeface="Nunito Sans Condensed Bold"/>
                <a:sym typeface="Nunito Sans Condensed Bold"/>
              </a:rPr>
              <a:t>2. Distribution </a:t>
            </a:r>
          </a:p>
          <a:p>
            <a:pPr algn="l">
              <a:lnSpc>
                <a:spcPts val="2646"/>
              </a:lnSpc>
            </a:pPr>
            <a:r>
              <a:rPr lang="en-US" sz="1931" b="1" spc="19">
                <a:solidFill>
                  <a:srgbClr val="FFFFFF"/>
                </a:solidFill>
                <a:latin typeface="Nunito Sans Condensed Bold"/>
                <a:ea typeface="Nunito Sans Condensed Bold"/>
                <a:cs typeface="Nunito Sans Condensed Bold"/>
                <a:sym typeface="Nunito Sans Condensed Bold"/>
              </a:rPr>
              <a:t>3. Comparison </a:t>
            </a:r>
          </a:p>
        </p:txBody>
      </p:sp>
      <p:sp>
        <p:nvSpPr>
          <p:cNvPr id="27" name="TextBox 27"/>
          <p:cNvSpPr txBox="1"/>
          <p:nvPr/>
        </p:nvSpPr>
        <p:spPr>
          <a:xfrm>
            <a:off x="5114889" y="2506539"/>
            <a:ext cx="2696305" cy="1475147"/>
          </a:xfrm>
          <a:prstGeom prst="rect">
            <a:avLst/>
          </a:prstGeom>
        </p:spPr>
        <p:txBody>
          <a:bodyPr lIns="0" tIns="0" rIns="0" bIns="0" rtlCol="0" anchor="t">
            <a:spAutoFit/>
          </a:bodyPr>
          <a:lstStyle/>
          <a:p>
            <a:pPr algn="l">
              <a:lnSpc>
                <a:spcPts val="2868"/>
              </a:lnSpc>
            </a:pPr>
            <a:r>
              <a:rPr lang="en-US" sz="2093" b="1" spc="14" dirty="0">
                <a:solidFill>
                  <a:srgbClr val="FFFFFF"/>
                </a:solidFill>
                <a:latin typeface="Nunito Sans Condensed Bold"/>
                <a:ea typeface="Nunito Sans Condensed Bold"/>
                <a:cs typeface="Nunito Sans Condensed Bold"/>
                <a:sym typeface="Nunito Sans Condensed Bold"/>
              </a:rPr>
              <a:t>1.Import Library &amp; dataset </a:t>
            </a:r>
            <a:r>
              <a:rPr lang="en-US" sz="2093" b="1" spc="14" dirty="0" err="1">
                <a:solidFill>
                  <a:srgbClr val="FFFFFF"/>
                </a:solidFill>
                <a:latin typeface="Nunito Sans Condensed Bold"/>
                <a:ea typeface="Nunito Sans Condensed Bold"/>
                <a:cs typeface="Nunito Sans Condensed Bold"/>
                <a:sym typeface="Nunito Sans Condensed Bold"/>
              </a:rPr>
              <a:t>kaggle</a:t>
            </a:r>
            <a:r>
              <a:rPr lang="en-US" sz="2093" b="1" spc="14" dirty="0">
                <a:solidFill>
                  <a:srgbClr val="FFFFFF"/>
                </a:solidFill>
                <a:latin typeface="Nunito Sans Condensed Bold"/>
                <a:ea typeface="Nunito Sans Condensed Bold"/>
                <a:cs typeface="Nunito Sans Condensed Bold"/>
                <a:sym typeface="Nunito Sans Condensed Bold"/>
              </a:rPr>
              <a:t>. </a:t>
            </a:r>
          </a:p>
          <a:p>
            <a:pPr algn="l">
              <a:lnSpc>
                <a:spcPts val="2868"/>
              </a:lnSpc>
            </a:pPr>
            <a:r>
              <a:rPr lang="en-US" sz="2093" b="1" spc="14" dirty="0">
                <a:solidFill>
                  <a:srgbClr val="FFFFFF"/>
                </a:solidFill>
                <a:latin typeface="Nunito Sans Condensed Bold"/>
                <a:ea typeface="Nunito Sans Condensed Bold"/>
                <a:cs typeface="Nunito Sans Condensed Bold"/>
                <a:sym typeface="Nunito Sans Condensed Bold"/>
              </a:rPr>
              <a:t>2.Load to </a:t>
            </a:r>
            <a:r>
              <a:rPr lang="en-US" sz="2093" b="1" spc="14" dirty="0" err="1">
                <a:solidFill>
                  <a:srgbClr val="FFFFFF"/>
                </a:solidFill>
                <a:latin typeface="Nunito Sans Condensed Bold"/>
                <a:ea typeface="Nunito Sans Condensed Bold"/>
                <a:cs typeface="Nunito Sans Condensed Bold"/>
                <a:sym typeface="Nunito Sans Condensed Bold"/>
              </a:rPr>
              <a:t>Dataframe</a:t>
            </a:r>
            <a:r>
              <a:rPr lang="en-US" sz="2093" b="1" spc="14" dirty="0">
                <a:solidFill>
                  <a:srgbClr val="FFFFFF"/>
                </a:solidFill>
                <a:latin typeface="Nunito Sans Condensed Bold"/>
                <a:ea typeface="Nunito Sans Condensed Bold"/>
                <a:cs typeface="Nunito Sans Condensed Bold"/>
                <a:sym typeface="Nunito Sans Condensed Bold"/>
              </a:rPr>
              <a:t> 3.Explorasi </a:t>
            </a:r>
            <a:r>
              <a:rPr lang="en-US" sz="2093" b="1" spc="14" dirty="0" err="1">
                <a:solidFill>
                  <a:srgbClr val="FFFFFF"/>
                </a:solidFill>
                <a:latin typeface="Nunito Sans Condensed Bold"/>
                <a:ea typeface="Nunito Sans Condensed Bold"/>
                <a:cs typeface="Nunito Sans Condensed Bold"/>
                <a:sym typeface="Nunito Sans Condensed Bold"/>
              </a:rPr>
              <a:t>Dataframe</a:t>
            </a:r>
            <a:endParaRPr lang="en-US" sz="2093" b="1" spc="14" dirty="0">
              <a:solidFill>
                <a:srgbClr val="FFFFFF"/>
              </a:solidFill>
              <a:latin typeface="Nunito Sans Condensed Bold"/>
              <a:ea typeface="Nunito Sans Condensed Bold"/>
              <a:cs typeface="Nunito Sans Condensed Bold"/>
              <a:sym typeface="Nunito Sans Condensed Bold"/>
            </a:endParaRPr>
          </a:p>
        </p:txBody>
      </p:sp>
      <p:sp>
        <p:nvSpPr>
          <p:cNvPr id="28" name="TextBox 28"/>
          <p:cNvSpPr txBox="1"/>
          <p:nvPr/>
        </p:nvSpPr>
        <p:spPr>
          <a:xfrm>
            <a:off x="4925187" y="8150619"/>
            <a:ext cx="3075708" cy="1179079"/>
          </a:xfrm>
          <a:prstGeom prst="rect">
            <a:avLst/>
          </a:prstGeom>
        </p:spPr>
        <p:txBody>
          <a:bodyPr lIns="0" tIns="0" rIns="0" bIns="0" rtlCol="0" anchor="t">
            <a:spAutoFit/>
          </a:bodyPr>
          <a:lstStyle/>
          <a:p>
            <a:pPr algn="l">
              <a:lnSpc>
                <a:spcPts val="3150"/>
              </a:lnSpc>
            </a:pPr>
            <a:r>
              <a:rPr lang="en-US" sz="2299" b="1" spc="18">
                <a:solidFill>
                  <a:srgbClr val="FFFFFF"/>
                </a:solidFill>
                <a:latin typeface="Nunito Sans Condensed Bold"/>
                <a:ea typeface="Nunito Sans Condensed Bold"/>
                <a:cs typeface="Nunito Sans Condensed Bold"/>
                <a:sym typeface="Nunito Sans Condensed Bold"/>
              </a:rPr>
              <a:t>1. Statistik Deskriptif</a:t>
            </a:r>
          </a:p>
          <a:p>
            <a:pPr algn="l">
              <a:lnSpc>
                <a:spcPts val="3150"/>
              </a:lnSpc>
            </a:pPr>
            <a:r>
              <a:rPr lang="en-US" sz="2299" b="1" spc="18">
                <a:solidFill>
                  <a:srgbClr val="FFFFFF"/>
                </a:solidFill>
                <a:latin typeface="Nunito Sans Condensed Bold"/>
                <a:ea typeface="Nunito Sans Condensed Bold"/>
                <a:cs typeface="Nunito Sans Condensed Bold"/>
                <a:sym typeface="Nunito Sans Condensed Bold"/>
              </a:rPr>
              <a:t>2. Chi-Square Test</a:t>
            </a:r>
          </a:p>
          <a:p>
            <a:pPr algn="l">
              <a:lnSpc>
                <a:spcPts val="3150"/>
              </a:lnSpc>
            </a:pPr>
            <a:r>
              <a:rPr lang="en-US" sz="2299" b="1" spc="18">
                <a:solidFill>
                  <a:srgbClr val="FFFFFF"/>
                </a:solidFill>
                <a:latin typeface="Nunito Sans Condensed Bold"/>
                <a:ea typeface="Nunito Sans Condensed Bold"/>
                <a:cs typeface="Nunito Sans Condensed Bold"/>
                <a:sym typeface="Nunito Sans Condensed Bold"/>
              </a:rPr>
              <a:t>3. Analisis Tren</a:t>
            </a:r>
          </a:p>
        </p:txBody>
      </p:sp>
      <p:sp>
        <p:nvSpPr>
          <p:cNvPr id="29" name="TextBox 29"/>
          <p:cNvSpPr txBox="1"/>
          <p:nvPr/>
        </p:nvSpPr>
        <p:spPr>
          <a:xfrm>
            <a:off x="8883094" y="2723113"/>
            <a:ext cx="3187428" cy="1462580"/>
          </a:xfrm>
          <a:prstGeom prst="rect">
            <a:avLst/>
          </a:prstGeom>
        </p:spPr>
        <p:txBody>
          <a:bodyPr wrap="square" lIns="0" tIns="0" rIns="0" bIns="0" rtlCol="0" anchor="t">
            <a:spAutoFit/>
          </a:bodyPr>
          <a:lstStyle/>
          <a:p>
            <a:pPr marL="366925" lvl="1" indent="-183463" algn="l">
              <a:lnSpc>
                <a:spcPts val="2328"/>
              </a:lnSpc>
              <a:buAutoNum type="arabicPeriod"/>
            </a:pPr>
            <a:r>
              <a:rPr lang="en-US" sz="1600" b="1" spc="11" dirty="0">
                <a:solidFill>
                  <a:srgbClr val="FFFFFF"/>
                </a:solidFill>
                <a:latin typeface="Nunito Sans Condensed Bold"/>
                <a:ea typeface="Nunito Sans Condensed Bold"/>
                <a:cs typeface="Nunito Sans Condensed Bold"/>
                <a:sym typeface="Nunito Sans Condensed Bold"/>
              </a:rPr>
              <a:t>Ubah </a:t>
            </a:r>
            <a:r>
              <a:rPr lang="en-US" sz="1600" b="1" spc="11" dirty="0" err="1">
                <a:solidFill>
                  <a:srgbClr val="FFFFFF"/>
                </a:solidFill>
                <a:latin typeface="Nunito Sans Condensed Bold"/>
                <a:ea typeface="Nunito Sans Condensed Bold"/>
                <a:cs typeface="Nunito Sans Condensed Bold"/>
                <a:sym typeface="Nunito Sans Condensed Bold"/>
              </a:rPr>
              <a:t>date_added</a:t>
            </a:r>
            <a:r>
              <a:rPr lang="en-US" sz="1600" b="1" spc="11" dirty="0">
                <a:solidFill>
                  <a:srgbClr val="FFFFFF"/>
                </a:solidFill>
                <a:latin typeface="Nunito Sans Condensed Bold"/>
                <a:ea typeface="Nunito Sans Condensed Bold"/>
                <a:cs typeface="Nunito Sans Condensed Bold"/>
                <a:sym typeface="Nunito Sans Condensed Bold"/>
              </a:rPr>
              <a:t> </a:t>
            </a:r>
            <a:r>
              <a:rPr lang="en-US" sz="1600" b="1" spc="11" dirty="0" err="1">
                <a:solidFill>
                  <a:srgbClr val="FFFFFF"/>
                </a:solidFill>
                <a:latin typeface="Nunito Sans Condensed Bold"/>
                <a:ea typeface="Nunito Sans Condensed Bold"/>
                <a:cs typeface="Nunito Sans Condensed Bold"/>
                <a:sym typeface="Nunito Sans Condensed Bold"/>
              </a:rPr>
              <a:t>ke</a:t>
            </a:r>
            <a:r>
              <a:rPr lang="en-US" sz="1600" b="1" spc="11" dirty="0">
                <a:solidFill>
                  <a:srgbClr val="FFFFFF"/>
                </a:solidFill>
                <a:latin typeface="Nunito Sans Condensed Bold"/>
                <a:ea typeface="Nunito Sans Condensed Bold"/>
                <a:cs typeface="Nunito Sans Condensed Bold"/>
                <a:sym typeface="Nunito Sans Condensed Bold"/>
              </a:rPr>
              <a:t> Datetime </a:t>
            </a:r>
            <a:r>
              <a:rPr lang="en-US" sz="1600" b="1" spc="11" dirty="0" err="1">
                <a:solidFill>
                  <a:srgbClr val="FFFFFF"/>
                </a:solidFill>
                <a:latin typeface="Nunito Sans Condensed Bold"/>
                <a:ea typeface="Nunito Sans Condensed Bold"/>
                <a:cs typeface="Nunito Sans Condensed Bold"/>
                <a:sym typeface="Nunito Sans Condensed Bold"/>
              </a:rPr>
              <a:t>lalu</a:t>
            </a:r>
            <a:r>
              <a:rPr lang="en-US" sz="1600" b="1" spc="11" dirty="0">
                <a:solidFill>
                  <a:srgbClr val="FFFFFF"/>
                </a:solidFill>
                <a:latin typeface="Nunito Sans Condensed Bold"/>
                <a:ea typeface="Nunito Sans Condensed Bold"/>
                <a:cs typeface="Nunito Sans Condensed Bold"/>
                <a:sym typeface="Nunito Sans Condensed Bold"/>
              </a:rPr>
              <a:t> </a:t>
            </a:r>
            <a:r>
              <a:rPr lang="en-US" sz="1600" b="1" spc="11" dirty="0" err="1">
                <a:solidFill>
                  <a:srgbClr val="FFFFFF"/>
                </a:solidFill>
                <a:latin typeface="Nunito Sans Condensed Bold"/>
                <a:ea typeface="Nunito Sans Condensed Bold"/>
                <a:cs typeface="Nunito Sans Condensed Bold"/>
                <a:sym typeface="Nunito Sans Condensed Bold"/>
              </a:rPr>
              <a:t>pecah</a:t>
            </a:r>
            <a:r>
              <a:rPr lang="en-US" sz="1600" b="1" spc="11" dirty="0">
                <a:solidFill>
                  <a:srgbClr val="FFFFFF"/>
                </a:solidFill>
                <a:latin typeface="Nunito Sans Condensed Bold"/>
                <a:ea typeface="Nunito Sans Condensed Bold"/>
                <a:cs typeface="Nunito Sans Condensed Bold"/>
                <a:sym typeface="Nunito Sans Condensed Bold"/>
              </a:rPr>
              <a:t> year dan month</a:t>
            </a:r>
          </a:p>
          <a:p>
            <a:pPr marL="366925" lvl="1" indent="-183463" algn="l">
              <a:lnSpc>
                <a:spcPts val="2328"/>
              </a:lnSpc>
              <a:buAutoNum type="arabicPeriod"/>
            </a:pPr>
            <a:r>
              <a:rPr lang="en-US" sz="1600" b="1" spc="11" dirty="0">
                <a:solidFill>
                  <a:srgbClr val="FFFFFF"/>
                </a:solidFill>
                <a:latin typeface="Nunito Sans Condensed Bold"/>
                <a:ea typeface="Nunito Sans Condensed Bold"/>
                <a:cs typeface="Nunito Sans Condensed Bold"/>
                <a:sym typeface="Nunito Sans Condensed Bold"/>
              </a:rPr>
              <a:t>Split &amp; Explode </a:t>
            </a:r>
            <a:r>
              <a:rPr lang="en-US" sz="1600" b="1" spc="11" dirty="0" err="1">
                <a:solidFill>
                  <a:srgbClr val="FFFFFF"/>
                </a:solidFill>
                <a:latin typeface="Nunito Sans Condensed Bold"/>
                <a:ea typeface="Nunito Sans Condensed Bold"/>
                <a:cs typeface="Nunito Sans Condensed Bold"/>
                <a:sym typeface="Nunito Sans Condensed Bold"/>
              </a:rPr>
              <a:t>kolom</a:t>
            </a:r>
            <a:r>
              <a:rPr lang="en-US" sz="1600" b="1" spc="11" dirty="0">
                <a:solidFill>
                  <a:srgbClr val="FFFFFF"/>
                </a:solidFill>
                <a:latin typeface="Nunito Sans Condensed Bold"/>
                <a:ea typeface="Nunito Sans Condensed Bold"/>
                <a:cs typeface="Nunito Sans Condensed Bold"/>
                <a:sym typeface="Nunito Sans Condensed Bold"/>
              </a:rPr>
              <a:t> cast, country, </a:t>
            </a:r>
            <a:r>
              <a:rPr lang="en-US" sz="1600" b="1" spc="11" dirty="0" err="1">
                <a:solidFill>
                  <a:srgbClr val="FFFFFF"/>
                </a:solidFill>
                <a:latin typeface="Nunito Sans Condensed Bold"/>
                <a:ea typeface="Nunito Sans Condensed Bold"/>
                <a:cs typeface="Nunito Sans Condensed Bold"/>
                <a:sym typeface="Nunito Sans Condensed Bold"/>
              </a:rPr>
              <a:t>listed_in</a:t>
            </a:r>
            <a:r>
              <a:rPr lang="en-US" sz="1600" b="1" spc="11" dirty="0">
                <a:solidFill>
                  <a:srgbClr val="FFFFFF"/>
                </a:solidFill>
                <a:latin typeface="Nunito Sans Condensed Bold"/>
                <a:ea typeface="Nunito Sans Condensed Bold"/>
                <a:cs typeface="Nunito Sans Condensed Bold"/>
                <a:sym typeface="Nunito Sans Condensed Bold"/>
              </a:rPr>
              <a:t> </a:t>
            </a:r>
          </a:p>
          <a:p>
            <a:pPr marL="366925" lvl="1" indent="-183463" algn="l">
              <a:lnSpc>
                <a:spcPts val="2328"/>
              </a:lnSpc>
              <a:buAutoNum type="arabicPeriod"/>
            </a:pPr>
            <a:r>
              <a:rPr lang="en-US" sz="1600" b="1" spc="11" dirty="0">
                <a:solidFill>
                  <a:srgbClr val="FFFFFF"/>
                </a:solidFill>
                <a:latin typeface="Nunito Sans Condensed Bold"/>
                <a:ea typeface="Nunito Sans Condensed Bold"/>
                <a:cs typeface="Nunito Sans Condensed Bold"/>
                <a:sym typeface="Nunito Sans Condensed Bold"/>
              </a:rPr>
              <a:t>Ubah nama </a:t>
            </a:r>
            <a:r>
              <a:rPr lang="en-US" sz="1600" b="1" spc="11" dirty="0" err="1">
                <a:solidFill>
                  <a:srgbClr val="FFFFFF"/>
                </a:solidFill>
                <a:latin typeface="Nunito Sans Condensed Bold"/>
                <a:ea typeface="Nunito Sans Condensed Bold"/>
                <a:cs typeface="Nunito Sans Condensed Bold"/>
                <a:sym typeface="Nunito Sans Condensed Bold"/>
              </a:rPr>
              <a:t>listed_in</a:t>
            </a:r>
            <a:r>
              <a:rPr lang="en-US" sz="1600" b="1" spc="11" dirty="0">
                <a:solidFill>
                  <a:srgbClr val="FFFFFF"/>
                </a:solidFill>
                <a:latin typeface="Nunito Sans Condensed Bold"/>
                <a:ea typeface="Nunito Sans Condensed Bold"/>
                <a:cs typeface="Nunito Sans Condensed Bold"/>
                <a:sym typeface="Nunito Sans Condensed Bold"/>
              </a:rPr>
              <a:t> </a:t>
            </a:r>
            <a:r>
              <a:rPr lang="en-US" sz="1600" b="1" spc="11" dirty="0" err="1">
                <a:solidFill>
                  <a:srgbClr val="FFFFFF"/>
                </a:solidFill>
                <a:latin typeface="Nunito Sans Condensed Bold"/>
                <a:ea typeface="Nunito Sans Condensed Bold"/>
                <a:cs typeface="Nunito Sans Condensed Bold"/>
                <a:sym typeface="Nunito Sans Condensed Bold"/>
              </a:rPr>
              <a:t>ke</a:t>
            </a:r>
            <a:r>
              <a:rPr lang="en-US" sz="1600" b="1" spc="11" dirty="0">
                <a:solidFill>
                  <a:srgbClr val="FFFFFF"/>
                </a:solidFill>
                <a:latin typeface="Nunito Sans Condensed Bold"/>
                <a:ea typeface="Nunito Sans Condensed Bold"/>
                <a:cs typeface="Nunito Sans Condensed Bold"/>
                <a:sym typeface="Nunito Sans Condensed Bold"/>
              </a:rPr>
              <a:t> genre</a:t>
            </a:r>
          </a:p>
        </p:txBody>
      </p:sp>
      <p:sp>
        <p:nvSpPr>
          <p:cNvPr id="30" name="TextBox 30"/>
          <p:cNvSpPr txBox="1"/>
          <p:nvPr/>
        </p:nvSpPr>
        <p:spPr>
          <a:xfrm>
            <a:off x="9362723" y="8392382"/>
            <a:ext cx="2170090" cy="763835"/>
          </a:xfrm>
          <a:prstGeom prst="rect">
            <a:avLst/>
          </a:prstGeom>
        </p:spPr>
        <p:txBody>
          <a:bodyPr lIns="0" tIns="0" rIns="0" bIns="0" rtlCol="0" anchor="t">
            <a:spAutoFit/>
          </a:bodyPr>
          <a:lstStyle/>
          <a:p>
            <a:pPr algn="ctr">
              <a:lnSpc>
                <a:spcPts val="3075"/>
              </a:lnSpc>
            </a:pPr>
            <a:r>
              <a:rPr lang="en-US" sz="2199" b="1">
                <a:solidFill>
                  <a:srgbClr val="FFFFFF"/>
                </a:solidFill>
                <a:latin typeface="Nunito Sans Condensed Bold"/>
                <a:ea typeface="Nunito Sans Condensed Bold"/>
                <a:cs typeface="Nunito Sans Condensed Bold"/>
                <a:sym typeface="Nunito Sans Condensed Bold"/>
              </a:rPr>
              <a:t>Visualisasi dari Business Question</a:t>
            </a:r>
          </a:p>
        </p:txBody>
      </p:sp>
      <p:sp>
        <p:nvSpPr>
          <p:cNvPr id="31" name="TextBox 31"/>
          <p:cNvSpPr txBox="1"/>
          <p:nvPr/>
        </p:nvSpPr>
        <p:spPr>
          <a:xfrm>
            <a:off x="1028700" y="437559"/>
            <a:ext cx="8121139" cy="1438970"/>
          </a:xfrm>
          <a:prstGeom prst="rect">
            <a:avLst/>
          </a:prstGeom>
        </p:spPr>
        <p:txBody>
          <a:bodyPr lIns="0" tIns="0" rIns="0" bIns="0" rtlCol="0" anchor="t">
            <a:spAutoFit/>
          </a:bodyPr>
          <a:lstStyle/>
          <a:p>
            <a:pPr algn="l">
              <a:lnSpc>
                <a:spcPts val="11685"/>
              </a:lnSpc>
            </a:pPr>
            <a:r>
              <a:rPr lang="en-US" sz="8346" b="1">
                <a:solidFill>
                  <a:srgbClr val="003780"/>
                </a:solidFill>
                <a:latin typeface="Montserrat Bold"/>
                <a:ea typeface="Montserrat Bold"/>
                <a:cs typeface="Montserrat Bold"/>
                <a:sym typeface="Montserrat Bold"/>
              </a:rPr>
              <a:t>Proses Kinerja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grpSp>
        <p:nvGrpSpPr>
          <p:cNvPr id="4" name="Group 4"/>
          <p:cNvGrpSpPr/>
          <p:nvPr/>
        </p:nvGrpSpPr>
        <p:grpSpPr>
          <a:xfrm>
            <a:off x="97031" y="32442"/>
            <a:ext cx="55540" cy="55550"/>
            <a:chOff x="0" y="0"/>
            <a:chExt cx="55537" cy="55550"/>
          </a:xfrm>
        </p:grpSpPr>
        <p:sp>
          <p:nvSpPr>
            <p:cNvPr id="5" name="Freeform 5"/>
            <p:cNvSpPr/>
            <p:nvPr/>
          </p:nvSpPr>
          <p:spPr>
            <a:xfrm>
              <a:off x="4" y="4"/>
              <a:ext cx="55588" cy="55479"/>
            </a:xfrm>
            <a:custGeom>
              <a:avLst/>
              <a:gdLst/>
              <a:ahLst/>
              <a:cxnLst/>
              <a:rect l="l" t="t" r="r" b="b"/>
              <a:pathLst>
                <a:path w="55588" h="55479">
                  <a:moveTo>
                    <a:pt x="10663" y="49656"/>
                  </a:moveTo>
                  <a:cubicBezTo>
                    <a:pt x="-1528" y="40385"/>
                    <a:pt x="-3560" y="22604"/>
                    <a:pt x="6092" y="10411"/>
                  </a:cubicBezTo>
                  <a:cubicBezTo>
                    <a:pt x="15743" y="-1782"/>
                    <a:pt x="33648" y="-3433"/>
                    <a:pt x="45458" y="6346"/>
                  </a:cubicBezTo>
                  <a:cubicBezTo>
                    <a:pt x="57269" y="16126"/>
                    <a:pt x="58920" y="33526"/>
                    <a:pt x="49522" y="45211"/>
                  </a:cubicBezTo>
                  <a:cubicBezTo>
                    <a:pt x="40125" y="56896"/>
                    <a:pt x="22727" y="58928"/>
                    <a:pt x="10663" y="49656"/>
                  </a:cubicBezTo>
                </a:path>
              </a:pathLst>
            </a:custGeom>
            <a:solidFill>
              <a:srgbClr val="FFFFFF"/>
            </a:solidFill>
          </p:spPr>
        </p:sp>
      </p:grpSp>
      <p:grpSp>
        <p:nvGrpSpPr>
          <p:cNvPr id="6" name="Group 6"/>
          <p:cNvGrpSpPr/>
          <p:nvPr/>
        </p:nvGrpSpPr>
        <p:grpSpPr>
          <a:xfrm>
            <a:off x="2657094" y="61408"/>
            <a:ext cx="30594" cy="30604"/>
            <a:chOff x="0" y="0"/>
            <a:chExt cx="30594" cy="30607"/>
          </a:xfrm>
        </p:grpSpPr>
        <p:sp>
          <p:nvSpPr>
            <p:cNvPr id="7" name="Freeform 7"/>
            <p:cNvSpPr/>
            <p:nvPr/>
          </p:nvSpPr>
          <p:spPr>
            <a:xfrm>
              <a:off x="-28" y="-18"/>
              <a:ext cx="30586" cy="30633"/>
            </a:xfrm>
            <a:custGeom>
              <a:avLst/>
              <a:gdLst/>
              <a:ahLst/>
              <a:cxnLst/>
              <a:rect l="l" t="t" r="r" b="b"/>
              <a:pathLst>
                <a:path w="30586" h="30633">
                  <a:moveTo>
                    <a:pt x="3203" y="24786"/>
                  </a:moveTo>
                  <a:cubicBezTo>
                    <a:pt x="-1877" y="18181"/>
                    <a:pt x="-861" y="8655"/>
                    <a:pt x="5869" y="3320"/>
                  </a:cubicBezTo>
                  <a:cubicBezTo>
                    <a:pt x="12599" y="-2014"/>
                    <a:pt x="22123" y="-744"/>
                    <a:pt x="27329" y="5861"/>
                  </a:cubicBezTo>
                  <a:cubicBezTo>
                    <a:pt x="32536" y="12465"/>
                    <a:pt x="31393" y="22245"/>
                    <a:pt x="24663" y="27453"/>
                  </a:cubicBezTo>
                  <a:cubicBezTo>
                    <a:pt x="17933" y="32660"/>
                    <a:pt x="8409" y="31263"/>
                    <a:pt x="3203" y="24786"/>
                  </a:cubicBezTo>
                </a:path>
              </a:pathLst>
            </a:custGeom>
            <a:solidFill>
              <a:srgbClr val="FFFFFF"/>
            </a:solidFill>
          </p:spPr>
        </p:sp>
      </p:grpSp>
      <p:grpSp>
        <p:nvGrpSpPr>
          <p:cNvPr id="8" name="Group 8"/>
          <p:cNvGrpSpPr/>
          <p:nvPr/>
        </p:nvGrpSpPr>
        <p:grpSpPr>
          <a:xfrm>
            <a:off x="2827582" y="342414"/>
            <a:ext cx="55540" cy="55531"/>
            <a:chOff x="0" y="0"/>
            <a:chExt cx="55537" cy="55524"/>
          </a:xfrm>
        </p:grpSpPr>
        <p:sp>
          <p:nvSpPr>
            <p:cNvPr id="9" name="Freeform 9"/>
            <p:cNvSpPr/>
            <p:nvPr/>
          </p:nvSpPr>
          <p:spPr>
            <a:xfrm>
              <a:off x="-25" y="100"/>
              <a:ext cx="55526" cy="55319"/>
            </a:xfrm>
            <a:custGeom>
              <a:avLst/>
              <a:gdLst/>
              <a:ahLst/>
              <a:cxnLst/>
              <a:rect l="l" t="t" r="r" b="b"/>
              <a:pathLst>
                <a:path w="55526" h="55319">
                  <a:moveTo>
                    <a:pt x="2692" y="39902"/>
                  </a:moveTo>
                  <a:cubicBezTo>
                    <a:pt x="-3785" y="26314"/>
                    <a:pt x="1803" y="9805"/>
                    <a:pt x="15392" y="2948"/>
                  </a:cubicBezTo>
                  <a:cubicBezTo>
                    <a:pt x="28981" y="-3910"/>
                    <a:pt x="46000" y="1551"/>
                    <a:pt x="52731" y="15647"/>
                  </a:cubicBezTo>
                  <a:cubicBezTo>
                    <a:pt x="59462" y="29742"/>
                    <a:pt x="53620" y="46378"/>
                    <a:pt x="39650" y="52728"/>
                  </a:cubicBezTo>
                  <a:cubicBezTo>
                    <a:pt x="25679" y="59077"/>
                    <a:pt x="9296" y="53362"/>
                    <a:pt x="2692" y="39902"/>
                  </a:cubicBezTo>
                </a:path>
              </a:pathLst>
            </a:custGeom>
            <a:solidFill>
              <a:srgbClr val="FFFFFF"/>
            </a:solidFill>
          </p:spPr>
        </p:sp>
      </p:grpSp>
      <p:grpSp>
        <p:nvGrpSpPr>
          <p:cNvPr id="10" name="Group 10"/>
          <p:cNvGrpSpPr/>
          <p:nvPr/>
        </p:nvGrpSpPr>
        <p:grpSpPr>
          <a:xfrm>
            <a:off x="2931404" y="655577"/>
            <a:ext cx="80524" cy="80572"/>
            <a:chOff x="0" y="0"/>
            <a:chExt cx="80518" cy="80569"/>
          </a:xfrm>
        </p:grpSpPr>
        <p:sp>
          <p:nvSpPr>
            <p:cNvPr id="11" name="Freeform 11"/>
            <p:cNvSpPr/>
            <p:nvPr/>
          </p:nvSpPr>
          <p:spPr>
            <a:xfrm>
              <a:off x="34" y="15"/>
              <a:ext cx="80489" cy="80510"/>
            </a:xfrm>
            <a:custGeom>
              <a:avLst/>
              <a:gdLst/>
              <a:ahLst/>
              <a:cxnLst/>
              <a:rect l="l" t="t" r="r" b="b"/>
              <a:pathLst>
                <a:path w="80489" h="80510">
                  <a:moveTo>
                    <a:pt x="1109" y="49767"/>
                  </a:moveTo>
                  <a:cubicBezTo>
                    <a:pt x="-3971" y="28813"/>
                    <a:pt x="8856" y="7224"/>
                    <a:pt x="30317" y="1382"/>
                  </a:cubicBezTo>
                  <a:cubicBezTo>
                    <a:pt x="51779" y="-4460"/>
                    <a:pt x="74003" y="8748"/>
                    <a:pt x="79337" y="30972"/>
                  </a:cubicBezTo>
                  <a:cubicBezTo>
                    <a:pt x="84671" y="53196"/>
                    <a:pt x="70955" y="75040"/>
                    <a:pt x="49113" y="79612"/>
                  </a:cubicBezTo>
                  <a:cubicBezTo>
                    <a:pt x="27270" y="84184"/>
                    <a:pt x="6062" y="70849"/>
                    <a:pt x="1109" y="49767"/>
                  </a:cubicBezTo>
                </a:path>
              </a:pathLst>
            </a:custGeom>
            <a:solidFill>
              <a:srgbClr val="FFFFFF"/>
            </a:solidFill>
          </p:spPr>
        </p:sp>
      </p:grpSp>
      <p:grpSp>
        <p:nvGrpSpPr>
          <p:cNvPr id="12" name="Group 12"/>
          <p:cNvGrpSpPr/>
          <p:nvPr/>
        </p:nvGrpSpPr>
        <p:grpSpPr>
          <a:xfrm>
            <a:off x="2921879" y="1318660"/>
            <a:ext cx="130521" cy="130569"/>
            <a:chOff x="0" y="0"/>
            <a:chExt cx="130518" cy="130569"/>
          </a:xfrm>
        </p:grpSpPr>
        <p:sp>
          <p:nvSpPr>
            <p:cNvPr id="13" name="Freeform 13"/>
            <p:cNvSpPr/>
            <p:nvPr/>
          </p:nvSpPr>
          <p:spPr>
            <a:xfrm>
              <a:off x="8" y="39"/>
              <a:ext cx="130504" cy="130514"/>
            </a:xfrm>
            <a:custGeom>
              <a:avLst/>
              <a:gdLst/>
              <a:ahLst/>
              <a:cxnLst/>
              <a:rect l="l" t="t" r="r" b="b"/>
              <a:pathLst>
                <a:path w="130504" h="130514">
                  <a:moveTo>
                    <a:pt x="51552" y="128737"/>
                  </a:moveTo>
                  <a:cubicBezTo>
                    <a:pt x="16502" y="120228"/>
                    <a:pt x="-5342" y="86320"/>
                    <a:pt x="1135" y="52665"/>
                  </a:cubicBezTo>
                  <a:cubicBezTo>
                    <a:pt x="7612" y="19011"/>
                    <a:pt x="40504" y="-4484"/>
                    <a:pt x="76190" y="723"/>
                  </a:cubicBezTo>
                  <a:cubicBezTo>
                    <a:pt x="111876" y="5803"/>
                    <a:pt x="136386" y="40219"/>
                    <a:pt x="129274" y="77303"/>
                  </a:cubicBezTo>
                  <a:cubicBezTo>
                    <a:pt x="122035" y="114387"/>
                    <a:pt x="86603" y="137246"/>
                    <a:pt x="51679" y="128737"/>
                  </a:cubicBezTo>
                </a:path>
              </a:pathLst>
            </a:custGeom>
            <a:solidFill>
              <a:srgbClr val="FFFFFF"/>
            </a:solidFill>
          </p:spPr>
        </p:sp>
      </p:grpSp>
      <p:grpSp>
        <p:nvGrpSpPr>
          <p:cNvPr id="14" name="Group 14"/>
          <p:cNvGrpSpPr/>
          <p:nvPr/>
        </p:nvGrpSpPr>
        <p:grpSpPr>
          <a:xfrm>
            <a:off x="2963275" y="986161"/>
            <a:ext cx="105556" cy="105594"/>
            <a:chOff x="0" y="0"/>
            <a:chExt cx="105562" cy="105600"/>
          </a:xfrm>
        </p:grpSpPr>
        <p:sp>
          <p:nvSpPr>
            <p:cNvPr id="15" name="Freeform 15"/>
            <p:cNvSpPr/>
            <p:nvPr/>
          </p:nvSpPr>
          <p:spPr>
            <a:xfrm>
              <a:off x="-9" y="30"/>
              <a:ext cx="105561" cy="105518"/>
            </a:xfrm>
            <a:custGeom>
              <a:avLst/>
              <a:gdLst/>
              <a:ahLst/>
              <a:cxnLst/>
              <a:rect l="l" t="t" r="r" b="b"/>
              <a:pathLst>
                <a:path w="105561" h="105518">
                  <a:moveTo>
                    <a:pt x="9" y="53947"/>
                  </a:moveTo>
                  <a:cubicBezTo>
                    <a:pt x="-499" y="26006"/>
                    <a:pt x="21727" y="1875"/>
                    <a:pt x="50684" y="97"/>
                  </a:cubicBezTo>
                  <a:cubicBezTo>
                    <a:pt x="79640" y="-1681"/>
                    <a:pt x="104914" y="21307"/>
                    <a:pt x="105549" y="51661"/>
                  </a:cubicBezTo>
                  <a:cubicBezTo>
                    <a:pt x="106184" y="81761"/>
                    <a:pt x="82180" y="106018"/>
                    <a:pt x="53097" y="105510"/>
                  </a:cubicBezTo>
                  <a:cubicBezTo>
                    <a:pt x="24013" y="105002"/>
                    <a:pt x="644" y="82015"/>
                    <a:pt x="9" y="53947"/>
                  </a:cubicBezTo>
                </a:path>
              </a:pathLst>
            </a:custGeom>
            <a:solidFill>
              <a:srgbClr val="FFFFFF"/>
            </a:solidFill>
          </p:spPr>
        </p:sp>
      </p:grpSp>
      <p:grpSp>
        <p:nvGrpSpPr>
          <p:cNvPr id="16" name="Group 16"/>
          <p:cNvGrpSpPr/>
          <p:nvPr/>
        </p:nvGrpSpPr>
        <p:grpSpPr>
          <a:xfrm>
            <a:off x="3194828" y="153695"/>
            <a:ext cx="69723" cy="69799"/>
            <a:chOff x="0" y="0"/>
            <a:chExt cx="69723" cy="69799"/>
          </a:xfrm>
        </p:grpSpPr>
        <p:sp>
          <p:nvSpPr>
            <p:cNvPr id="17" name="Freeform 17"/>
            <p:cNvSpPr/>
            <p:nvPr/>
          </p:nvSpPr>
          <p:spPr>
            <a:xfrm>
              <a:off x="23" y="6"/>
              <a:ext cx="69640" cy="69832"/>
            </a:xfrm>
            <a:custGeom>
              <a:avLst/>
              <a:gdLst/>
              <a:ahLst/>
              <a:cxnLst/>
              <a:rect l="l" t="t" r="r" b="b"/>
              <a:pathLst>
                <a:path w="69640" h="69832">
                  <a:moveTo>
                    <a:pt x="3406" y="50160"/>
                  </a:moveTo>
                  <a:cubicBezTo>
                    <a:pt x="-4722" y="33269"/>
                    <a:pt x="2136" y="12440"/>
                    <a:pt x="19282" y="3804"/>
                  </a:cubicBezTo>
                  <a:cubicBezTo>
                    <a:pt x="36427" y="-5086"/>
                    <a:pt x="57637" y="2153"/>
                    <a:pt x="66146" y="19806"/>
                  </a:cubicBezTo>
                  <a:cubicBezTo>
                    <a:pt x="74656" y="37460"/>
                    <a:pt x="67035" y="58415"/>
                    <a:pt x="49636" y="66543"/>
                  </a:cubicBezTo>
                  <a:cubicBezTo>
                    <a:pt x="32236" y="74672"/>
                    <a:pt x="11534" y="67178"/>
                    <a:pt x="3406" y="50160"/>
                  </a:cubicBezTo>
                </a:path>
              </a:pathLst>
            </a:custGeom>
            <a:solidFill>
              <a:srgbClr val="FFFFFF"/>
            </a:solidFill>
          </p:spPr>
        </p:sp>
      </p:grpSp>
      <p:grpSp>
        <p:nvGrpSpPr>
          <p:cNvPr id="18" name="Group 18"/>
          <p:cNvGrpSpPr/>
          <p:nvPr/>
        </p:nvGrpSpPr>
        <p:grpSpPr>
          <a:xfrm>
            <a:off x="3325149" y="546916"/>
            <a:ext cx="101156" cy="101117"/>
            <a:chOff x="0" y="0"/>
            <a:chExt cx="101156" cy="101117"/>
          </a:xfrm>
        </p:grpSpPr>
        <p:sp>
          <p:nvSpPr>
            <p:cNvPr id="19" name="Freeform 19"/>
            <p:cNvSpPr/>
            <p:nvPr/>
          </p:nvSpPr>
          <p:spPr>
            <a:xfrm>
              <a:off x="17" y="68"/>
              <a:ext cx="101089" cy="101110"/>
            </a:xfrm>
            <a:custGeom>
              <a:avLst/>
              <a:gdLst/>
              <a:ahLst/>
              <a:cxnLst/>
              <a:rect l="l" t="t" r="r" b="b"/>
              <a:pathLst>
                <a:path w="101089" h="101110">
                  <a:moveTo>
                    <a:pt x="1380" y="62414"/>
                  </a:moveTo>
                  <a:cubicBezTo>
                    <a:pt x="-4970" y="35999"/>
                    <a:pt x="11159" y="8949"/>
                    <a:pt x="38084" y="1710"/>
                  </a:cubicBezTo>
                  <a:cubicBezTo>
                    <a:pt x="65008" y="-5529"/>
                    <a:pt x="93076" y="10854"/>
                    <a:pt x="99680" y="38793"/>
                  </a:cubicBezTo>
                  <a:cubicBezTo>
                    <a:pt x="106284" y="66732"/>
                    <a:pt x="89012" y="94290"/>
                    <a:pt x="61706" y="100005"/>
                  </a:cubicBezTo>
                  <a:cubicBezTo>
                    <a:pt x="34401" y="105719"/>
                    <a:pt x="7730" y="88702"/>
                    <a:pt x="1380" y="62414"/>
                  </a:cubicBezTo>
                </a:path>
              </a:pathLst>
            </a:custGeom>
            <a:solidFill>
              <a:srgbClr val="FFFFFF"/>
            </a:solidFill>
          </p:spPr>
        </p:sp>
      </p:grpSp>
      <p:grpSp>
        <p:nvGrpSpPr>
          <p:cNvPr id="20" name="Group 20"/>
          <p:cNvGrpSpPr/>
          <p:nvPr/>
        </p:nvGrpSpPr>
        <p:grpSpPr>
          <a:xfrm>
            <a:off x="3365173" y="961882"/>
            <a:ext cx="132531" cy="132626"/>
            <a:chOff x="0" y="0"/>
            <a:chExt cx="132525" cy="132626"/>
          </a:xfrm>
        </p:grpSpPr>
        <p:sp>
          <p:nvSpPr>
            <p:cNvPr id="21" name="Freeform 21"/>
            <p:cNvSpPr/>
            <p:nvPr/>
          </p:nvSpPr>
          <p:spPr>
            <a:xfrm>
              <a:off x="-15" y="1"/>
              <a:ext cx="132485" cy="132721"/>
            </a:xfrm>
            <a:custGeom>
              <a:avLst/>
              <a:gdLst/>
              <a:ahLst/>
              <a:cxnLst/>
              <a:rect l="l" t="t" r="r" b="b"/>
              <a:pathLst>
                <a:path w="132485" h="132721">
                  <a:moveTo>
                    <a:pt x="15" y="67818"/>
                  </a:moveTo>
                  <a:cubicBezTo>
                    <a:pt x="-747" y="32638"/>
                    <a:pt x="27192" y="2412"/>
                    <a:pt x="63767" y="126"/>
                  </a:cubicBezTo>
                  <a:cubicBezTo>
                    <a:pt x="100341" y="-2160"/>
                    <a:pt x="131709" y="26923"/>
                    <a:pt x="132471" y="65024"/>
                  </a:cubicBezTo>
                  <a:cubicBezTo>
                    <a:pt x="133233" y="102997"/>
                    <a:pt x="103262" y="133223"/>
                    <a:pt x="66561" y="132715"/>
                  </a:cubicBezTo>
                  <a:cubicBezTo>
                    <a:pt x="29859" y="132207"/>
                    <a:pt x="904" y="102997"/>
                    <a:pt x="15" y="67818"/>
                  </a:cubicBezTo>
                </a:path>
              </a:pathLst>
            </a:custGeom>
            <a:solidFill>
              <a:srgbClr val="FFFFFF"/>
            </a:solidFill>
          </p:spPr>
        </p:sp>
      </p:grpSp>
      <p:grpSp>
        <p:nvGrpSpPr>
          <p:cNvPr id="22" name="Group 22"/>
          <p:cNvGrpSpPr/>
          <p:nvPr/>
        </p:nvGrpSpPr>
        <p:grpSpPr>
          <a:xfrm>
            <a:off x="3665430" y="-87239"/>
            <a:ext cx="87954" cy="87916"/>
            <a:chOff x="0" y="0"/>
            <a:chExt cx="87948" cy="87909"/>
          </a:xfrm>
        </p:grpSpPr>
        <p:sp>
          <p:nvSpPr>
            <p:cNvPr id="23" name="Freeform 23"/>
            <p:cNvSpPr/>
            <p:nvPr/>
          </p:nvSpPr>
          <p:spPr>
            <a:xfrm>
              <a:off x="36321" y="87246"/>
              <a:ext cx="15493" cy="635"/>
            </a:xfrm>
            <a:custGeom>
              <a:avLst/>
              <a:gdLst/>
              <a:ahLst/>
              <a:cxnLst/>
              <a:rect l="l" t="t" r="r" b="b"/>
              <a:pathLst>
                <a:path w="15493" h="635">
                  <a:moveTo>
                    <a:pt x="0" y="0"/>
                  </a:moveTo>
                  <a:cubicBezTo>
                    <a:pt x="2539" y="381"/>
                    <a:pt x="5079" y="635"/>
                    <a:pt x="7746" y="635"/>
                  </a:cubicBezTo>
                  <a:cubicBezTo>
                    <a:pt x="10413" y="635"/>
                    <a:pt x="12826" y="381"/>
                    <a:pt x="15493" y="0"/>
                  </a:cubicBezTo>
                  <a:close/>
                </a:path>
              </a:pathLst>
            </a:custGeom>
            <a:solidFill>
              <a:srgbClr val="FFFFFF"/>
            </a:solidFill>
          </p:spPr>
        </p:sp>
      </p:grpSp>
      <p:grpSp>
        <p:nvGrpSpPr>
          <p:cNvPr id="24" name="Group 24"/>
          <p:cNvGrpSpPr/>
          <p:nvPr/>
        </p:nvGrpSpPr>
        <p:grpSpPr>
          <a:xfrm>
            <a:off x="3829822" y="408375"/>
            <a:ext cx="127483" cy="127587"/>
            <a:chOff x="0" y="0"/>
            <a:chExt cx="127483" cy="127597"/>
          </a:xfrm>
        </p:grpSpPr>
        <p:sp>
          <p:nvSpPr>
            <p:cNvPr id="25" name="Freeform 25"/>
            <p:cNvSpPr/>
            <p:nvPr/>
          </p:nvSpPr>
          <p:spPr>
            <a:xfrm>
              <a:off x="39" y="-35"/>
              <a:ext cx="127527" cy="127689"/>
            </a:xfrm>
            <a:custGeom>
              <a:avLst/>
              <a:gdLst/>
              <a:ahLst/>
              <a:cxnLst/>
              <a:rect l="l" t="t" r="r" b="b"/>
              <a:pathLst>
                <a:path w="127527" h="127689">
                  <a:moveTo>
                    <a:pt x="1739" y="78905"/>
                  </a:moveTo>
                  <a:cubicBezTo>
                    <a:pt x="-6262" y="45757"/>
                    <a:pt x="14058" y="11465"/>
                    <a:pt x="47968" y="2194"/>
                  </a:cubicBezTo>
                  <a:cubicBezTo>
                    <a:pt x="81877" y="-7077"/>
                    <a:pt x="117184" y="13879"/>
                    <a:pt x="125693" y="49186"/>
                  </a:cubicBezTo>
                  <a:cubicBezTo>
                    <a:pt x="134202" y="84494"/>
                    <a:pt x="112231" y="119039"/>
                    <a:pt x="77686" y="126278"/>
                  </a:cubicBezTo>
                  <a:cubicBezTo>
                    <a:pt x="43269" y="133517"/>
                    <a:pt x="9613" y="112181"/>
                    <a:pt x="1739" y="78905"/>
                  </a:cubicBezTo>
                </a:path>
              </a:pathLst>
            </a:custGeom>
            <a:solidFill>
              <a:srgbClr val="FFFFFF"/>
            </a:solidFill>
          </p:spPr>
        </p:sp>
      </p:grpSp>
      <p:grpSp>
        <p:nvGrpSpPr>
          <p:cNvPr id="26" name="Group 26"/>
          <p:cNvGrpSpPr/>
          <p:nvPr/>
        </p:nvGrpSpPr>
        <p:grpSpPr>
          <a:xfrm>
            <a:off x="3880266" y="931764"/>
            <a:ext cx="167059" cy="167135"/>
            <a:chOff x="0" y="0"/>
            <a:chExt cx="167068" cy="167145"/>
          </a:xfrm>
        </p:grpSpPr>
        <p:sp>
          <p:nvSpPr>
            <p:cNvPr id="27" name="Freeform 27"/>
            <p:cNvSpPr/>
            <p:nvPr/>
          </p:nvSpPr>
          <p:spPr>
            <a:xfrm>
              <a:off x="-17" y="-36"/>
              <a:ext cx="167178" cy="167055"/>
            </a:xfrm>
            <a:custGeom>
              <a:avLst/>
              <a:gdLst/>
              <a:ahLst/>
              <a:cxnLst/>
              <a:rect l="l" t="t" r="r" b="b"/>
              <a:pathLst>
                <a:path w="167178" h="167055">
                  <a:moveTo>
                    <a:pt x="17" y="85383"/>
                  </a:moveTo>
                  <a:cubicBezTo>
                    <a:pt x="-872" y="41058"/>
                    <a:pt x="34181" y="2830"/>
                    <a:pt x="80410" y="163"/>
                  </a:cubicBezTo>
                  <a:cubicBezTo>
                    <a:pt x="126386" y="-2758"/>
                    <a:pt x="166011" y="33819"/>
                    <a:pt x="167154" y="81700"/>
                  </a:cubicBezTo>
                  <a:cubicBezTo>
                    <a:pt x="168297" y="129580"/>
                    <a:pt x="130196" y="167682"/>
                    <a:pt x="84093" y="167047"/>
                  </a:cubicBezTo>
                  <a:cubicBezTo>
                    <a:pt x="37864" y="166412"/>
                    <a:pt x="1033" y="129834"/>
                    <a:pt x="17" y="85383"/>
                  </a:cubicBezTo>
                </a:path>
              </a:pathLst>
            </a:custGeom>
            <a:solidFill>
              <a:srgbClr val="FFFFFF"/>
            </a:solidFill>
          </p:spPr>
        </p:sp>
      </p:grpSp>
      <p:grpSp>
        <p:nvGrpSpPr>
          <p:cNvPr id="28" name="Group 28"/>
          <p:cNvGrpSpPr/>
          <p:nvPr/>
        </p:nvGrpSpPr>
        <p:grpSpPr>
          <a:xfrm>
            <a:off x="4477903" y="230591"/>
            <a:ext cx="161382" cy="161458"/>
            <a:chOff x="0" y="0"/>
            <a:chExt cx="161392" cy="161455"/>
          </a:xfrm>
        </p:grpSpPr>
        <p:sp>
          <p:nvSpPr>
            <p:cNvPr id="29" name="Freeform 29"/>
            <p:cNvSpPr/>
            <p:nvPr/>
          </p:nvSpPr>
          <p:spPr>
            <a:xfrm>
              <a:off x="-10" y="-88"/>
              <a:ext cx="161436" cy="161509"/>
            </a:xfrm>
            <a:custGeom>
              <a:avLst/>
              <a:gdLst/>
              <a:ahLst/>
              <a:cxnLst/>
              <a:rect l="l" t="t" r="r" b="b"/>
              <a:pathLst>
                <a:path w="161436" h="161509">
                  <a:moveTo>
                    <a:pt x="2169" y="99908"/>
                  </a:moveTo>
                  <a:cubicBezTo>
                    <a:pt x="-7864" y="57872"/>
                    <a:pt x="17791" y="14439"/>
                    <a:pt x="60845" y="2755"/>
                  </a:cubicBezTo>
                  <a:cubicBezTo>
                    <a:pt x="103899" y="-8929"/>
                    <a:pt x="148478" y="17614"/>
                    <a:pt x="159146" y="62190"/>
                  </a:cubicBezTo>
                  <a:cubicBezTo>
                    <a:pt x="169814" y="106766"/>
                    <a:pt x="142128" y="150581"/>
                    <a:pt x="98565" y="159724"/>
                  </a:cubicBezTo>
                  <a:cubicBezTo>
                    <a:pt x="54876" y="168868"/>
                    <a:pt x="12329" y="141945"/>
                    <a:pt x="2169" y="99908"/>
                  </a:cubicBezTo>
                </a:path>
              </a:pathLst>
            </a:custGeom>
            <a:solidFill>
              <a:srgbClr val="FFFFFF"/>
            </a:solidFill>
          </p:spPr>
        </p:sp>
      </p:grpSp>
      <p:grpSp>
        <p:nvGrpSpPr>
          <p:cNvPr id="30" name="Group 30"/>
          <p:cNvGrpSpPr/>
          <p:nvPr/>
        </p:nvGrpSpPr>
        <p:grpSpPr>
          <a:xfrm>
            <a:off x="4541796" y="892969"/>
            <a:ext cx="211426" cy="211503"/>
            <a:chOff x="0" y="0"/>
            <a:chExt cx="211430" cy="211506"/>
          </a:xfrm>
        </p:grpSpPr>
        <p:sp>
          <p:nvSpPr>
            <p:cNvPr id="31" name="Freeform 31"/>
            <p:cNvSpPr/>
            <p:nvPr/>
          </p:nvSpPr>
          <p:spPr>
            <a:xfrm>
              <a:off x="-26" y="-44"/>
              <a:ext cx="211512" cy="211508"/>
            </a:xfrm>
            <a:custGeom>
              <a:avLst/>
              <a:gdLst/>
              <a:ahLst/>
              <a:cxnLst/>
              <a:rect l="l" t="t" r="r" b="b"/>
              <a:pathLst>
                <a:path w="211512" h="211508">
                  <a:moveTo>
                    <a:pt x="31777" y="180515"/>
                  </a:moveTo>
                  <a:cubicBezTo>
                    <a:pt x="12599" y="161719"/>
                    <a:pt x="661" y="136445"/>
                    <a:pt x="26" y="108124"/>
                  </a:cubicBezTo>
                  <a:cubicBezTo>
                    <a:pt x="-609" y="79802"/>
                    <a:pt x="10313" y="54020"/>
                    <a:pt x="28475" y="34462"/>
                  </a:cubicBezTo>
                  <a:cubicBezTo>
                    <a:pt x="46890" y="14903"/>
                    <a:pt x="72545" y="1695"/>
                    <a:pt x="101756" y="171"/>
                  </a:cubicBezTo>
                  <a:cubicBezTo>
                    <a:pt x="130840" y="-1480"/>
                    <a:pt x="158018" y="8934"/>
                    <a:pt x="177958" y="27731"/>
                  </a:cubicBezTo>
                  <a:cubicBezTo>
                    <a:pt x="197897" y="46527"/>
                    <a:pt x="210852" y="73325"/>
                    <a:pt x="211487" y="103424"/>
                  </a:cubicBezTo>
                  <a:cubicBezTo>
                    <a:pt x="212122" y="133524"/>
                    <a:pt x="200438" y="160957"/>
                    <a:pt x="181260" y="180515"/>
                  </a:cubicBezTo>
                  <a:cubicBezTo>
                    <a:pt x="162082" y="200074"/>
                    <a:pt x="135666" y="211758"/>
                    <a:pt x="106455" y="211504"/>
                  </a:cubicBezTo>
                  <a:cubicBezTo>
                    <a:pt x="77244" y="211250"/>
                    <a:pt x="50954" y="199185"/>
                    <a:pt x="31777" y="180515"/>
                  </a:cubicBezTo>
                </a:path>
              </a:pathLst>
            </a:custGeom>
            <a:solidFill>
              <a:srgbClr val="FFFFFF"/>
            </a:solidFill>
          </p:spPr>
        </p:sp>
      </p:grpSp>
      <p:sp>
        <p:nvSpPr>
          <p:cNvPr id="32" name="Freeform 32"/>
          <p:cNvSpPr/>
          <p:nvPr/>
        </p:nvSpPr>
        <p:spPr>
          <a:xfrm>
            <a:off x="4994672" y="8631298"/>
            <a:ext cx="11534965" cy="1658750"/>
          </a:xfrm>
          <a:custGeom>
            <a:avLst/>
            <a:gdLst/>
            <a:ahLst/>
            <a:cxnLst/>
            <a:rect l="l" t="t" r="r" b="b"/>
            <a:pathLst>
              <a:path w="11534965" h="1658750">
                <a:moveTo>
                  <a:pt x="0" y="0"/>
                </a:moveTo>
                <a:lnTo>
                  <a:pt x="11534965" y="0"/>
                </a:lnTo>
                <a:lnTo>
                  <a:pt x="11534965" y="1658750"/>
                </a:lnTo>
                <a:lnTo>
                  <a:pt x="0" y="16587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3" name="Freeform 33"/>
          <p:cNvSpPr/>
          <p:nvPr/>
        </p:nvSpPr>
        <p:spPr>
          <a:xfrm>
            <a:off x="-601008" y="1315755"/>
            <a:ext cx="6268202" cy="4297632"/>
          </a:xfrm>
          <a:custGeom>
            <a:avLst/>
            <a:gdLst/>
            <a:ahLst/>
            <a:cxnLst/>
            <a:rect l="l" t="t" r="r" b="b"/>
            <a:pathLst>
              <a:path w="6268202" h="4297632">
                <a:moveTo>
                  <a:pt x="0" y="0"/>
                </a:moveTo>
                <a:lnTo>
                  <a:pt x="6268202" y="0"/>
                </a:lnTo>
                <a:lnTo>
                  <a:pt x="6268202" y="4297632"/>
                </a:lnTo>
                <a:lnTo>
                  <a:pt x="0" y="429763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4" name="Group 34"/>
          <p:cNvGrpSpPr/>
          <p:nvPr/>
        </p:nvGrpSpPr>
        <p:grpSpPr>
          <a:xfrm>
            <a:off x="5297014" y="5867"/>
            <a:ext cx="204149" cy="204226"/>
            <a:chOff x="0" y="0"/>
            <a:chExt cx="204153" cy="204229"/>
          </a:xfrm>
        </p:grpSpPr>
        <p:sp>
          <p:nvSpPr>
            <p:cNvPr id="35" name="Freeform 35"/>
            <p:cNvSpPr/>
            <p:nvPr/>
          </p:nvSpPr>
          <p:spPr>
            <a:xfrm>
              <a:off x="50" y="78"/>
              <a:ext cx="204137" cy="204112"/>
            </a:xfrm>
            <a:custGeom>
              <a:avLst/>
              <a:gdLst/>
              <a:ahLst/>
              <a:cxnLst/>
              <a:rect l="l" t="t" r="r" b="b"/>
              <a:pathLst>
                <a:path w="204137" h="204112">
                  <a:moveTo>
                    <a:pt x="2744" y="126291"/>
                  </a:moveTo>
                  <a:cubicBezTo>
                    <a:pt x="-9956" y="72949"/>
                    <a:pt x="22556" y="18211"/>
                    <a:pt x="77040" y="3478"/>
                  </a:cubicBezTo>
                  <a:cubicBezTo>
                    <a:pt x="131523" y="-11254"/>
                    <a:pt x="187785" y="22148"/>
                    <a:pt x="201247" y="78537"/>
                  </a:cubicBezTo>
                  <a:cubicBezTo>
                    <a:pt x="214709" y="134927"/>
                    <a:pt x="179784" y="190300"/>
                    <a:pt x="124665" y="201858"/>
                  </a:cubicBezTo>
                  <a:cubicBezTo>
                    <a:pt x="69547" y="213415"/>
                    <a:pt x="15444" y="179378"/>
                    <a:pt x="2744" y="126291"/>
                  </a:cubicBezTo>
                </a:path>
              </a:pathLst>
            </a:custGeom>
            <a:solidFill>
              <a:srgbClr val="FFFFFF"/>
            </a:solidFill>
          </p:spPr>
        </p:sp>
      </p:grpSp>
      <p:grpSp>
        <p:nvGrpSpPr>
          <p:cNvPr id="36" name="Group 36"/>
          <p:cNvGrpSpPr/>
          <p:nvPr/>
        </p:nvGrpSpPr>
        <p:grpSpPr>
          <a:xfrm>
            <a:off x="5377834" y="843867"/>
            <a:ext cx="267519" cy="267672"/>
            <a:chOff x="0" y="0"/>
            <a:chExt cx="267513" cy="267665"/>
          </a:xfrm>
        </p:grpSpPr>
        <p:sp>
          <p:nvSpPr>
            <p:cNvPr id="37" name="Freeform 37"/>
            <p:cNvSpPr/>
            <p:nvPr/>
          </p:nvSpPr>
          <p:spPr>
            <a:xfrm>
              <a:off x="-30" y="49"/>
              <a:ext cx="267519" cy="267542"/>
            </a:xfrm>
            <a:custGeom>
              <a:avLst/>
              <a:gdLst/>
              <a:ahLst/>
              <a:cxnLst/>
              <a:rect l="l" t="t" r="r" b="b"/>
              <a:pathLst>
                <a:path w="267519" h="267542">
                  <a:moveTo>
                    <a:pt x="40289" y="228293"/>
                  </a:moveTo>
                  <a:cubicBezTo>
                    <a:pt x="16032" y="204671"/>
                    <a:pt x="792" y="172541"/>
                    <a:pt x="30" y="136855"/>
                  </a:cubicBezTo>
                  <a:cubicBezTo>
                    <a:pt x="-732" y="101168"/>
                    <a:pt x="12984" y="68403"/>
                    <a:pt x="36098" y="43511"/>
                  </a:cubicBezTo>
                  <a:cubicBezTo>
                    <a:pt x="59212" y="18874"/>
                    <a:pt x="91723" y="2237"/>
                    <a:pt x="128553" y="205"/>
                  </a:cubicBezTo>
                  <a:cubicBezTo>
                    <a:pt x="165383" y="-1827"/>
                    <a:pt x="199800" y="11381"/>
                    <a:pt x="225073" y="35002"/>
                  </a:cubicBezTo>
                  <a:cubicBezTo>
                    <a:pt x="250345" y="58624"/>
                    <a:pt x="266728" y="92786"/>
                    <a:pt x="267490" y="130886"/>
                  </a:cubicBezTo>
                  <a:cubicBezTo>
                    <a:pt x="268252" y="168985"/>
                    <a:pt x="253647" y="203782"/>
                    <a:pt x="229390" y="228420"/>
                  </a:cubicBezTo>
                  <a:cubicBezTo>
                    <a:pt x="205261" y="253185"/>
                    <a:pt x="171479" y="267916"/>
                    <a:pt x="134522" y="267535"/>
                  </a:cubicBezTo>
                  <a:cubicBezTo>
                    <a:pt x="97565" y="267154"/>
                    <a:pt x="64419" y="251915"/>
                    <a:pt x="40162" y="228293"/>
                  </a:cubicBezTo>
                </a:path>
              </a:pathLst>
            </a:custGeom>
            <a:solidFill>
              <a:srgbClr val="FFFFFF"/>
            </a:solidFill>
          </p:spPr>
        </p:sp>
      </p:grpSp>
      <p:grpSp>
        <p:nvGrpSpPr>
          <p:cNvPr id="38" name="Group 38"/>
          <p:cNvGrpSpPr/>
          <p:nvPr/>
        </p:nvGrpSpPr>
        <p:grpSpPr>
          <a:xfrm>
            <a:off x="9544383" y="0"/>
            <a:ext cx="8743617" cy="10287000"/>
            <a:chOff x="0" y="0"/>
            <a:chExt cx="11658156" cy="13716000"/>
          </a:xfrm>
        </p:grpSpPr>
        <p:sp>
          <p:nvSpPr>
            <p:cNvPr id="39" name="Freeform 39"/>
            <p:cNvSpPr/>
            <p:nvPr/>
          </p:nvSpPr>
          <p:spPr>
            <a:xfrm>
              <a:off x="0" y="0"/>
              <a:ext cx="11658092" cy="13716000"/>
            </a:xfrm>
            <a:custGeom>
              <a:avLst/>
              <a:gdLst/>
              <a:ahLst/>
              <a:cxnLst/>
              <a:rect l="l" t="t" r="r" b="b"/>
              <a:pathLst>
                <a:path w="11658092" h="13716000">
                  <a:moveTo>
                    <a:pt x="4241419" y="0"/>
                  </a:moveTo>
                  <a:cubicBezTo>
                    <a:pt x="1711833" y="1423035"/>
                    <a:pt x="0" y="4157345"/>
                    <a:pt x="0" y="7296785"/>
                  </a:cubicBezTo>
                  <a:cubicBezTo>
                    <a:pt x="0" y="9878441"/>
                    <a:pt x="1157605" y="12186158"/>
                    <a:pt x="2975610" y="13716000"/>
                  </a:cubicBezTo>
                  <a:lnTo>
                    <a:pt x="11658092" y="13716000"/>
                  </a:lnTo>
                  <a:lnTo>
                    <a:pt x="11658092" y="0"/>
                  </a:lnTo>
                  <a:close/>
                </a:path>
              </a:pathLst>
            </a:custGeom>
            <a:blipFill>
              <a:blip r:embed="rId5"/>
              <a:stretch>
                <a:fillRect t="-20092" r="-41201" b="-26644"/>
              </a:stretch>
            </a:blipFill>
          </p:spPr>
        </p:sp>
      </p:grpSp>
      <p:sp>
        <p:nvSpPr>
          <p:cNvPr id="40" name="Freeform 40"/>
          <p:cNvSpPr/>
          <p:nvPr/>
        </p:nvSpPr>
        <p:spPr>
          <a:xfrm>
            <a:off x="4688357" y="8790346"/>
            <a:ext cx="1879321" cy="1563205"/>
          </a:xfrm>
          <a:custGeom>
            <a:avLst/>
            <a:gdLst/>
            <a:ahLst/>
            <a:cxnLst/>
            <a:rect l="l" t="t" r="r" b="b"/>
            <a:pathLst>
              <a:path w="1879321" h="1563205">
                <a:moveTo>
                  <a:pt x="0" y="0"/>
                </a:moveTo>
                <a:lnTo>
                  <a:pt x="1879321" y="0"/>
                </a:lnTo>
                <a:lnTo>
                  <a:pt x="1879321" y="1563205"/>
                </a:lnTo>
                <a:lnTo>
                  <a:pt x="0" y="156320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1" name="Freeform 41"/>
          <p:cNvSpPr/>
          <p:nvPr/>
        </p:nvSpPr>
        <p:spPr>
          <a:xfrm>
            <a:off x="-63503" y="-764086"/>
            <a:ext cx="20742916" cy="13524519"/>
          </a:xfrm>
          <a:custGeom>
            <a:avLst/>
            <a:gdLst/>
            <a:ahLst/>
            <a:cxnLst/>
            <a:rect l="l" t="t" r="r" b="b"/>
            <a:pathLst>
              <a:path w="20742916" h="13524519">
                <a:moveTo>
                  <a:pt x="0" y="0"/>
                </a:moveTo>
                <a:lnTo>
                  <a:pt x="20742916" y="0"/>
                </a:lnTo>
                <a:lnTo>
                  <a:pt x="20742916" y="13524519"/>
                </a:lnTo>
                <a:lnTo>
                  <a:pt x="0" y="135245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42" name="TextBox 42"/>
          <p:cNvSpPr txBox="1"/>
          <p:nvPr/>
        </p:nvSpPr>
        <p:spPr>
          <a:xfrm>
            <a:off x="1028700" y="3515830"/>
            <a:ext cx="5799134" cy="3600098"/>
          </a:xfrm>
          <a:prstGeom prst="rect">
            <a:avLst/>
          </a:prstGeom>
        </p:spPr>
        <p:txBody>
          <a:bodyPr lIns="0" tIns="0" rIns="0" bIns="0" rtlCol="0" anchor="t">
            <a:spAutoFit/>
          </a:bodyPr>
          <a:lstStyle/>
          <a:p>
            <a:pPr algn="l">
              <a:lnSpc>
                <a:spcPts val="13797"/>
              </a:lnSpc>
            </a:pPr>
            <a:r>
              <a:rPr lang="en-US" sz="9897" b="1">
                <a:solidFill>
                  <a:srgbClr val="0C3E80"/>
                </a:solidFill>
                <a:latin typeface="Poppins Bold"/>
                <a:ea typeface="Poppins Bold"/>
                <a:cs typeface="Poppins Bold"/>
                <a:sym typeface="Poppins Bold"/>
              </a:rPr>
              <a:t>HASIL ANALISIS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965168" y="1158250"/>
            <a:ext cx="934926" cy="574586"/>
          </a:xfrm>
          <a:custGeom>
            <a:avLst/>
            <a:gdLst/>
            <a:ahLst/>
            <a:cxnLst/>
            <a:rect l="l" t="t" r="r" b="b"/>
            <a:pathLst>
              <a:path w="934926" h="574586">
                <a:moveTo>
                  <a:pt x="0" y="0"/>
                </a:moveTo>
                <a:lnTo>
                  <a:pt x="934927" y="0"/>
                </a:lnTo>
                <a:lnTo>
                  <a:pt x="934927" y="574586"/>
                </a:lnTo>
                <a:lnTo>
                  <a:pt x="0" y="5745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218177" y="-499491"/>
            <a:ext cx="8326441" cy="5955287"/>
          </a:xfrm>
          <a:custGeom>
            <a:avLst/>
            <a:gdLst/>
            <a:ahLst/>
            <a:cxnLst/>
            <a:rect l="l" t="t" r="r" b="b"/>
            <a:pathLst>
              <a:path w="8326441" h="5955287">
                <a:moveTo>
                  <a:pt x="0" y="0"/>
                </a:moveTo>
                <a:lnTo>
                  <a:pt x="8326441" y="0"/>
                </a:lnTo>
                <a:lnTo>
                  <a:pt x="8326441" y="5955287"/>
                </a:lnTo>
                <a:lnTo>
                  <a:pt x="0" y="595528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028700" y="1028700"/>
            <a:ext cx="838210" cy="764467"/>
            <a:chOff x="0" y="0"/>
            <a:chExt cx="838213" cy="764464"/>
          </a:xfrm>
        </p:grpSpPr>
        <p:sp>
          <p:nvSpPr>
            <p:cNvPr id="7" name="Freeform 7"/>
            <p:cNvSpPr/>
            <p:nvPr/>
          </p:nvSpPr>
          <p:spPr>
            <a:xfrm>
              <a:off x="0" y="0"/>
              <a:ext cx="838202" cy="764413"/>
            </a:xfrm>
            <a:custGeom>
              <a:avLst/>
              <a:gdLst/>
              <a:ahLst/>
              <a:cxnLst/>
              <a:rect l="l" t="t" r="r" b="b"/>
              <a:pathLst>
                <a:path w="838202" h="764413">
                  <a:moveTo>
                    <a:pt x="0" y="764413"/>
                  </a:moveTo>
                  <a:lnTo>
                    <a:pt x="838202" y="764413"/>
                  </a:lnTo>
                  <a:lnTo>
                    <a:pt x="838202" y="0"/>
                  </a:lnTo>
                  <a:lnTo>
                    <a:pt x="0" y="0"/>
                  </a:lnTo>
                  <a:close/>
                </a:path>
              </a:pathLst>
            </a:custGeom>
            <a:solidFill>
              <a:srgbClr val="000000">
                <a:alpha val="0"/>
              </a:srgbClr>
            </a:solidFill>
          </p:spPr>
        </p:sp>
      </p:grpSp>
      <p:grpSp>
        <p:nvGrpSpPr>
          <p:cNvPr id="8" name="Group 8"/>
          <p:cNvGrpSpPr/>
          <p:nvPr/>
        </p:nvGrpSpPr>
        <p:grpSpPr>
          <a:xfrm>
            <a:off x="1843088" y="3347876"/>
            <a:ext cx="104775" cy="104775"/>
            <a:chOff x="0" y="0"/>
            <a:chExt cx="104775" cy="104775"/>
          </a:xfrm>
        </p:grpSpPr>
        <p:sp>
          <p:nvSpPr>
            <p:cNvPr id="9" name="Freeform 9"/>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lnTo>
                    <a:pt x="96393" y="70612"/>
                  </a:lnTo>
                  <a:lnTo>
                    <a:pt x="100838" y="72390"/>
                  </a:ln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lnTo>
                    <a:pt x="34163" y="8382"/>
                  </a:lnTo>
                  <a:lnTo>
                    <a:pt x="32385" y="3937"/>
                  </a:ln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lnTo>
                    <a:pt x="96266" y="34036"/>
                  </a:lnTo>
                  <a:lnTo>
                    <a:pt x="100711" y="32258"/>
                  </a:lnTo>
                  <a:cubicBezTo>
                    <a:pt x="103378" y="38608"/>
                    <a:pt x="104648" y="45339"/>
                    <a:pt x="104648" y="52324"/>
                  </a:cubicBezTo>
                  <a:lnTo>
                    <a:pt x="100076" y="52324"/>
                  </a:lnTo>
                  <a:lnTo>
                    <a:pt x="104902" y="52324"/>
                  </a:lnTo>
                  <a:moveTo>
                    <a:pt x="95377" y="52324"/>
                  </a:moveTo>
                  <a:cubicBezTo>
                    <a:pt x="95377" y="46609"/>
                    <a:pt x="94234" y="41148"/>
                    <a:pt x="92075" y="35941"/>
                  </a:cubicBez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cubicBezTo>
                    <a:pt x="93980" y="63500"/>
                    <a:pt x="95123" y="58039"/>
                    <a:pt x="95123" y="52324"/>
                  </a:cubicBezTo>
                  <a:close/>
                </a:path>
              </a:pathLst>
            </a:custGeom>
            <a:solidFill>
              <a:srgbClr val="293C63"/>
            </a:solidFill>
          </p:spPr>
        </p:sp>
      </p:grpSp>
      <p:grpSp>
        <p:nvGrpSpPr>
          <p:cNvPr id="10" name="Group 10"/>
          <p:cNvGrpSpPr/>
          <p:nvPr/>
        </p:nvGrpSpPr>
        <p:grpSpPr>
          <a:xfrm>
            <a:off x="1843088" y="4576601"/>
            <a:ext cx="104775" cy="104775"/>
            <a:chOff x="0" y="0"/>
            <a:chExt cx="104775" cy="104775"/>
          </a:xfrm>
        </p:grpSpPr>
        <p:sp>
          <p:nvSpPr>
            <p:cNvPr id="11" name="Freeform 11"/>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cubicBezTo>
                    <a:pt x="103378" y="38608"/>
                    <a:pt x="104648" y="45339"/>
                    <a:pt x="104648" y="52324"/>
                  </a:cubicBezTo>
                  <a:lnTo>
                    <a:pt x="100076" y="52324"/>
                  </a:lnTo>
                  <a:lnTo>
                    <a:pt x="104902" y="52324"/>
                  </a:lnTo>
                  <a:moveTo>
                    <a:pt x="95377" y="52324"/>
                  </a:moveTo>
                  <a:cubicBezTo>
                    <a:pt x="95377" y="46609"/>
                    <a:pt x="94234" y="41148"/>
                    <a:pt x="92075" y="35941"/>
                  </a:cubicBezTo>
                  <a:lnTo>
                    <a:pt x="96520" y="34163"/>
                  </a:lnTo>
                  <a:lnTo>
                    <a:pt x="92075" y="35941"/>
                  </a:ln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lnTo>
                    <a:pt x="34163" y="8382"/>
                  </a:lnTo>
                  <a:lnTo>
                    <a:pt x="35941" y="12827"/>
                  </a:ln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lnTo>
                    <a:pt x="96266" y="70485"/>
                  </a:lnTo>
                  <a:lnTo>
                    <a:pt x="91821" y="68707"/>
                  </a:lnTo>
                  <a:cubicBezTo>
                    <a:pt x="93980" y="63500"/>
                    <a:pt x="95123" y="58039"/>
                    <a:pt x="95123" y="52324"/>
                  </a:cubicBezTo>
                  <a:close/>
                </a:path>
              </a:pathLst>
            </a:custGeom>
            <a:solidFill>
              <a:srgbClr val="293C63"/>
            </a:solidFill>
          </p:spPr>
        </p:sp>
      </p:grpSp>
      <p:sp>
        <p:nvSpPr>
          <p:cNvPr id="12" name="Freeform 12"/>
          <p:cNvSpPr/>
          <p:nvPr/>
        </p:nvSpPr>
        <p:spPr>
          <a:xfrm>
            <a:off x="10945240" y="2404753"/>
            <a:ext cx="7342760" cy="6102086"/>
          </a:xfrm>
          <a:custGeom>
            <a:avLst/>
            <a:gdLst/>
            <a:ahLst/>
            <a:cxnLst/>
            <a:rect l="l" t="t" r="r" b="b"/>
            <a:pathLst>
              <a:path w="7342760" h="6102086">
                <a:moveTo>
                  <a:pt x="0" y="0"/>
                </a:moveTo>
                <a:lnTo>
                  <a:pt x="7342760" y="0"/>
                </a:lnTo>
                <a:lnTo>
                  <a:pt x="7342760" y="6102086"/>
                </a:lnTo>
                <a:lnTo>
                  <a:pt x="0" y="6102086"/>
                </a:lnTo>
                <a:lnTo>
                  <a:pt x="0" y="0"/>
                </a:lnTo>
                <a:close/>
              </a:path>
            </a:pathLst>
          </a:custGeom>
          <a:blipFill>
            <a:blip r:embed="rId5"/>
            <a:stretch>
              <a:fillRect/>
            </a:stretch>
          </a:blipFill>
        </p:spPr>
      </p:sp>
      <p:sp>
        <p:nvSpPr>
          <p:cNvPr id="13" name="TextBox 13"/>
          <p:cNvSpPr txBox="1"/>
          <p:nvPr/>
        </p:nvSpPr>
        <p:spPr>
          <a:xfrm>
            <a:off x="2052361" y="1841802"/>
            <a:ext cx="13460492" cy="808149"/>
          </a:xfrm>
          <a:prstGeom prst="rect">
            <a:avLst/>
          </a:prstGeom>
        </p:spPr>
        <p:txBody>
          <a:bodyPr lIns="0" tIns="0" rIns="0" bIns="0" rtlCol="0" anchor="t">
            <a:spAutoFit/>
          </a:bodyPr>
          <a:lstStyle/>
          <a:p>
            <a:pPr algn="l">
              <a:lnSpc>
                <a:spcPts val="3225"/>
              </a:lnSpc>
            </a:pPr>
            <a:r>
              <a:rPr lang="en-US" sz="2490" b="1">
                <a:solidFill>
                  <a:srgbClr val="293C63"/>
                </a:solidFill>
                <a:latin typeface="Montserrat Bold"/>
                <a:ea typeface="Montserrat Bold"/>
                <a:cs typeface="Montserrat Bold"/>
                <a:sym typeface="Montserrat Bold"/>
              </a:rPr>
              <a:t>Bagaimana perbandingan perilisan Movie vs TV Show dari tahun ke tahun? HOW</a:t>
            </a:r>
          </a:p>
          <a:p>
            <a:pPr algn="l">
              <a:lnSpc>
                <a:spcPts val="3225"/>
              </a:lnSpc>
            </a:pPr>
            <a:endParaRPr lang="en-US" sz="2490" b="1">
              <a:solidFill>
                <a:srgbClr val="293C63"/>
              </a:solidFill>
              <a:latin typeface="Montserrat Bold"/>
              <a:ea typeface="Montserrat Bold"/>
              <a:cs typeface="Montserrat Bold"/>
              <a:sym typeface="Montserrat Bold"/>
            </a:endParaRPr>
          </a:p>
        </p:txBody>
      </p:sp>
      <p:sp>
        <p:nvSpPr>
          <p:cNvPr id="14" name="TextBox 14"/>
          <p:cNvSpPr txBox="1"/>
          <p:nvPr/>
        </p:nvSpPr>
        <p:spPr>
          <a:xfrm>
            <a:off x="2052361" y="896903"/>
            <a:ext cx="5357693" cy="963949"/>
          </a:xfrm>
          <a:prstGeom prst="rect">
            <a:avLst/>
          </a:prstGeom>
        </p:spPr>
        <p:txBody>
          <a:bodyPr lIns="0" tIns="0" rIns="0" bIns="0" rtlCol="0" anchor="t">
            <a:spAutoFit/>
          </a:bodyPr>
          <a:lstStyle/>
          <a:p>
            <a:pPr algn="l">
              <a:lnSpc>
                <a:spcPts val="6718"/>
              </a:lnSpc>
            </a:pPr>
            <a:r>
              <a:rPr lang="en-US" sz="4799" b="1">
                <a:solidFill>
                  <a:srgbClr val="374A71"/>
                </a:solidFill>
                <a:latin typeface="Cooper Hewitt Bold"/>
                <a:ea typeface="Cooper Hewitt Bold"/>
                <a:cs typeface="Cooper Hewitt Bold"/>
                <a:sym typeface="Cooper Hewitt Bold"/>
              </a:rPr>
              <a:t>Analisis Visualisasi</a:t>
            </a:r>
          </a:p>
        </p:txBody>
      </p:sp>
      <p:sp>
        <p:nvSpPr>
          <p:cNvPr id="15" name="TextBox 15"/>
          <p:cNvSpPr txBox="1"/>
          <p:nvPr/>
        </p:nvSpPr>
        <p:spPr>
          <a:xfrm>
            <a:off x="328304" y="2430528"/>
            <a:ext cx="10452325" cy="7296791"/>
          </a:xfrm>
          <a:prstGeom prst="rect">
            <a:avLst/>
          </a:prstGeom>
        </p:spPr>
        <p:txBody>
          <a:bodyPr lIns="0" tIns="0" rIns="0" bIns="0" rtlCol="0" anchor="t">
            <a:spAutoFit/>
          </a:bodyPr>
          <a:lstStyle/>
          <a:p>
            <a:pPr algn="just">
              <a:lnSpc>
                <a:spcPts val="3639"/>
              </a:lnSpc>
              <a:spcBef>
                <a:spcPct val="0"/>
              </a:spcBef>
            </a:pPr>
            <a:r>
              <a:rPr lang="en-US" sz="2599">
                <a:solidFill>
                  <a:srgbClr val="000000"/>
                </a:solidFill>
                <a:latin typeface="Montserrat"/>
                <a:ea typeface="Montserrat"/>
                <a:cs typeface="Montserrat"/>
                <a:sym typeface="Montserrat"/>
              </a:rPr>
              <a:t>insight = Perilisan konten dari 2019 sampai 2021, menunjukan movie memiliki paling banyak konten, sedangkan tvshow lebih kelihatan stabil dari tahun ke tahun, dan di tahun 2019 distribusi movie puncaknya paling tinggi lalu mengalami penurunan di tahun berikutnya kemungkinan dipengaruhi oleh faktor external pada periode tersebut, meskipun tidak dapat dipastikan secara fakta karena keterbatasan data.</a:t>
            </a:r>
          </a:p>
          <a:p>
            <a:pPr algn="just">
              <a:lnSpc>
                <a:spcPts val="3639"/>
              </a:lnSpc>
              <a:spcBef>
                <a:spcPct val="0"/>
              </a:spcBef>
            </a:pPr>
            <a:endParaRPr lang="en-US" sz="2599">
              <a:solidFill>
                <a:srgbClr val="000000"/>
              </a:solidFill>
              <a:latin typeface="Montserrat"/>
              <a:ea typeface="Montserrat"/>
              <a:cs typeface="Montserrat"/>
              <a:sym typeface="Montserrat"/>
            </a:endParaRPr>
          </a:p>
          <a:p>
            <a:pPr algn="just">
              <a:lnSpc>
                <a:spcPts val="3639"/>
              </a:lnSpc>
              <a:spcBef>
                <a:spcPct val="0"/>
              </a:spcBef>
            </a:pPr>
            <a:r>
              <a:rPr lang="en-US" sz="2599">
                <a:solidFill>
                  <a:srgbClr val="000000"/>
                </a:solidFill>
                <a:latin typeface="Montserrat"/>
                <a:ea typeface="Montserrat"/>
                <a:cs typeface="Montserrat"/>
                <a:sym typeface="Montserrat"/>
              </a:rPr>
              <a:t>Wisdom = Platform Disney+ dapat lebih fokus pada penyediaan konten Movie yang menjadi andalah platform. Selain itu, kestabilan jumlah TV Show menandakan bahwa konten Tvshow tetap dipertahankan untuk menjaga loyalitas pengguna dalam waktu jangka panjang di platform Disney+, agar pengguna tidak hanya datang di periode periode tertentu saja</a:t>
            </a:r>
          </a:p>
          <a:p>
            <a:pPr algn="just">
              <a:lnSpc>
                <a:spcPts val="3639"/>
              </a:lnSpc>
              <a:spcBef>
                <a:spcPct val="0"/>
              </a:spcBef>
            </a:pPr>
            <a:endParaRPr lang="en-US" sz="2599">
              <a:solidFill>
                <a:srgbClr val="000000"/>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965168" y="1158250"/>
            <a:ext cx="934926" cy="574586"/>
          </a:xfrm>
          <a:custGeom>
            <a:avLst/>
            <a:gdLst/>
            <a:ahLst/>
            <a:cxnLst/>
            <a:rect l="l" t="t" r="r" b="b"/>
            <a:pathLst>
              <a:path w="934926" h="574586">
                <a:moveTo>
                  <a:pt x="0" y="0"/>
                </a:moveTo>
                <a:lnTo>
                  <a:pt x="934927" y="0"/>
                </a:lnTo>
                <a:lnTo>
                  <a:pt x="934927" y="574586"/>
                </a:lnTo>
                <a:lnTo>
                  <a:pt x="0" y="5745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218177" y="-499491"/>
            <a:ext cx="8326441" cy="5955287"/>
          </a:xfrm>
          <a:custGeom>
            <a:avLst/>
            <a:gdLst/>
            <a:ahLst/>
            <a:cxnLst/>
            <a:rect l="l" t="t" r="r" b="b"/>
            <a:pathLst>
              <a:path w="8326441" h="5955287">
                <a:moveTo>
                  <a:pt x="0" y="0"/>
                </a:moveTo>
                <a:lnTo>
                  <a:pt x="8326441" y="0"/>
                </a:lnTo>
                <a:lnTo>
                  <a:pt x="8326441" y="5955287"/>
                </a:lnTo>
                <a:lnTo>
                  <a:pt x="0" y="595528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028700" y="1028700"/>
            <a:ext cx="838210" cy="764467"/>
            <a:chOff x="0" y="0"/>
            <a:chExt cx="838213" cy="764464"/>
          </a:xfrm>
        </p:grpSpPr>
        <p:sp>
          <p:nvSpPr>
            <p:cNvPr id="7" name="Freeform 7"/>
            <p:cNvSpPr/>
            <p:nvPr/>
          </p:nvSpPr>
          <p:spPr>
            <a:xfrm>
              <a:off x="0" y="0"/>
              <a:ext cx="838202" cy="764413"/>
            </a:xfrm>
            <a:custGeom>
              <a:avLst/>
              <a:gdLst/>
              <a:ahLst/>
              <a:cxnLst/>
              <a:rect l="l" t="t" r="r" b="b"/>
              <a:pathLst>
                <a:path w="838202" h="764413">
                  <a:moveTo>
                    <a:pt x="0" y="764413"/>
                  </a:moveTo>
                  <a:lnTo>
                    <a:pt x="838202" y="764413"/>
                  </a:lnTo>
                  <a:lnTo>
                    <a:pt x="838202" y="0"/>
                  </a:lnTo>
                  <a:lnTo>
                    <a:pt x="0" y="0"/>
                  </a:lnTo>
                  <a:close/>
                </a:path>
              </a:pathLst>
            </a:custGeom>
            <a:solidFill>
              <a:srgbClr val="000000">
                <a:alpha val="0"/>
              </a:srgbClr>
            </a:solidFill>
          </p:spPr>
        </p:sp>
      </p:grpSp>
      <p:grpSp>
        <p:nvGrpSpPr>
          <p:cNvPr id="8" name="Group 8"/>
          <p:cNvGrpSpPr/>
          <p:nvPr/>
        </p:nvGrpSpPr>
        <p:grpSpPr>
          <a:xfrm>
            <a:off x="1843088" y="3347876"/>
            <a:ext cx="104775" cy="104775"/>
            <a:chOff x="0" y="0"/>
            <a:chExt cx="104775" cy="104775"/>
          </a:xfrm>
        </p:grpSpPr>
        <p:sp>
          <p:nvSpPr>
            <p:cNvPr id="9" name="Freeform 9"/>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lnTo>
                    <a:pt x="96393" y="70612"/>
                  </a:lnTo>
                  <a:lnTo>
                    <a:pt x="100838" y="72390"/>
                  </a:ln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lnTo>
                    <a:pt x="34163" y="8382"/>
                  </a:lnTo>
                  <a:lnTo>
                    <a:pt x="32385" y="3937"/>
                  </a:ln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lnTo>
                    <a:pt x="96266" y="34036"/>
                  </a:lnTo>
                  <a:lnTo>
                    <a:pt x="100711" y="32258"/>
                  </a:lnTo>
                  <a:cubicBezTo>
                    <a:pt x="103378" y="38608"/>
                    <a:pt x="104648" y="45339"/>
                    <a:pt x="104648" y="52324"/>
                  </a:cubicBezTo>
                  <a:lnTo>
                    <a:pt x="100076" y="52324"/>
                  </a:lnTo>
                  <a:lnTo>
                    <a:pt x="104902" y="52324"/>
                  </a:lnTo>
                  <a:moveTo>
                    <a:pt x="95377" y="52324"/>
                  </a:moveTo>
                  <a:cubicBezTo>
                    <a:pt x="95377" y="46609"/>
                    <a:pt x="94234" y="41148"/>
                    <a:pt x="92075" y="35941"/>
                  </a:cubicBez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cubicBezTo>
                    <a:pt x="93980" y="63500"/>
                    <a:pt x="95123" y="58039"/>
                    <a:pt x="95123" y="52324"/>
                  </a:cubicBezTo>
                  <a:close/>
                </a:path>
              </a:pathLst>
            </a:custGeom>
            <a:solidFill>
              <a:srgbClr val="293C63"/>
            </a:solidFill>
          </p:spPr>
        </p:sp>
      </p:grpSp>
      <p:grpSp>
        <p:nvGrpSpPr>
          <p:cNvPr id="10" name="Group 10"/>
          <p:cNvGrpSpPr/>
          <p:nvPr/>
        </p:nvGrpSpPr>
        <p:grpSpPr>
          <a:xfrm>
            <a:off x="1843088" y="4576601"/>
            <a:ext cx="104775" cy="104775"/>
            <a:chOff x="0" y="0"/>
            <a:chExt cx="104775" cy="104775"/>
          </a:xfrm>
        </p:grpSpPr>
        <p:sp>
          <p:nvSpPr>
            <p:cNvPr id="11" name="Freeform 11"/>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cubicBezTo>
                    <a:pt x="103378" y="38608"/>
                    <a:pt x="104648" y="45339"/>
                    <a:pt x="104648" y="52324"/>
                  </a:cubicBezTo>
                  <a:lnTo>
                    <a:pt x="100076" y="52324"/>
                  </a:lnTo>
                  <a:lnTo>
                    <a:pt x="104902" y="52324"/>
                  </a:lnTo>
                  <a:moveTo>
                    <a:pt x="95377" y="52324"/>
                  </a:moveTo>
                  <a:cubicBezTo>
                    <a:pt x="95377" y="46609"/>
                    <a:pt x="94234" y="41148"/>
                    <a:pt x="92075" y="35941"/>
                  </a:cubicBezTo>
                  <a:lnTo>
                    <a:pt x="96520" y="34163"/>
                  </a:lnTo>
                  <a:lnTo>
                    <a:pt x="92075" y="35941"/>
                  </a:ln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lnTo>
                    <a:pt x="34163" y="8382"/>
                  </a:lnTo>
                  <a:lnTo>
                    <a:pt x="35941" y="12827"/>
                  </a:ln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lnTo>
                    <a:pt x="96266" y="70485"/>
                  </a:lnTo>
                  <a:lnTo>
                    <a:pt x="91821" y="68707"/>
                  </a:lnTo>
                  <a:cubicBezTo>
                    <a:pt x="93980" y="63500"/>
                    <a:pt x="95123" y="58039"/>
                    <a:pt x="95123" y="52324"/>
                  </a:cubicBezTo>
                  <a:close/>
                </a:path>
              </a:pathLst>
            </a:custGeom>
            <a:solidFill>
              <a:srgbClr val="293C63"/>
            </a:solidFill>
          </p:spPr>
        </p:sp>
      </p:grpSp>
      <p:sp>
        <p:nvSpPr>
          <p:cNvPr id="12" name="Freeform 12"/>
          <p:cNvSpPr/>
          <p:nvPr/>
        </p:nvSpPr>
        <p:spPr>
          <a:xfrm>
            <a:off x="10840859" y="2324618"/>
            <a:ext cx="7447141" cy="5833809"/>
          </a:xfrm>
          <a:custGeom>
            <a:avLst/>
            <a:gdLst/>
            <a:ahLst/>
            <a:cxnLst/>
            <a:rect l="l" t="t" r="r" b="b"/>
            <a:pathLst>
              <a:path w="7447141" h="5833809">
                <a:moveTo>
                  <a:pt x="0" y="0"/>
                </a:moveTo>
                <a:lnTo>
                  <a:pt x="7447141" y="0"/>
                </a:lnTo>
                <a:lnTo>
                  <a:pt x="7447141" y="5833809"/>
                </a:lnTo>
                <a:lnTo>
                  <a:pt x="0" y="5833809"/>
                </a:lnTo>
                <a:lnTo>
                  <a:pt x="0" y="0"/>
                </a:lnTo>
                <a:close/>
              </a:path>
            </a:pathLst>
          </a:custGeom>
          <a:blipFill>
            <a:blip r:embed="rId5"/>
            <a:stretch>
              <a:fillRect/>
            </a:stretch>
          </a:blipFill>
        </p:spPr>
      </p:sp>
      <p:sp>
        <p:nvSpPr>
          <p:cNvPr id="13" name="TextBox 13"/>
          <p:cNvSpPr txBox="1"/>
          <p:nvPr/>
        </p:nvSpPr>
        <p:spPr>
          <a:xfrm>
            <a:off x="2052361" y="1841802"/>
            <a:ext cx="10599301" cy="808149"/>
          </a:xfrm>
          <a:prstGeom prst="rect">
            <a:avLst/>
          </a:prstGeom>
        </p:spPr>
        <p:txBody>
          <a:bodyPr lIns="0" tIns="0" rIns="0" bIns="0" rtlCol="0" anchor="t">
            <a:spAutoFit/>
          </a:bodyPr>
          <a:lstStyle/>
          <a:p>
            <a:pPr algn="l">
              <a:lnSpc>
                <a:spcPts val="3225"/>
              </a:lnSpc>
            </a:pPr>
            <a:r>
              <a:rPr lang="en-US" sz="2490" b="1">
                <a:solidFill>
                  <a:srgbClr val="293C63"/>
                </a:solidFill>
                <a:latin typeface="Montserrat Bold"/>
                <a:ea typeface="Montserrat Bold"/>
                <a:cs typeface="Montserrat Bold"/>
                <a:sym typeface="Montserrat Bold"/>
              </a:rPr>
              <a:t>Pada bulan apa perilisan konten di Disney+ paling tinggi? when</a:t>
            </a:r>
          </a:p>
          <a:p>
            <a:pPr algn="l">
              <a:lnSpc>
                <a:spcPts val="3225"/>
              </a:lnSpc>
            </a:pPr>
            <a:endParaRPr lang="en-US" sz="2490" b="1">
              <a:solidFill>
                <a:srgbClr val="293C63"/>
              </a:solidFill>
              <a:latin typeface="Montserrat Bold"/>
              <a:ea typeface="Montserrat Bold"/>
              <a:cs typeface="Montserrat Bold"/>
              <a:sym typeface="Montserrat Bold"/>
            </a:endParaRPr>
          </a:p>
        </p:txBody>
      </p:sp>
      <p:sp>
        <p:nvSpPr>
          <p:cNvPr id="14" name="TextBox 14"/>
          <p:cNvSpPr txBox="1"/>
          <p:nvPr/>
        </p:nvSpPr>
        <p:spPr>
          <a:xfrm>
            <a:off x="2052361" y="896903"/>
            <a:ext cx="5357693" cy="963949"/>
          </a:xfrm>
          <a:prstGeom prst="rect">
            <a:avLst/>
          </a:prstGeom>
        </p:spPr>
        <p:txBody>
          <a:bodyPr lIns="0" tIns="0" rIns="0" bIns="0" rtlCol="0" anchor="t">
            <a:spAutoFit/>
          </a:bodyPr>
          <a:lstStyle/>
          <a:p>
            <a:pPr algn="l">
              <a:lnSpc>
                <a:spcPts val="6718"/>
              </a:lnSpc>
            </a:pPr>
            <a:r>
              <a:rPr lang="en-US" sz="4799" b="1">
                <a:solidFill>
                  <a:srgbClr val="374A71"/>
                </a:solidFill>
                <a:latin typeface="Cooper Hewitt Bold"/>
                <a:ea typeface="Cooper Hewitt Bold"/>
                <a:cs typeface="Cooper Hewitt Bold"/>
                <a:sym typeface="Cooper Hewitt Bold"/>
              </a:rPr>
              <a:t>Analisis Visualisasi</a:t>
            </a:r>
          </a:p>
        </p:txBody>
      </p:sp>
      <p:sp>
        <p:nvSpPr>
          <p:cNvPr id="15" name="TextBox 15"/>
          <p:cNvSpPr txBox="1"/>
          <p:nvPr/>
        </p:nvSpPr>
        <p:spPr>
          <a:xfrm>
            <a:off x="153205" y="2430528"/>
            <a:ext cx="10452325" cy="7753991"/>
          </a:xfrm>
          <a:prstGeom prst="rect">
            <a:avLst/>
          </a:prstGeom>
        </p:spPr>
        <p:txBody>
          <a:bodyPr lIns="0" tIns="0" rIns="0" bIns="0" rtlCol="0" anchor="t">
            <a:spAutoFit/>
          </a:bodyPr>
          <a:lstStyle/>
          <a:p>
            <a:pPr algn="just">
              <a:lnSpc>
                <a:spcPts val="3639"/>
              </a:lnSpc>
              <a:spcBef>
                <a:spcPct val="0"/>
              </a:spcBef>
            </a:pPr>
            <a:r>
              <a:rPr lang="en-US" sz="2599">
                <a:solidFill>
                  <a:srgbClr val="000000"/>
                </a:solidFill>
                <a:latin typeface="Montserrat"/>
                <a:ea typeface="Montserrat"/>
                <a:cs typeface="Montserrat"/>
                <a:sym typeface="Montserrat"/>
              </a:rPr>
              <a:t>Insight = perilisan konten setiap bulan menunjukkan hampir di setiap bulan perilisan konten Movie lebih banyak dari Tv Show, tetapi di bulan september konten TV Show sedikit lebih tinggi dari Movie, dan di bulan november adalah puncaknya Movie dan TV Show, kemungkinan adanya peningkatan perilisan konten di bulan november karena menjelang libur akhir tahun dimana banyak orang punya waktu luang.</a:t>
            </a:r>
          </a:p>
          <a:p>
            <a:pPr algn="just">
              <a:lnSpc>
                <a:spcPts val="3639"/>
              </a:lnSpc>
              <a:spcBef>
                <a:spcPct val="0"/>
              </a:spcBef>
            </a:pPr>
            <a:endParaRPr lang="en-US" sz="2599">
              <a:solidFill>
                <a:srgbClr val="000000"/>
              </a:solidFill>
              <a:latin typeface="Montserrat"/>
              <a:ea typeface="Montserrat"/>
              <a:cs typeface="Montserrat"/>
              <a:sym typeface="Montserrat"/>
            </a:endParaRPr>
          </a:p>
          <a:p>
            <a:pPr algn="just">
              <a:lnSpc>
                <a:spcPts val="3639"/>
              </a:lnSpc>
              <a:spcBef>
                <a:spcPct val="0"/>
              </a:spcBef>
            </a:pPr>
            <a:r>
              <a:rPr lang="en-US" sz="2599">
                <a:solidFill>
                  <a:srgbClr val="000000"/>
                </a:solidFill>
                <a:latin typeface="Montserrat"/>
                <a:ea typeface="Montserrat"/>
                <a:cs typeface="Montserrat"/>
                <a:sym typeface="Montserrat"/>
              </a:rPr>
              <a:t>Wisdom = disney+ dapat memanfaatkan periode tertentu seperti di bulan november untuk melakukan perilisan konten lebih banyak di bulan tersebut untuk menarik pengguna terutama Movie, dan disney perlu mempertahankan kestabilan Tv Show setiap bulannya untuk mempertahankan loyalitas pengguna setiap bulannya, tidak hanya datang di saat periode tertentu saja.</a:t>
            </a:r>
          </a:p>
          <a:p>
            <a:pPr algn="just">
              <a:lnSpc>
                <a:spcPts val="3639"/>
              </a:lnSpc>
              <a:spcBef>
                <a:spcPct val="0"/>
              </a:spcBef>
            </a:pPr>
            <a:endParaRPr lang="en-US" sz="2599">
              <a:solidFill>
                <a:srgbClr val="000000"/>
              </a:solidFill>
              <a:latin typeface="Montserrat"/>
              <a:ea typeface="Montserrat"/>
              <a:cs typeface="Montserrat"/>
              <a:sym typeface="Montserrat"/>
            </a:endParaRPr>
          </a:p>
          <a:p>
            <a:pPr algn="just">
              <a:lnSpc>
                <a:spcPts val="3639"/>
              </a:lnSpc>
              <a:spcBef>
                <a:spcPct val="0"/>
              </a:spcBef>
            </a:pPr>
            <a:endParaRPr lang="en-US" sz="2599">
              <a:solidFill>
                <a:srgbClr val="000000"/>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965168" y="1158250"/>
            <a:ext cx="934926" cy="574586"/>
          </a:xfrm>
          <a:custGeom>
            <a:avLst/>
            <a:gdLst/>
            <a:ahLst/>
            <a:cxnLst/>
            <a:rect l="l" t="t" r="r" b="b"/>
            <a:pathLst>
              <a:path w="934926" h="574586">
                <a:moveTo>
                  <a:pt x="0" y="0"/>
                </a:moveTo>
                <a:lnTo>
                  <a:pt x="934927" y="0"/>
                </a:lnTo>
                <a:lnTo>
                  <a:pt x="934927" y="574586"/>
                </a:lnTo>
                <a:lnTo>
                  <a:pt x="0" y="5745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218177" y="-499491"/>
            <a:ext cx="8326441" cy="5955287"/>
          </a:xfrm>
          <a:custGeom>
            <a:avLst/>
            <a:gdLst/>
            <a:ahLst/>
            <a:cxnLst/>
            <a:rect l="l" t="t" r="r" b="b"/>
            <a:pathLst>
              <a:path w="8326441" h="5955287">
                <a:moveTo>
                  <a:pt x="0" y="0"/>
                </a:moveTo>
                <a:lnTo>
                  <a:pt x="8326441" y="0"/>
                </a:lnTo>
                <a:lnTo>
                  <a:pt x="8326441" y="5955287"/>
                </a:lnTo>
                <a:lnTo>
                  <a:pt x="0" y="595528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028700" y="1028700"/>
            <a:ext cx="838210" cy="764467"/>
            <a:chOff x="0" y="0"/>
            <a:chExt cx="838213" cy="764464"/>
          </a:xfrm>
        </p:grpSpPr>
        <p:sp>
          <p:nvSpPr>
            <p:cNvPr id="7" name="Freeform 7"/>
            <p:cNvSpPr/>
            <p:nvPr/>
          </p:nvSpPr>
          <p:spPr>
            <a:xfrm>
              <a:off x="0" y="0"/>
              <a:ext cx="838202" cy="764413"/>
            </a:xfrm>
            <a:custGeom>
              <a:avLst/>
              <a:gdLst/>
              <a:ahLst/>
              <a:cxnLst/>
              <a:rect l="l" t="t" r="r" b="b"/>
              <a:pathLst>
                <a:path w="838202" h="764413">
                  <a:moveTo>
                    <a:pt x="0" y="764413"/>
                  </a:moveTo>
                  <a:lnTo>
                    <a:pt x="838202" y="764413"/>
                  </a:lnTo>
                  <a:lnTo>
                    <a:pt x="838202" y="0"/>
                  </a:lnTo>
                  <a:lnTo>
                    <a:pt x="0" y="0"/>
                  </a:lnTo>
                  <a:close/>
                </a:path>
              </a:pathLst>
            </a:custGeom>
            <a:solidFill>
              <a:srgbClr val="000000">
                <a:alpha val="0"/>
              </a:srgbClr>
            </a:solidFill>
          </p:spPr>
        </p:sp>
      </p:grpSp>
      <p:grpSp>
        <p:nvGrpSpPr>
          <p:cNvPr id="8" name="Group 8"/>
          <p:cNvGrpSpPr/>
          <p:nvPr/>
        </p:nvGrpSpPr>
        <p:grpSpPr>
          <a:xfrm>
            <a:off x="1843088" y="3347876"/>
            <a:ext cx="104775" cy="104775"/>
            <a:chOff x="0" y="0"/>
            <a:chExt cx="104775" cy="104775"/>
          </a:xfrm>
        </p:grpSpPr>
        <p:sp>
          <p:nvSpPr>
            <p:cNvPr id="9" name="Freeform 9"/>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lnTo>
                    <a:pt x="96393" y="70612"/>
                  </a:lnTo>
                  <a:lnTo>
                    <a:pt x="100838" y="72390"/>
                  </a:ln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lnTo>
                    <a:pt x="34163" y="8382"/>
                  </a:lnTo>
                  <a:lnTo>
                    <a:pt x="32385" y="3937"/>
                  </a:ln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lnTo>
                    <a:pt x="96266" y="34036"/>
                  </a:lnTo>
                  <a:lnTo>
                    <a:pt x="100711" y="32258"/>
                  </a:lnTo>
                  <a:cubicBezTo>
                    <a:pt x="103378" y="38608"/>
                    <a:pt x="104648" y="45339"/>
                    <a:pt x="104648" y="52324"/>
                  </a:cubicBezTo>
                  <a:lnTo>
                    <a:pt x="100076" y="52324"/>
                  </a:lnTo>
                  <a:lnTo>
                    <a:pt x="104902" y="52324"/>
                  </a:lnTo>
                  <a:moveTo>
                    <a:pt x="95377" y="52324"/>
                  </a:moveTo>
                  <a:cubicBezTo>
                    <a:pt x="95377" y="46609"/>
                    <a:pt x="94234" y="41148"/>
                    <a:pt x="92075" y="35941"/>
                  </a:cubicBez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cubicBezTo>
                    <a:pt x="93980" y="63500"/>
                    <a:pt x="95123" y="58039"/>
                    <a:pt x="95123" y="52324"/>
                  </a:cubicBezTo>
                  <a:close/>
                </a:path>
              </a:pathLst>
            </a:custGeom>
            <a:solidFill>
              <a:srgbClr val="293C63"/>
            </a:solidFill>
          </p:spPr>
        </p:sp>
      </p:grpSp>
      <p:grpSp>
        <p:nvGrpSpPr>
          <p:cNvPr id="10" name="Group 10"/>
          <p:cNvGrpSpPr/>
          <p:nvPr/>
        </p:nvGrpSpPr>
        <p:grpSpPr>
          <a:xfrm>
            <a:off x="1843088" y="4576601"/>
            <a:ext cx="104775" cy="104775"/>
            <a:chOff x="0" y="0"/>
            <a:chExt cx="104775" cy="104775"/>
          </a:xfrm>
        </p:grpSpPr>
        <p:sp>
          <p:nvSpPr>
            <p:cNvPr id="11" name="Freeform 11"/>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cubicBezTo>
                    <a:pt x="103378" y="38608"/>
                    <a:pt x="104648" y="45339"/>
                    <a:pt x="104648" y="52324"/>
                  </a:cubicBezTo>
                  <a:lnTo>
                    <a:pt x="100076" y="52324"/>
                  </a:lnTo>
                  <a:lnTo>
                    <a:pt x="104902" y="52324"/>
                  </a:lnTo>
                  <a:moveTo>
                    <a:pt x="95377" y="52324"/>
                  </a:moveTo>
                  <a:cubicBezTo>
                    <a:pt x="95377" y="46609"/>
                    <a:pt x="94234" y="41148"/>
                    <a:pt x="92075" y="35941"/>
                  </a:cubicBezTo>
                  <a:lnTo>
                    <a:pt x="96520" y="34163"/>
                  </a:lnTo>
                  <a:lnTo>
                    <a:pt x="92075" y="35941"/>
                  </a:ln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lnTo>
                    <a:pt x="34163" y="8382"/>
                  </a:lnTo>
                  <a:lnTo>
                    <a:pt x="35941" y="12827"/>
                  </a:ln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lnTo>
                    <a:pt x="96266" y="70485"/>
                  </a:lnTo>
                  <a:lnTo>
                    <a:pt x="91821" y="68707"/>
                  </a:lnTo>
                  <a:cubicBezTo>
                    <a:pt x="93980" y="63500"/>
                    <a:pt x="95123" y="58039"/>
                    <a:pt x="95123" y="52324"/>
                  </a:cubicBezTo>
                  <a:close/>
                </a:path>
              </a:pathLst>
            </a:custGeom>
            <a:solidFill>
              <a:srgbClr val="293C63"/>
            </a:solidFill>
          </p:spPr>
        </p:sp>
      </p:grpSp>
      <p:sp>
        <p:nvSpPr>
          <p:cNvPr id="12" name="TextBox 12"/>
          <p:cNvSpPr txBox="1"/>
          <p:nvPr/>
        </p:nvSpPr>
        <p:spPr>
          <a:xfrm>
            <a:off x="2052361" y="1841802"/>
            <a:ext cx="12360712" cy="398574"/>
          </a:xfrm>
          <a:prstGeom prst="rect">
            <a:avLst/>
          </a:prstGeom>
        </p:spPr>
        <p:txBody>
          <a:bodyPr lIns="0" tIns="0" rIns="0" bIns="0" rtlCol="0" anchor="t">
            <a:spAutoFit/>
          </a:bodyPr>
          <a:lstStyle/>
          <a:p>
            <a:pPr algn="l">
              <a:lnSpc>
                <a:spcPts val="3225"/>
              </a:lnSpc>
            </a:pPr>
            <a:r>
              <a:rPr lang="en-US" sz="2490" b="1">
                <a:solidFill>
                  <a:srgbClr val="293C63"/>
                </a:solidFill>
                <a:latin typeface="Montserrat Bold"/>
                <a:ea typeface="Montserrat Bold"/>
                <a:cs typeface="Montserrat Bold"/>
                <a:sym typeface="Montserrat Bold"/>
              </a:rPr>
              <a:t>Negara mana yang paling banyak muncul pada konten di Disney+? Where</a:t>
            </a:r>
          </a:p>
        </p:txBody>
      </p:sp>
      <p:sp>
        <p:nvSpPr>
          <p:cNvPr id="13" name="TextBox 13"/>
          <p:cNvSpPr txBox="1"/>
          <p:nvPr/>
        </p:nvSpPr>
        <p:spPr>
          <a:xfrm>
            <a:off x="2052361" y="896903"/>
            <a:ext cx="5357693" cy="963949"/>
          </a:xfrm>
          <a:prstGeom prst="rect">
            <a:avLst/>
          </a:prstGeom>
        </p:spPr>
        <p:txBody>
          <a:bodyPr lIns="0" tIns="0" rIns="0" bIns="0" rtlCol="0" anchor="t">
            <a:spAutoFit/>
          </a:bodyPr>
          <a:lstStyle/>
          <a:p>
            <a:pPr algn="l">
              <a:lnSpc>
                <a:spcPts val="6718"/>
              </a:lnSpc>
            </a:pPr>
            <a:r>
              <a:rPr lang="en-US" sz="4799" b="1">
                <a:solidFill>
                  <a:srgbClr val="374A71"/>
                </a:solidFill>
                <a:latin typeface="Cooper Hewitt Bold"/>
                <a:ea typeface="Cooper Hewitt Bold"/>
                <a:cs typeface="Cooper Hewitt Bold"/>
                <a:sym typeface="Cooper Hewitt Bold"/>
              </a:rPr>
              <a:t>Analisis Visualisasi</a:t>
            </a:r>
          </a:p>
        </p:txBody>
      </p:sp>
      <p:sp>
        <p:nvSpPr>
          <p:cNvPr id="14" name="Freeform 14"/>
          <p:cNvSpPr/>
          <p:nvPr/>
        </p:nvSpPr>
        <p:spPr>
          <a:xfrm>
            <a:off x="8754120" y="2478153"/>
            <a:ext cx="9533880" cy="5635360"/>
          </a:xfrm>
          <a:custGeom>
            <a:avLst/>
            <a:gdLst/>
            <a:ahLst/>
            <a:cxnLst/>
            <a:rect l="l" t="t" r="r" b="b"/>
            <a:pathLst>
              <a:path w="9533880" h="5635360">
                <a:moveTo>
                  <a:pt x="0" y="0"/>
                </a:moveTo>
                <a:lnTo>
                  <a:pt x="9533880" y="0"/>
                </a:lnTo>
                <a:lnTo>
                  <a:pt x="9533880" y="5635360"/>
                </a:lnTo>
                <a:lnTo>
                  <a:pt x="0" y="5635360"/>
                </a:lnTo>
                <a:lnTo>
                  <a:pt x="0" y="0"/>
                </a:lnTo>
                <a:close/>
              </a:path>
            </a:pathLst>
          </a:custGeom>
          <a:blipFill>
            <a:blip r:embed="rId5"/>
            <a:stretch>
              <a:fillRect/>
            </a:stretch>
          </a:blipFill>
        </p:spPr>
      </p:sp>
      <p:sp>
        <p:nvSpPr>
          <p:cNvPr id="15" name="TextBox 15"/>
          <p:cNvSpPr txBox="1"/>
          <p:nvPr/>
        </p:nvSpPr>
        <p:spPr>
          <a:xfrm>
            <a:off x="227884" y="3071492"/>
            <a:ext cx="8263587" cy="4096391"/>
          </a:xfrm>
          <a:prstGeom prst="rect">
            <a:avLst/>
          </a:prstGeom>
        </p:spPr>
        <p:txBody>
          <a:bodyPr lIns="0" tIns="0" rIns="0" bIns="0" rtlCol="0" anchor="t">
            <a:spAutoFit/>
          </a:bodyPr>
          <a:lstStyle/>
          <a:p>
            <a:pPr algn="just">
              <a:lnSpc>
                <a:spcPts val="3639"/>
              </a:lnSpc>
              <a:spcBef>
                <a:spcPct val="0"/>
              </a:spcBef>
            </a:pPr>
            <a:r>
              <a:rPr lang="en-US" sz="2599">
                <a:solidFill>
                  <a:srgbClr val="000000"/>
                </a:solidFill>
                <a:latin typeface="Montserrat"/>
                <a:ea typeface="Montserrat"/>
                <a:cs typeface="Montserrat"/>
                <a:sym typeface="Montserrat"/>
              </a:rPr>
              <a:t>Insight = Negara United States memiliki keterlibatan yang tinggi dalam konten disney+ yang ditunjukkan kemunculanya paling tinggi besar dibanding negara lain</a:t>
            </a:r>
          </a:p>
          <a:p>
            <a:pPr algn="just">
              <a:lnSpc>
                <a:spcPts val="3639"/>
              </a:lnSpc>
              <a:spcBef>
                <a:spcPct val="0"/>
              </a:spcBef>
            </a:pPr>
            <a:endParaRPr lang="en-US" sz="2599">
              <a:solidFill>
                <a:srgbClr val="000000"/>
              </a:solidFill>
              <a:latin typeface="Montserrat"/>
              <a:ea typeface="Montserrat"/>
              <a:cs typeface="Montserrat"/>
              <a:sym typeface="Montserrat"/>
            </a:endParaRPr>
          </a:p>
          <a:p>
            <a:pPr algn="just">
              <a:lnSpc>
                <a:spcPts val="3639"/>
              </a:lnSpc>
              <a:spcBef>
                <a:spcPct val="0"/>
              </a:spcBef>
            </a:pPr>
            <a:r>
              <a:rPr lang="en-US" sz="2599">
                <a:solidFill>
                  <a:srgbClr val="000000"/>
                </a:solidFill>
                <a:latin typeface="Montserrat"/>
                <a:ea typeface="Montserrat"/>
                <a:cs typeface="Montserrat"/>
                <a:sym typeface="Montserrat"/>
              </a:rPr>
              <a:t>Wisdom = Disney+ dapat meperluas kolaborasi konten dari negara lain agar lebih beragam dan meningkatkan variasi pengguna global.</a:t>
            </a:r>
          </a:p>
          <a:p>
            <a:pPr algn="just">
              <a:lnSpc>
                <a:spcPts val="3639"/>
              </a:lnSpc>
              <a:spcBef>
                <a:spcPct val="0"/>
              </a:spcBef>
            </a:pPr>
            <a:endParaRPr lang="en-US" sz="2599">
              <a:solidFill>
                <a:srgbClr val="000000"/>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965168" y="1158250"/>
            <a:ext cx="934926" cy="574586"/>
          </a:xfrm>
          <a:custGeom>
            <a:avLst/>
            <a:gdLst/>
            <a:ahLst/>
            <a:cxnLst/>
            <a:rect l="l" t="t" r="r" b="b"/>
            <a:pathLst>
              <a:path w="934926" h="574586">
                <a:moveTo>
                  <a:pt x="0" y="0"/>
                </a:moveTo>
                <a:lnTo>
                  <a:pt x="934927" y="0"/>
                </a:lnTo>
                <a:lnTo>
                  <a:pt x="934927" y="574586"/>
                </a:lnTo>
                <a:lnTo>
                  <a:pt x="0" y="5745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218177" y="-499491"/>
            <a:ext cx="8326441" cy="5955287"/>
          </a:xfrm>
          <a:custGeom>
            <a:avLst/>
            <a:gdLst/>
            <a:ahLst/>
            <a:cxnLst/>
            <a:rect l="l" t="t" r="r" b="b"/>
            <a:pathLst>
              <a:path w="8326441" h="5955287">
                <a:moveTo>
                  <a:pt x="0" y="0"/>
                </a:moveTo>
                <a:lnTo>
                  <a:pt x="8326441" y="0"/>
                </a:lnTo>
                <a:lnTo>
                  <a:pt x="8326441" y="5955287"/>
                </a:lnTo>
                <a:lnTo>
                  <a:pt x="0" y="595528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028700" y="1028700"/>
            <a:ext cx="838210" cy="764467"/>
            <a:chOff x="0" y="0"/>
            <a:chExt cx="838213" cy="764464"/>
          </a:xfrm>
        </p:grpSpPr>
        <p:sp>
          <p:nvSpPr>
            <p:cNvPr id="7" name="Freeform 7"/>
            <p:cNvSpPr/>
            <p:nvPr/>
          </p:nvSpPr>
          <p:spPr>
            <a:xfrm>
              <a:off x="0" y="0"/>
              <a:ext cx="838202" cy="764413"/>
            </a:xfrm>
            <a:custGeom>
              <a:avLst/>
              <a:gdLst/>
              <a:ahLst/>
              <a:cxnLst/>
              <a:rect l="l" t="t" r="r" b="b"/>
              <a:pathLst>
                <a:path w="838202" h="764413">
                  <a:moveTo>
                    <a:pt x="0" y="764413"/>
                  </a:moveTo>
                  <a:lnTo>
                    <a:pt x="838202" y="764413"/>
                  </a:lnTo>
                  <a:lnTo>
                    <a:pt x="838202" y="0"/>
                  </a:lnTo>
                  <a:lnTo>
                    <a:pt x="0" y="0"/>
                  </a:lnTo>
                  <a:close/>
                </a:path>
              </a:pathLst>
            </a:custGeom>
            <a:solidFill>
              <a:srgbClr val="000000">
                <a:alpha val="0"/>
              </a:srgbClr>
            </a:solidFill>
          </p:spPr>
        </p:sp>
      </p:grpSp>
      <p:grpSp>
        <p:nvGrpSpPr>
          <p:cNvPr id="8" name="Group 8"/>
          <p:cNvGrpSpPr/>
          <p:nvPr/>
        </p:nvGrpSpPr>
        <p:grpSpPr>
          <a:xfrm>
            <a:off x="1843088" y="3347876"/>
            <a:ext cx="104775" cy="104775"/>
            <a:chOff x="0" y="0"/>
            <a:chExt cx="104775" cy="104775"/>
          </a:xfrm>
        </p:grpSpPr>
        <p:sp>
          <p:nvSpPr>
            <p:cNvPr id="9" name="Freeform 9"/>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lnTo>
                    <a:pt x="96393" y="70612"/>
                  </a:lnTo>
                  <a:lnTo>
                    <a:pt x="100838" y="72390"/>
                  </a:ln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lnTo>
                    <a:pt x="34163" y="8382"/>
                  </a:lnTo>
                  <a:lnTo>
                    <a:pt x="32385" y="3937"/>
                  </a:ln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lnTo>
                    <a:pt x="96266" y="34036"/>
                  </a:lnTo>
                  <a:lnTo>
                    <a:pt x="100711" y="32258"/>
                  </a:lnTo>
                  <a:cubicBezTo>
                    <a:pt x="103378" y="38608"/>
                    <a:pt x="104648" y="45339"/>
                    <a:pt x="104648" y="52324"/>
                  </a:cubicBezTo>
                  <a:lnTo>
                    <a:pt x="100076" y="52324"/>
                  </a:lnTo>
                  <a:lnTo>
                    <a:pt x="104902" y="52324"/>
                  </a:lnTo>
                  <a:moveTo>
                    <a:pt x="95377" y="52324"/>
                  </a:moveTo>
                  <a:cubicBezTo>
                    <a:pt x="95377" y="46609"/>
                    <a:pt x="94234" y="41148"/>
                    <a:pt x="92075" y="35941"/>
                  </a:cubicBez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cubicBezTo>
                    <a:pt x="93980" y="63500"/>
                    <a:pt x="95123" y="58039"/>
                    <a:pt x="95123" y="52324"/>
                  </a:cubicBezTo>
                  <a:close/>
                </a:path>
              </a:pathLst>
            </a:custGeom>
            <a:solidFill>
              <a:srgbClr val="293C63"/>
            </a:solidFill>
          </p:spPr>
        </p:sp>
      </p:grpSp>
      <p:grpSp>
        <p:nvGrpSpPr>
          <p:cNvPr id="10" name="Group 10"/>
          <p:cNvGrpSpPr/>
          <p:nvPr/>
        </p:nvGrpSpPr>
        <p:grpSpPr>
          <a:xfrm>
            <a:off x="1843088" y="4576601"/>
            <a:ext cx="104775" cy="104775"/>
            <a:chOff x="0" y="0"/>
            <a:chExt cx="104775" cy="104775"/>
          </a:xfrm>
        </p:grpSpPr>
        <p:sp>
          <p:nvSpPr>
            <p:cNvPr id="11" name="Freeform 11"/>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cubicBezTo>
                    <a:pt x="103378" y="38608"/>
                    <a:pt x="104648" y="45339"/>
                    <a:pt x="104648" y="52324"/>
                  </a:cubicBezTo>
                  <a:lnTo>
                    <a:pt x="100076" y="52324"/>
                  </a:lnTo>
                  <a:lnTo>
                    <a:pt x="104902" y="52324"/>
                  </a:lnTo>
                  <a:moveTo>
                    <a:pt x="95377" y="52324"/>
                  </a:moveTo>
                  <a:cubicBezTo>
                    <a:pt x="95377" y="46609"/>
                    <a:pt x="94234" y="41148"/>
                    <a:pt x="92075" y="35941"/>
                  </a:cubicBezTo>
                  <a:lnTo>
                    <a:pt x="96520" y="34163"/>
                  </a:lnTo>
                  <a:lnTo>
                    <a:pt x="92075" y="35941"/>
                  </a:ln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lnTo>
                    <a:pt x="34163" y="8382"/>
                  </a:lnTo>
                  <a:lnTo>
                    <a:pt x="35941" y="12827"/>
                  </a:ln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lnTo>
                    <a:pt x="96266" y="70485"/>
                  </a:lnTo>
                  <a:lnTo>
                    <a:pt x="91821" y="68707"/>
                  </a:lnTo>
                  <a:cubicBezTo>
                    <a:pt x="93980" y="63500"/>
                    <a:pt x="95123" y="58039"/>
                    <a:pt x="95123" y="52324"/>
                  </a:cubicBezTo>
                  <a:close/>
                </a:path>
              </a:pathLst>
            </a:custGeom>
            <a:solidFill>
              <a:srgbClr val="293C63"/>
            </a:solidFill>
          </p:spPr>
        </p:sp>
      </p:grpSp>
      <p:sp>
        <p:nvSpPr>
          <p:cNvPr id="12" name="Freeform 12"/>
          <p:cNvSpPr/>
          <p:nvPr/>
        </p:nvSpPr>
        <p:spPr>
          <a:xfrm>
            <a:off x="8606062" y="2478153"/>
            <a:ext cx="9681938" cy="5684235"/>
          </a:xfrm>
          <a:custGeom>
            <a:avLst/>
            <a:gdLst/>
            <a:ahLst/>
            <a:cxnLst/>
            <a:rect l="l" t="t" r="r" b="b"/>
            <a:pathLst>
              <a:path w="9681938" h="5684235">
                <a:moveTo>
                  <a:pt x="0" y="0"/>
                </a:moveTo>
                <a:lnTo>
                  <a:pt x="9681938" y="0"/>
                </a:lnTo>
                <a:lnTo>
                  <a:pt x="9681938" y="5684234"/>
                </a:lnTo>
                <a:lnTo>
                  <a:pt x="0" y="5684234"/>
                </a:lnTo>
                <a:lnTo>
                  <a:pt x="0" y="0"/>
                </a:lnTo>
                <a:close/>
              </a:path>
            </a:pathLst>
          </a:custGeom>
          <a:blipFill>
            <a:blip r:embed="rId5"/>
            <a:stretch>
              <a:fillRect/>
            </a:stretch>
          </a:blipFill>
        </p:spPr>
      </p:sp>
      <p:sp>
        <p:nvSpPr>
          <p:cNvPr id="13" name="TextBox 13"/>
          <p:cNvSpPr txBox="1"/>
          <p:nvPr/>
        </p:nvSpPr>
        <p:spPr>
          <a:xfrm>
            <a:off x="2052361" y="1841802"/>
            <a:ext cx="13460492" cy="808149"/>
          </a:xfrm>
          <a:prstGeom prst="rect">
            <a:avLst/>
          </a:prstGeom>
        </p:spPr>
        <p:txBody>
          <a:bodyPr lIns="0" tIns="0" rIns="0" bIns="0" rtlCol="0" anchor="t">
            <a:spAutoFit/>
          </a:bodyPr>
          <a:lstStyle/>
          <a:p>
            <a:pPr algn="l">
              <a:lnSpc>
                <a:spcPts val="3225"/>
              </a:lnSpc>
            </a:pPr>
            <a:r>
              <a:rPr lang="en-US" sz="2490" b="1">
                <a:solidFill>
                  <a:srgbClr val="293C63"/>
                </a:solidFill>
                <a:latin typeface="Montserrat Bold"/>
                <a:ea typeface="Montserrat Bold"/>
                <a:cs typeface="Montserrat Bold"/>
                <a:sym typeface="Montserrat Bold"/>
              </a:rPr>
              <a:t>Bagaimana perbandingan perilisan Movie vs TV Show dari tahun ke tahun? HOW</a:t>
            </a:r>
          </a:p>
          <a:p>
            <a:pPr algn="l">
              <a:lnSpc>
                <a:spcPts val="3225"/>
              </a:lnSpc>
            </a:pPr>
            <a:endParaRPr lang="en-US" sz="2490" b="1">
              <a:solidFill>
                <a:srgbClr val="293C63"/>
              </a:solidFill>
              <a:latin typeface="Montserrat Bold"/>
              <a:ea typeface="Montserrat Bold"/>
              <a:cs typeface="Montserrat Bold"/>
              <a:sym typeface="Montserrat Bold"/>
            </a:endParaRPr>
          </a:p>
        </p:txBody>
      </p:sp>
      <p:sp>
        <p:nvSpPr>
          <p:cNvPr id="14" name="TextBox 14"/>
          <p:cNvSpPr txBox="1"/>
          <p:nvPr/>
        </p:nvSpPr>
        <p:spPr>
          <a:xfrm>
            <a:off x="2052361" y="896903"/>
            <a:ext cx="5357693" cy="963949"/>
          </a:xfrm>
          <a:prstGeom prst="rect">
            <a:avLst/>
          </a:prstGeom>
        </p:spPr>
        <p:txBody>
          <a:bodyPr lIns="0" tIns="0" rIns="0" bIns="0" rtlCol="0" anchor="t">
            <a:spAutoFit/>
          </a:bodyPr>
          <a:lstStyle/>
          <a:p>
            <a:pPr algn="l">
              <a:lnSpc>
                <a:spcPts val="6718"/>
              </a:lnSpc>
            </a:pPr>
            <a:r>
              <a:rPr lang="en-US" sz="4799" b="1">
                <a:solidFill>
                  <a:srgbClr val="374A71"/>
                </a:solidFill>
                <a:latin typeface="Cooper Hewitt Bold"/>
                <a:ea typeface="Cooper Hewitt Bold"/>
                <a:cs typeface="Cooper Hewitt Bold"/>
                <a:sym typeface="Cooper Hewitt Bold"/>
              </a:rPr>
              <a:t>Analisis Visualisasi</a:t>
            </a:r>
          </a:p>
        </p:txBody>
      </p:sp>
      <p:sp>
        <p:nvSpPr>
          <p:cNvPr id="15" name="TextBox 15"/>
          <p:cNvSpPr txBox="1"/>
          <p:nvPr/>
        </p:nvSpPr>
        <p:spPr>
          <a:xfrm>
            <a:off x="153212" y="2430528"/>
            <a:ext cx="8307355" cy="5925191"/>
          </a:xfrm>
          <a:prstGeom prst="rect">
            <a:avLst/>
          </a:prstGeom>
        </p:spPr>
        <p:txBody>
          <a:bodyPr lIns="0" tIns="0" rIns="0" bIns="0" rtlCol="0" anchor="t">
            <a:spAutoFit/>
          </a:bodyPr>
          <a:lstStyle/>
          <a:p>
            <a:pPr algn="just">
              <a:lnSpc>
                <a:spcPts val="3639"/>
              </a:lnSpc>
            </a:pPr>
            <a:endParaRPr/>
          </a:p>
          <a:p>
            <a:pPr algn="just">
              <a:lnSpc>
                <a:spcPts val="3639"/>
              </a:lnSpc>
              <a:spcBef>
                <a:spcPct val="0"/>
              </a:spcBef>
            </a:pPr>
            <a:r>
              <a:rPr lang="en-US" sz="2599">
                <a:solidFill>
                  <a:srgbClr val="000000"/>
                </a:solidFill>
                <a:latin typeface="Montserrat"/>
                <a:ea typeface="Montserrat"/>
                <a:cs typeface="Montserrat"/>
                <a:sym typeface="Montserrat"/>
              </a:rPr>
              <a:t>Insight = Genre yang paling popular di platform Disney+ adalah Family di rank 1, Animation di rank 2, dan Comedy di rank 3 3 kemungkinan pengguna Disney+ banyak menyukai konten bergenre Family, animasi, dan comedy</a:t>
            </a:r>
          </a:p>
          <a:p>
            <a:pPr algn="just">
              <a:lnSpc>
                <a:spcPts val="3639"/>
              </a:lnSpc>
              <a:spcBef>
                <a:spcPct val="0"/>
              </a:spcBef>
            </a:pPr>
            <a:endParaRPr lang="en-US" sz="2599">
              <a:solidFill>
                <a:srgbClr val="000000"/>
              </a:solidFill>
              <a:latin typeface="Montserrat"/>
              <a:ea typeface="Montserrat"/>
              <a:cs typeface="Montserrat"/>
              <a:sym typeface="Montserrat"/>
            </a:endParaRPr>
          </a:p>
          <a:p>
            <a:pPr algn="just">
              <a:lnSpc>
                <a:spcPts val="3639"/>
              </a:lnSpc>
              <a:spcBef>
                <a:spcPct val="0"/>
              </a:spcBef>
            </a:pPr>
            <a:r>
              <a:rPr lang="en-US" sz="2599">
                <a:solidFill>
                  <a:srgbClr val="000000"/>
                </a:solidFill>
                <a:latin typeface="Montserrat"/>
                <a:ea typeface="Montserrat"/>
                <a:cs typeface="Montserrat"/>
                <a:sym typeface="Montserrat"/>
              </a:rPr>
              <a:t>Wisdom = Disney+ dapat fokus mempertahankan genre family animasi dan comedy, sambil menambahkan genre yang lain agar dapat menarik variasi minat pengguna global.</a:t>
            </a:r>
          </a:p>
          <a:p>
            <a:pPr algn="just">
              <a:lnSpc>
                <a:spcPts val="3639"/>
              </a:lnSpc>
              <a:spcBef>
                <a:spcPct val="0"/>
              </a:spcBef>
            </a:pPr>
            <a:endParaRPr lang="en-US" sz="2599">
              <a:solidFill>
                <a:srgbClr val="000000"/>
              </a:solidFill>
              <a:latin typeface="Montserrat"/>
              <a:ea typeface="Montserrat"/>
              <a:cs typeface="Montserrat"/>
              <a:sym typeface="Montserrat"/>
            </a:endParaRPr>
          </a:p>
          <a:p>
            <a:pPr algn="just">
              <a:lnSpc>
                <a:spcPts val="3639"/>
              </a:lnSpc>
              <a:spcBef>
                <a:spcPct val="0"/>
              </a:spcBef>
            </a:pPr>
            <a:endParaRPr lang="en-US" sz="2599">
              <a:solidFill>
                <a:srgbClr val="000000"/>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965168" y="1158250"/>
            <a:ext cx="934926" cy="574586"/>
          </a:xfrm>
          <a:custGeom>
            <a:avLst/>
            <a:gdLst/>
            <a:ahLst/>
            <a:cxnLst/>
            <a:rect l="l" t="t" r="r" b="b"/>
            <a:pathLst>
              <a:path w="934926" h="574586">
                <a:moveTo>
                  <a:pt x="0" y="0"/>
                </a:moveTo>
                <a:lnTo>
                  <a:pt x="934927" y="0"/>
                </a:lnTo>
                <a:lnTo>
                  <a:pt x="934927" y="574586"/>
                </a:lnTo>
                <a:lnTo>
                  <a:pt x="0" y="57458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4218177" y="-499491"/>
            <a:ext cx="8326441" cy="5955287"/>
          </a:xfrm>
          <a:custGeom>
            <a:avLst/>
            <a:gdLst/>
            <a:ahLst/>
            <a:cxnLst/>
            <a:rect l="l" t="t" r="r" b="b"/>
            <a:pathLst>
              <a:path w="8326441" h="5955287">
                <a:moveTo>
                  <a:pt x="0" y="0"/>
                </a:moveTo>
                <a:lnTo>
                  <a:pt x="8326441" y="0"/>
                </a:lnTo>
                <a:lnTo>
                  <a:pt x="8326441" y="5955287"/>
                </a:lnTo>
                <a:lnTo>
                  <a:pt x="0" y="5955287"/>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028700" y="1028700"/>
            <a:ext cx="838210" cy="764467"/>
            <a:chOff x="0" y="0"/>
            <a:chExt cx="838213" cy="764464"/>
          </a:xfrm>
        </p:grpSpPr>
        <p:sp>
          <p:nvSpPr>
            <p:cNvPr id="7" name="Freeform 7"/>
            <p:cNvSpPr/>
            <p:nvPr/>
          </p:nvSpPr>
          <p:spPr>
            <a:xfrm>
              <a:off x="0" y="0"/>
              <a:ext cx="838202" cy="764413"/>
            </a:xfrm>
            <a:custGeom>
              <a:avLst/>
              <a:gdLst/>
              <a:ahLst/>
              <a:cxnLst/>
              <a:rect l="l" t="t" r="r" b="b"/>
              <a:pathLst>
                <a:path w="838202" h="764413">
                  <a:moveTo>
                    <a:pt x="0" y="764413"/>
                  </a:moveTo>
                  <a:lnTo>
                    <a:pt x="838202" y="764413"/>
                  </a:lnTo>
                  <a:lnTo>
                    <a:pt x="838202" y="0"/>
                  </a:lnTo>
                  <a:lnTo>
                    <a:pt x="0" y="0"/>
                  </a:lnTo>
                  <a:close/>
                </a:path>
              </a:pathLst>
            </a:custGeom>
            <a:solidFill>
              <a:srgbClr val="000000">
                <a:alpha val="0"/>
              </a:srgbClr>
            </a:solidFill>
          </p:spPr>
        </p:sp>
      </p:grpSp>
      <p:grpSp>
        <p:nvGrpSpPr>
          <p:cNvPr id="8" name="Group 8"/>
          <p:cNvGrpSpPr/>
          <p:nvPr/>
        </p:nvGrpSpPr>
        <p:grpSpPr>
          <a:xfrm>
            <a:off x="1843088" y="3347876"/>
            <a:ext cx="104775" cy="104775"/>
            <a:chOff x="0" y="0"/>
            <a:chExt cx="104775" cy="104775"/>
          </a:xfrm>
        </p:grpSpPr>
        <p:sp>
          <p:nvSpPr>
            <p:cNvPr id="9" name="Freeform 9"/>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lnTo>
                    <a:pt x="96393" y="70612"/>
                  </a:lnTo>
                  <a:lnTo>
                    <a:pt x="100838" y="72390"/>
                  </a:ln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lnTo>
                    <a:pt x="34163" y="8382"/>
                  </a:lnTo>
                  <a:lnTo>
                    <a:pt x="32385" y="3937"/>
                  </a:ln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lnTo>
                    <a:pt x="96266" y="34036"/>
                  </a:lnTo>
                  <a:lnTo>
                    <a:pt x="100711" y="32258"/>
                  </a:lnTo>
                  <a:cubicBezTo>
                    <a:pt x="103378" y="38608"/>
                    <a:pt x="104648" y="45339"/>
                    <a:pt x="104648" y="52324"/>
                  </a:cubicBezTo>
                  <a:lnTo>
                    <a:pt x="100076" y="52324"/>
                  </a:lnTo>
                  <a:lnTo>
                    <a:pt x="104902" y="52324"/>
                  </a:lnTo>
                  <a:moveTo>
                    <a:pt x="95377" y="52324"/>
                  </a:moveTo>
                  <a:cubicBezTo>
                    <a:pt x="95377" y="46609"/>
                    <a:pt x="94234" y="41148"/>
                    <a:pt x="92075" y="35941"/>
                  </a:cubicBez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cubicBezTo>
                    <a:pt x="93980" y="63500"/>
                    <a:pt x="95123" y="58039"/>
                    <a:pt x="95123" y="52324"/>
                  </a:cubicBezTo>
                  <a:close/>
                </a:path>
              </a:pathLst>
            </a:custGeom>
            <a:solidFill>
              <a:srgbClr val="293C63"/>
            </a:solidFill>
          </p:spPr>
        </p:sp>
      </p:grpSp>
      <p:grpSp>
        <p:nvGrpSpPr>
          <p:cNvPr id="10" name="Group 10"/>
          <p:cNvGrpSpPr/>
          <p:nvPr/>
        </p:nvGrpSpPr>
        <p:grpSpPr>
          <a:xfrm>
            <a:off x="1843088" y="4576601"/>
            <a:ext cx="104775" cy="104775"/>
            <a:chOff x="0" y="0"/>
            <a:chExt cx="104775" cy="104775"/>
          </a:xfrm>
        </p:grpSpPr>
        <p:sp>
          <p:nvSpPr>
            <p:cNvPr id="11" name="Freeform 11"/>
            <p:cNvSpPr/>
            <p:nvPr/>
          </p:nvSpPr>
          <p:spPr>
            <a:xfrm>
              <a:off x="0" y="0"/>
              <a:ext cx="104902" cy="104902"/>
            </a:xfrm>
            <a:custGeom>
              <a:avLst/>
              <a:gdLst/>
              <a:ahLst/>
              <a:cxnLst/>
              <a:rect l="l" t="t" r="r" b="b"/>
              <a:pathLst>
                <a:path w="104902" h="104902">
                  <a:moveTo>
                    <a:pt x="104775" y="52324"/>
                  </a:moveTo>
                  <a:cubicBezTo>
                    <a:pt x="104775" y="59309"/>
                    <a:pt x="103505" y="65913"/>
                    <a:pt x="100838" y="72390"/>
                  </a:cubicBezTo>
                  <a:cubicBezTo>
                    <a:pt x="98171" y="78740"/>
                    <a:pt x="94361" y="84455"/>
                    <a:pt x="89535" y="89408"/>
                  </a:cubicBezTo>
                  <a:cubicBezTo>
                    <a:pt x="84582" y="94361"/>
                    <a:pt x="78994" y="98171"/>
                    <a:pt x="72517" y="100711"/>
                  </a:cubicBezTo>
                  <a:cubicBezTo>
                    <a:pt x="66167" y="103378"/>
                    <a:pt x="59436" y="104648"/>
                    <a:pt x="52451" y="104648"/>
                  </a:cubicBezTo>
                  <a:lnTo>
                    <a:pt x="52451" y="100076"/>
                  </a:lnTo>
                  <a:lnTo>
                    <a:pt x="52451" y="104902"/>
                  </a:lnTo>
                  <a:cubicBezTo>
                    <a:pt x="45466" y="104902"/>
                    <a:pt x="38862" y="103632"/>
                    <a:pt x="32385" y="100965"/>
                  </a:cubicBezTo>
                  <a:lnTo>
                    <a:pt x="34163" y="96520"/>
                  </a:lnTo>
                  <a:lnTo>
                    <a:pt x="32385" y="100965"/>
                  </a:lnTo>
                  <a:cubicBezTo>
                    <a:pt x="26035" y="98298"/>
                    <a:pt x="20320" y="94488"/>
                    <a:pt x="15367" y="89662"/>
                  </a:cubicBezTo>
                  <a:cubicBezTo>
                    <a:pt x="10414" y="84582"/>
                    <a:pt x="6604" y="78867"/>
                    <a:pt x="3937" y="72390"/>
                  </a:cubicBezTo>
                  <a:cubicBezTo>
                    <a:pt x="1270" y="66040"/>
                    <a:pt x="0" y="59309"/>
                    <a:pt x="0" y="52324"/>
                  </a:cubicBezTo>
                  <a:lnTo>
                    <a:pt x="4826" y="52324"/>
                  </a:lnTo>
                  <a:lnTo>
                    <a:pt x="0" y="52324"/>
                  </a:lnTo>
                  <a:cubicBezTo>
                    <a:pt x="0" y="45339"/>
                    <a:pt x="1270" y="38735"/>
                    <a:pt x="3937" y="32258"/>
                  </a:cubicBezTo>
                  <a:cubicBezTo>
                    <a:pt x="6604" y="25908"/>
                    <a:pt x="10414" y="20193"/>
                    <a:pt x="15240" y="15240"/>
                  </a:cubicBezTo>
                  <a:lnTo>
                    <a:pt x="18669" y="18669"/>
                  </a:lnTo>
                  <a:lnTo>
                    <a:pt x="15240" y="15240"/>
                  </a:lnTo>
                  <a:cubicBezTo>
                    <a:pt x="20193" y="10414"/>
                    <a:pt x="25908" y="6604"/>
                    <a:pt x="32385" y="3937"/>
                  </a:cubicBezTo>
                  <a:cubicBezTo>
                    <a:pt x="38735" y="1270"/>
                    <a:pt x="45466" y="0"/>
                    <a:pt x="52324" y="0"/>
                  </a:cubicBezTo>
                  <a:lnTo>
                    <a:pt x="52324" y="4826"/>
                  </a:lnTo>
                  <a:lnTo>
                    <a:pt x="52324" y="0"/>
                  </a:lnTo>
                  <a:cubicBezTo>
                    <a:pt x="59309" y="0"/>
                    <a:pt x="66040" y="1270"/>
                    <a:pt x="72390" y="3937"/>
                  </a:cubicBezTo>
                  <a:cubicBezTo>
                    <a:pt x="78740" y="6604"/>
                    <a:pt x="84455" y="10414"/>
                    <a:pt x="89408" y="15240"/>
                  </a:cubicBezTo>
                  <a:lnTo>
                    <a:pt x="85979" y="18669"/>
                  </a:lnTo>
                  <a:lnTo>
                    <a:pt x="89408" y="15240"/>
                  </a:lnTo>
                  <a:cubicBezTo>
                    <a:pt x="94361" y="20193"/>
                    <a:pt x="98171" y="25781"/>
                    <a:pt x="100711" y="32258"/>
                  </a:cubicBezTo>
                  <a:cubicBezTo>
                    <a:pt x="103378" y="38608"/>
                    <a:pt x="104648" y="45339"/>
                    <a:pt x="104648" y="52324"/>
                  </a:cubicBezTo>
                  <a:lnTo>
                    <a:pt x="100076" y="52324"/>
                  </a:lnTo>
                  <a:lnTo>
                    <a:pt x="104902" y="52324"/>
                  </a:lnTo>
                  <a:moveTo>
                    <a:pt x="95377" y="52324"/>
                  </a:moveTo>
                  <a:cubicBezTo>
                    <a:pt x="95377" y="46609"/>
                    <a:pt x="94234" y="41148"/>
                    <a:pt x="92075" y="35941"/>
                  </a:cubicBezTo>
                  <a:lnTo>
                    <a:pt x="96520" y="34163"/>
                  </a:lnTo>
                  <a:lnTo>
                    <a:pt x="92075" y="35941"/>
                  </a:lnTo>
                  <a:cubicBezTo>
                    <a:pt x="89916" y="30734"/>
                    <a:pt x="86868" y="26035"/>
                    <a:pt x="82804" y="22098"/>
                  </a:cubicBezTo>
                  <a:cubicBezTo>
                    <a:pt x="78740" y="18161"/>
                    <a:pt x="74168" y="14986"/>
                    <a:pt x="68961" y="12827"/>
                  </a:cubicBezTo>
                  <a:lnTo>
                    <a:pt x="70612" y="8382"/>
                  </a:lnTo>
                  <a:lnTo>
                    <a:pt x="68834" y="12827"/>
                  </a:lnTo>
                  <a:cubicBezTo>
                    <a:pt x="63500" y="10668"/>
                    <a:pt x="58039" y="9525"/>
                    <a:pt x="52324" y="9525"/>
                  </a:cubicBezTo>
                  <a:cubicBezTo>
                    <a:pt x="46609" y="9525"/>
                    <a:pt x="41148" y="10668"/>
                    <a:pt x="35941" y="12827"/>
                  </a:cubicBezTo>
                  <a:lnTo>
                    <a:pt x="34163" y="8382"/>
                  </a:lnTo>
                  <a:lnTo>
                    <a:pt x="35941" y="12827"/>
                  </a:lnTo>
                  <a:cubicBezTo>
                    <a:pt x="30734" y="14986"/>
                    <a:pt x="26035" y="18034"/>
                    <a:pt x="22098" y="22098"/>
                  </a:cubicBezTo>
                  <a:cubicBezTo>
                    <a:pt x="18161" y="26162"/>
                    <a:pt x="14986" y="30734"/>
                    <a:pt x="12827" y="35941"/>
                  </a:cubicBezTo>
                  <a:lnTo>
                    <a:pt x="8382" y="34163"/>
                  </a:lnTo>
                  <a:lnTo>
                    <a:pt x="12827" y="35941"/>
                  </a:lnTo>
                  <a:cubicBezTo>
                    <a:pt x="10668" y="41148"/>
                    <a:pt x="9525" y="46609"/>
                    <a:pt x="9525" y="52324"/>
                  </a:cubicBezTo>
                  <a:cubicBezTo>
                    <a:pt x="9525" y="58039"/>
                    <a:pt x="10668" y="63500"/>
                    <a:pt x="12827" y="68707"/>
                  </a:cubicBezTo>
                  <a:lnTo>
                    <a:pt x="8382" y="70485"/>
                  </a:lnTo>
                  <a:lnTo>
                    <a:pt x="12827" y="68707"/>
                  </a:lnTo>
                  <a:cubicBezTo>
                    <a:pt x="14986" y="73914"/>
                    <a:pt x="18034" y="78613"/>
                    <a:pt x="22098" y="82550"/>
                  </a:cubicBezTo>
                  <a:lnTo>
                    <a:pt x="18669" y="85979"/>
                  </a:lnTo>
                  <a:lnTo>
                    <a:pt x="22098" y="82550"/>
                  </a:lnTo>
                  <a:cubicBezTo>
                    <a:pt x="26162" y="86614"/>
                    <a:pt x="30734" y="89662"/>
                    <a:pt x="35941" y="91821"/>
                  </a:cubicBezTo>
                  <a:cubicBezTo>
                    <a:pt x="41148" y="93980"/>
                    <a:pt x="46609" y="95123"/>
                    <a:pt x="52324" y="95123"/>
                  </a:cubicBezTo>
                  <a:cubicBezTo>
                    <a:pt x="58039" y="95123"/>
                    <a:pt x="63500" y="93980"/>
                    <a:pt x="68707" y="91821"/>
                  </a:cubicBezTo>
                  <a:lnTo>
                    <a:pt x="70485" y="96266"/>
                  </a:lnTo>
                  <a:lnTo>
                    <a:pt x="68707" y="91821"/>
                  </a:lnTo>
                  <a:cubicBezTo>
                    <a:pt x="73914" y="89662"/>
                    <a:pt x="78613" y="86614"/>
                    <a:pt x="82550" y="82550"/>
                  </a:cubicBezTo>
                  <a:lnTo>
                    <a:pt x="85979" y="85979"/>
                  </a:lnTo>
                  <a:lnTo>
                    <a:pt x="82550" y="82550"/>
                  </a:lnTo>
                  <a:cubicBezTo>
                    <a:pt x="86614" y="78486"/>
                    <a:pt x="89662" y="73914"/>
                    <a:pt x="91821" y="68707"/>
                  </a:cubicBezTo>
                  <a:lnTo>
                    <a:pt x="96266" y="70485"/>
                  </a:lnTo>
                  <a:lnTo>
                    <a:pt x="91821" y="68707"/>
                  </a:lnTo>
                  <a:cubicBezTo>
                    <a:pt x="93980" y="63500"/>
                    <a:pt x="95123" y="58039"/>
                    <a:pt x="95123" y="52324"/>
                  </a:cubicBezTo>
                  <a:close/>
                </a:path>
              </a:pathLst>
            </a:custGeom>
            <a:solidFill>
              <a:srgbClr val="293C63"/>
            </a:solidFill>
          </p:spPr>
        </p:sp>
      </p:grpSp>
      <p:sp>
        <p:nvSpPr>
          <p:cNvPr id="12" name="Freeform 12"/>
          <p:cNvSpPr/>
          <p:nvPr/>
        </p:nvSpPr>
        <p:spPr>
          <a:xfrm>
            <a:off x="8609757" y="2478153"/>
            <a:ext cx="9678243" cy="5656915"/>
          </a:xfrm>
          <a:custGeom>
            <a:avLst/>
            <a:gdLst/>
            <a:ahLst/>
            <a:cxnLst/>
            <a:rect l="l" t="t" r="r" b="b"/>
            <a:pathLst>
              <a:path w="9678243" h="5656915">
                <a:moveTo>
                  <a:pt x="0" y="0"/>
                </a:moveTo>
                <a:lnTo>
                  <a:pt x="9678243" y="0"/>
                </a:lnTo>
                <a:lnTo>
                  <a:pt x="9678243" y="5656914"/>
                </a:lnTo>
                <a:lnTo>
                  <a:pt x="0" y="5656914"/>
                </a:lnTo>
                <a:lnTo>
                  <a:pt x="0" y="0"/>
                </a:lnTo>
                <a:close/>
              </a:path>
            </a:pathLst>
          </a:custGeom>
          <a:blipFill>
            <a:blip r:embed="rId5"/>
            <a:stretch>
              <a:fillRect/>
            </a:stretch>
          </a:blipFill>
        </p:spPr>
      </p:sp>
      <p:sp>
        <p:nvSpPr>
          <p:cNvPr id="13" name="TextBox 13"/>
          <p:cNvSpPr txBox="1"/>
          <p:nvPr/>
        </p:nvSpPr>
        <p:spPr>
          <a:xfrm>
            <a:off x="2052361" y="1841802"/>
            <a:ext cx="11769923" cy="808149"/>
          </a:xfrm>
          <a:prstGeom prst="rect">
            <a:avLst/>
          </a:prstGeom>
        </p:spPr>
        <p:txBody>
          <a:bodyPr lIns="0" tIns="0" rIns="0" bIns="0" rtlCol="0" anchor="t">
            <a:spAutoFit/>
          </a:bodyPr>
          <a:lstStyle/>
          <a:p>
            <a:pPr algn="l">
              <a:lnSpc>
                <a:spcPts val="3225"/>
              </a:lnSpc>
            </a:pPr>
            <a:r>
              <a:rPr lang="en-US" sz="2490" b="1">
                <a:solidFill>
                  <a:srgbClr val="293C63"/>
                </a:solidFill>
                <a:latin typeface="Montserrat Bold"/>
                <a:ea typeface="Montserrat Bold"/>
                <a:cs typeface="Montserrat Bold"/>
                <a:sym typeface="Montserrat Bold"/>
              </a:rPr>
              <a:t>Siapa aja Cast/Pemeran yang paling sering muncul di Disney+ ? (WHO)</a:t>
            </a:r>
          </a:p>
          <a:p>
            <a:pPr algn="l">
              <a:lnSpc>
                <a:spcPts val="3225"/>
              </a:lnSpc>
            </a:pPr>
            <a:endParaRPr lang="en-US" sz="2490" b="1">
              <a:solidFill>
                <a:srgbClr val="293C63"/>
              </a:solidFill>
              <a:latin typeface="Montserrat Bold"/>
              <a:ea typeface="Montserrat Bold"/>
              <a:cs typeface="Montserrat Bold"/>
              <a:sym typeface="Montserrat Bold"/>
            </a:endParaRPr>
          </a:p>
        </p:txBody>
      </p:sp>
      <p:sp>
        <p:nvSpPr>
          <p:cNvPr id="14" name="TextBox 14"/>
          <p:cNvSpPr txBox="1"/>
          <p:nvPr/>
        </p:nvSpPr>
        <p:spPr>
          <a:xfrm>
            <a:off x="2052361" y="896903"/>
            <a:ext cx="5357693" cy="963949"/>
          </a:xfrm>
          <a:prstGeom prst="rect">
            <a:avLst/>
          </a:prstGeom>
        </p:spPr>
        <p:txBody>
          <a:bodyPr lIns="0" tIns="0" rIns="0" bIns="0" rtlCol="0" anchor="t">
            <a:spAutoFit/>
          </a:bodyPr>
          <a:lstStyle/>
          <a:p>
            <a:pPr algn="l">
              <a:lnSpc>
                <a:spcPts val="6718"/>
              </a:lnSpc>
            </a:pPr>
            <a:r>
              <a:rPr lang="en-US" sz="4799" b="1">
                <a:solidFill>
                  <a:srgbClr val="374A71"/>
                </a:solidFill>
                <a:latin typeface="Cooper Hewitt Bold"/>
                <a:ea typeface="Cooper Hewitt Bold"/>
                <a:cs typeface="Cooper Hewitt Bold"/>
                <a:sym typeface="Cooper Hewitt Bold"/>
              </a:rPr>
              <a:t>Analisis Visualisasi</a:t>
            </a:r>
          </a:p>
        </p:txBody>
      </p:sp>
      <p:sp>
        <p:nvSpPr>
          <p:cNvPr id="15" name="TextBox 15"/>
          <p:cNvSpPr txBox="1"/>
          <p:nvPr/>
        </p:nvSpPr>
        <p:spPr>
          <a:xfrm>
            <a:off x="176555" y="2726151"/>
            <a:ext cx="8185794" cy="4546626"/>
          </a:xfrm>
          <a:prstGeom prst="rect">
            <a:avLst/>
          </a:prstGeom>
        </p:spPr>
        <p:txBody>
          <a:bodyPr lIns="0" tIns="0" rIns="0" bIns="0" rtlCol="0" anchor="t">
            <a:spAutoFit/>
          </a:bodyPr>
          <a:lstStyle/>
          <a:p>
            <a:pPr algn="just">
              <a:lnSpc>
                <a:spcPts val="3634"/>
              </a:lnSpc>
            </a:pPr>
            <a:r>
              <a:rPr lang="en-US" sz="2595">
                <a:solidFill>
                  <a:srgbClr val="000000"/>
                </a:solidFill>
                <a:latin typeface="Montserrat"/>
                <a:ea typeface="Montserrat"/>
                <a:cs typeface="Montserrat"/>
                <a:sym typeface="Montserrat"/>
              </a:rPr>
              <a:t>Insight = Jim cummings paling searing muncul di Disney+ sebanyak 33, diikuti oleh Walt Disney sebanyak 20, dan Bill Farmer sebanyak 18.</a:t>
            </a:r>
          </a:p>
          <a:p>
            <a:pPr algn="just">
              <a:lnSpc>
                <a:spcPts val="3634"/>
              </a:lnSpc>
            </a:pPr>
            <a:endParaRPr lang="en-US" sz="2595">
              <a:solidFill>
                <a:srgbClr val="000000"/>
              </a:solidFill>
              <a:latin typeface="Montserrat"/>
              <a:ea typeface="Montserrat"/>
              <a:cs typeface="Montserrat"/>
              <a:sym typeface="Montserrat"/>
            </a:endParaRPr>
          </a:p>
          <a:p>
            <a:pPr algn="just">
              <a:lnSpc>
                <a:spcPts val="3634"/>
              </a:lnSpc>
              <a:spcBef>
                <a:spcPct val="0"/>
              </a:spcBef>
            </a:pPr>
            <a:r>
              <a:rPr lang="en-US" sz="2595">
                <a:solidFill>
                  <a:srgbClr val="000000"/>
                </a:solidFill>
                <a:latin typeface="Montserrat"/>
                <a:ea typeface="Montserrat"/>
                <a:cs typeface="Montserrat"/>
                <a:sym typeface="Montserrat"/>
              </a:rPr>
              <a:t>Wisdom = Disney+ dapat mempertahankan pemeran yang sering muncul agar mempertahankan konsisteni karakter. dan disney+ perlu meningkatkan pendataan pemeran agar dapat dianalisa lebih detail kedepannya.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1304925" y="2982116"/>
            <a:ext cx="95250" cy="95250"/>
          </a:xfrm>
          <a:custGeom>
            <a:avLst/>
            <a:gdLst/>
            <a:ahLst/>
            <a:cxnLst/>
            <a:rect l="l" t="t" r="r" b="b"/>
            <a:pathLst>
              <a:path w="95250" h="95250">
                <a:moveTo>
                  <a:pt x="0" y="0"/>
                </a:moveTo>
                <a:lnTo>
                  <a:pt x="95250" y="0"/>
                </a:lnTo>
                <a:lnTo>
                  <a:pt x="95250" y="95250"/>
                </a:lnTo>
                <a:lnTo>
                  <a:pt x="0" y="952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832104" y="965197"/>
            <a:ext cx="965244" cy="891464"/>
          </a:xfrm>
          <a:custGeom>
            <a:avLst/>
            <a:gdLst/>
            <a:ahLst/>
            <a:cxnLst/>
            <a:rect l="l" t="t" r="r" b="b"/>
            <a:pathLst>
              <a:path w="965244" h="891464">
                <a:moveTo>
                  <a:pt x="0" y="0"/>
                </a:moveTo>
                <a:lnTo>
                  <a:pt x="965244" y="0"/>
                </a:lnTo>
                <a:lnTo>
                  <a:pt x="965244" y="891464"/>
                </a:lnTo>
                <a:lnTo>
                  <a:pt x="0" y="89146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0414568" y="2596215"/>
            <a:ext cx="7853068" cy="5092664"/>
          </a:xfrm>
          <a:custGeom>
            <a:avLst/>
            <a:gdLst/>
            <a:ahLst/>
            <a:cxnLst/>
            <a:rect l="l" t="t" r="r" b="b"/>
            <a:pathLst>
              <a:path w="7853068" h="5092664">
                <a:moveTo>
                  <a:pt x="0" y="0"/>
                </a:moveTo>
                <a:lnTo>
                  <a:pt x="7853069" y="0"/>
                </a:lnTo>
                <a:lnTo>
                  <a:pt x="7853069" y="5092665"/>
                </a:lnTo>
                <a:lnTo>
                  <a:pt x="0" y="5092665"/>
                </a:lnTo>
                <a:lnTo>
                  <a:pt x="0" y="0"/>
                </a:lnTo>
                <a:close/>
              </a:path>
            </a:pathLst>
          </a:custGeom>
          <a:blipFill>
            <a:blip r:embed="rId5"/>
            <a:stretch>
              <a:fillRect/>
            </a:stretch>
          </a:blipFill>
        </p:spPr>
      </p:sp>
      <p:sp>
        <p:nvSpPr>
          <p:cNvPr id="7" name="TextBox 7"/>
          <p:cNvSpPr txBox="1"/>
          <p:nvPr/>
        </p:nvSpPr>
        <p:spPr>
          <a:xfrm>
            <a:off x="1028700" y="2349627"/>
            <a:ext cx="3619500" cy="864339"/>
          </a:xfrm>
          <a:prstGeom prst="rect">
            <a:avLst/>
          </a:prstGeom>
        </p:spPr>
        <p:txBody>
          <a:bodyPr wrap="square" lIns="0" tIns="0" rIns="0" bIns="0" rtlCol="0" anchor="t">
            <a:spAutoFit/>
          </a:bodyPr>
          <a:lstStyle/>
          <a:p>
            <a:pPr algn="l">
              <a:lnSpc>
                <a:spcPts val="3451"/>
              </a:lnSpc>
            </a:pPr>
            <a:r>
              <a:rPr lang="en-US" sz="2490" b="1" dirty="0">
                <a:solidFill>
                  <a:srgbClr val="293C63"/>
                </a:solidFill>
                <a:latin typeface="Montserrat Bold"/>
                <a:ea typeface="Montserrat Bold"/>
                <a:cs typeface="Montserrat Bold"/>
                <a:sym typeface="Montserrat Bold"/>
              </a:rPr>
              <a:t>Central Tendency</a:t>
            </a:r>
          </a:p>
          <a:p>
            <a:pPr algn="l">
              <a:lnSpc>
                <a:spcPts val="3451"/>
              </a:lnSpc>
            </a:pPr>
            <a:endParaRPr lang="en-US" sz="2490" b="1" dirty="0">
              <a:solidFill>
                <a:srgbClr val="293C63"/>
              </a:solidFill>
              <a:latin typeface="Montserrat Bold"/>
              <a:ea typeface="Montserrat Bold"/>
              <a:cs typeface="Montserrat Bold"/>
              <a:sym typeface="Montserrat Bold"/>
            </a:endParaRPr>
          </a:p>
        </p:txBody>
      </p:sp>
      <p:sp>
        <p:nvSpPr>
          <p:cNvPr id="8" name="TextBox 8"/>
          <p:cNvSpPr txBox="1"/>
          <p:nvPr/>
        </p:nvSpPr>
        <p:spPr>
          <a:xfrm>
            <a:off x="1566415" y="2786510"/>
            <a:ext cx="1366818" cy="419081"/>
          </a:xfrm>
          <a:prstGeom prst="rect">
            <a:avLst/>
          </a:prstGeom>
        </p:spPr>
        <p:txBody>
          <a:bodyPr lIns="0" tIns="0" rIns="0" bIns="0" rtlCol="0" anchor="t">
            <a:spAutoFit/>
          </a:bodyPr>
          <a:lstStyle/>
          <a:p>
            <a:pPr algn="l">
              <a:lnSpc>
                <a:spcPts val="3451"/>
              </a:lnSpc>
            </a:pPr>
            <a:r>
              <a:rPr lang="en-US" sz="2490">
                <a:solidFill>
                  <a:srgbClr val="293C63"/>
                </a:solidFill>
                <a:latin typeface="Montserrat"/>
                <a:ea typeface="Montserrat"/>
                <a:cs typeface="Montserrat"/>
                <a:sym typeface="Montserrat"/>
              </a:rPr>
              <a:t>Hasil Uji:</a:t>
            </a:r>
          </a:p>
        </p:txBody>
      </p:sp>
      <p:sp>
        <p:nvSpPr>
          <p:cNvPr id="9" name="TextBox 9"/>
          <p:cNvSpPr txBox="1"/>
          <p:nvPr/>
        </p:nvSpPr>
        <p:spPr>
          <a:xfrm>
            <a:off x="1919307" y="896903"/>
            <a:ext cx="7777162" cy="963949"/>
          </a:xfrm>
          <a:prstGeom prst="rect">
            <a:avLst/>
          </a:prstGeom>
        </p:spPr>
        <p:txBody>
          <a:bodyPr lIns="0" tIns="0" rIns="0" bIns="0" rtlCol="0" anchor="t">
            <a:spAutoFit/>
          </a:bodyPr>
          <a:lstStyle/>
          <a:p>
            <a:pPr algn="l">
              <a:lnSpc>
                <a:spcPts val="6718"/>
              </a:lnSpc>
            </a:pPr>
            <a:r>
              <a:rPr lang="en-US" sz="4799" b="1">
                <a:solidFill>
                  <a:srgbClr val="374A71"/>
                </a:solidFill>
                <a:latin typeface="Cooper Hewitt Bold"/>
                <a:ea typeface="Cooper Hewitt Bold"/>
                <a:cs typeface="Cooper Hewitt Bold"/>
                <a:sym typeface="Cooper Hewitt Bold"/>
              </a:rPr>
              <a:t>Analisis Statistik Deskriptif</a:t>
            </a:r>
          </a:p>
        </p:txBody>
      </p:sp>
      <p:sp>
        <p:nvSpPr>
          <p:cNvPr id="10" name="TextBox 10"/>
          <p:cNvSpPr txBox="1"/>
          <p:nvPr/>
        </p:nvSpPr>
        <p:spPr>
          <a:xfrm>
            <a:off x="1797348" y="1837611"/>
            <a:ext cx="13736002" cy="808149"/>
          </a:xfrm>
          <a:prstGeom prst="rect">
            <a:avLst/>
          </a:prstGeom>
        </p:spPr>
        <p:txBody>
          <a:bodyPr lIns="0" tIns="0" rIns="0" bIns="0" rtlCol="0" anchor="t">
            <a:spAutoFit/>
          </a:bodyPr>
          <a:lstStyle/>
          <a:p>
            <a:pPr algn="l">
              <a:lnSpc>
                <a:spcPts val="3225"/>
              </a:lnSpc>
            </a:pPr>
            <a:r>
              <a:rPr lang="en-US" sz="2490" b="1">
                <a:solidFill>
                  <a:srgbClr val="293C63"/>
                </a:solidFill>
                <a:latin typeface="Montserrat Bold"/>
                <a:ea typeface="Montserrat Bold"/>
                <a:cs typeface="Montserrat Bold"/>
                <a:sym typeface="Montserrat Bold"/>
              </a:rPr>
              <a:t>Bagaimana gambaran statistik jumlah konten yang dirilis di Disney+ setiap tahun?</a:t>
            </a:r>
          </a:p>
          <a:p>
            <a:pPr algn="l">
              <a:lnSpc>
                <a:spcPts val="3225"/>
              </a:lnSpc>
            </a:pPr>
            <a:endParaRPr lang="en-US" sz="2490" b="1">
              <a:solidFill>
                <a:srgbClr val="293C63"/>
              </a:solidFill>
              <a:latin typeface="Montserrat Bold"/>
              <a:ea typeface="Montserrat Bold"/>
              <a:cs typeface="Montserrat Bold"/>
              <a:sym typeface="Montserrat Bold"/>
            </a:endParaRPr>
          </a:p>
        </p:txBody>
      </p:sp>
      <p:sp>
        <p:nvSpPr>
          <p:cNvPr id="11" name="TextBox 11"/>
          <p:cNvSpPr txBox="1"/>
          <p:nvPr/>
        </p:nvSpPr>
        <p:spPr>
          <a:xfrm>
            <a:off x="1566415" y="3167491"/>
            <a:ext cx="6090841" cy="2560774"/>
          </a:xfrm>
          <a:prstGeom prst="rect">
            <a:avLst/>
          </a:prstGeom>
        </p:spPr>
        <p:txBody>
          <a:bodyPr lIns="0" tIns="0" rIns="0" bIns="0" rtlCol="0" anchor="t">
            <a:spAutoFit/>
          </a:bodyPr>
          <a:lstStyle/>
          <a:p>
            <a:pPr algn="l">
              <a:lnSpc>
                <a:spcPts val="2544"/>
              </a:lnSpc>
            </a:pPr>
            <a:r>
              <a:rPr lang="en-US" sz="1817">
                <a:solidFill>
                  <a:srgbClr val="000000"/>
                </a:solidFill>
                <a:latin typeface="Montserrat"/>
                <a:ea typeface="Montserrat"/>
                <a:cs typeface="Montserrat"/>
                <a:sym typeface="Montserrat"/>
              </a:rPr>
              <a:t>Rata-rata jumlah judul per tahun: 482.3333333333333</a:t>
            </a:r>
          </a:p>
          <a:p>
            <a:pPr algn="l">
              <a:lnSpc>
                <a:spcPts val="2544"/>
              </a:lnSpc>
            </a:pPr>
            <a:r>
              <a:rPr lang="en-US" sz="1817">
                <a:solidFill>
                  <a:srgbClr val="000000"/>
                </a:solidFill>
                <a:latin typeface="Montserrat"/>
                <a:ea typeface="Montserrat"/>
                <a:cs typeface="Montserrat"/>
                <a:sym typeface="Montserrat"/>
              </a:rPr>
              <a:t>Median jumlah judul per tahun: 352.0</a:t>
            </a:r>
          </a:p>
          <a:p>
            <a:pPr algn="l">
              <a:lnSpc>
                <a:spcPts val="2544"/>
              </a:lnSpc>
            </a:pPr>
            <a:r>
              <a:rPr lang="en-US" sz="1817">
                <a:solidFill>
                  <a:srgbClr val="000000"/>
                </a:solidFill>
                <a:latin typeface="Montserrat"/>
                <a:ea typeface="Montserrat"/>
                <a:cs typeface="Montserrat"/>
                <a:sym typeface="Montserrat"/>
              </a:rPr>
              <a:t>Skew: 1.716357768812939</a:t>
            </a:r>
          </a:p>
          <a:p>
            <a:pPr algn="l">
              <a:lnSpc>
                <a:spcPts val="2544"/>
              </a:lnSpc>
            </a:pPr>
            <a:r>
              <a:rPr lang="en-US" sz="1817">
                <a:solidFill>
                  <a:srgbClr val="000000"/>
                </a:solidFill>
                <a:latin typeface="Montserrat"/>
                <a:ea typeface="Montserrat"/>
                <a:cs typeface="Montserrat"/>
                <a:sym typeface="Montserrat"/>
              </a:rPr>
              <a:t>Minimum: 330 </a:t>
            </a:r>
          </a:p>
          <a:p>
            <a:pPr algn="l">
              <a:lnSpc>
                <a:spcPts val="2544"/>
              </a:lnSpc>
            </a:pPr>
            <a:r>
              <a:rPr lang="en-US" sz="1817">
                <a:solidFill>
                  <a:srgbClr val="000000"/>
                </a:solidFill>
                <a:latin typeface="Montserrat"/>
                <a:ea typeface="Montserrat"/>
                <a:cs typeface="Montserrat"/>
                <a:sym typeface="Montserrat"/>
              </a:rPr>
              <a:t>Maximum: 765 </a:t>
            </a:r>
          </a:p>
          <a:p>
            <a:pPr algn="l">
              <a:lnSpc>
                <a:spcPts val="2544"/>
              </a:lnSpc>
            </a:pPr>
            <a:r>
              <a:rPr lang="en-US" sz="1817">
                <a:solidFill>
                  <a:srgbClr val="000000"/>
                </a:solidFill>
                <a:latin typeface="Montserrat"/>
                <a:ea typeface="Montserrat"/>
                <a:cs typeface="Montserrat"/>
                <a:sym typeface="Montserrat"/>
              </a:rPr>
              <a:t>Standard Deviasi: 245.04353354727263</a:t>
            </a:r>
          </a:p>
          <a:p>
            <a:pPr algn="l">
              <a:lnSpc>
                <a:spcPts val="2544"/>
              </a:lnSpc>
            </a:pPr>
            <a:r>
              <a:rPr lang="en-US" sz="1817">
                <a:solidFill>
                  <a:srgbClr val="000000"/>
                </a:solidFill>
                <a:latin typeface="Montserrat"/>
                <a:ea typeface="Montserrat"/>
                <a:cs typeface="Montserrat"/>
                <a:sym typeface="Montserrat"/>
              </a:rPr>
              <a:t>coefficient of variation: 50.8 %</a:t>
            </a:r>
          </a:p>
          <a:p>
            <a:pPr algn="l">
              <a:lnSpc>
                <a:spcPts val="2544"/>
              </a:lnSpc>
            </a:pPr>
            <a:endParaRPr lang="en-US" sz="1817">
              <a:solidFill>
                <a:srgbClr val="000000"/>
              </a:solidFill>
              <a:latin typeface="Montserrat"/>
              <a:ea typeface="Montserrat"/>
              <a:cs typeface="Montserrat"/>
              <a:sym typeface="Montserrat"/>
            </a:endParaRPr>
          </a:p>
        </p:txBody>
      </p:sp>
      <p:sp>
        <p:nvSpPr>
          <p:cNvPr id="12" name="TextBox 12"/>
          <p:cNvSpPr txBox="1"/>
          <p:nvPr/>
        </p:nvSpPr>
        <p:spPr>
          <a:xfrm>
            <a:off x="481516" y="5823515"/>
            <a:ext cx="9574141" cy="4583979"/>
          </a:xfrm>
          <a:prstGeom prst="rect">
            <a:avLst/>
          </a:prstGeom>
        </p:spPr>
        <p:txBody>
          <a:bodyPr lIns="0" tIns="0" rIns="0" bIns="0" rtlCol="0" anchor="t">
            <a:spAutoFit/>
          </a:bodyPr>
          <a:lstStyle/>
          <a:p>
            <a:pPr algn="just">
              <a:lnSpc>
                <a:spcPts val="2803"/>
              </a:lnSpc>
              <a:spcBef>
                <a:spcPct val="0"/>
              </a:spcBef>
            </a:pPr>
            <a:r>
              <a:rPr lang="en-US" sz="2165">
                <a:solidFill>
                  <a:srgbClr val="000000"/>
                </a:solidFill>
                <a:latin typeface="Montserrat"/>
                <a:ea typeface="Montserrat"/>
                <a:cs typeface="Montserrat"/>
                <a:sym typeface="Montserrat"/>
              </a:rPr>
              <a:t>Setelah di dapatkan hasil perhitungan analisis deskriptif, rata rata jumlah konten pertahun lebih tinggi dibandingkan median(nilai tengah), yang menunjukan distribusi konten tidak merata antar tahun, dan skewnes sebesar 1,7 yang lebih besar dari 0, menunjukan data memiliki kemiringan ke kanan atau positively skewed. Selain itu, nilai minimum sebesar 330 dan maximum sebesar 765 menunjukkan adanya perbedaan jumlah konten antar tahun. lalu nilai standar deviasi sebesar 245 dengan rumus coefficient of variation didapatkan sekitar 50.8% menunjukkan bahwa data memiliki variasi yang tinggi, ini mengindikasikan bahwa distribusi konten per tahunya tidaklah stabil dan terdapat beberapa tahun dengan jumlah distribusi konten yang lebih tinggi di banding tahun lainnya.</a:t>
            </a:r>
          </a:p>
          <a:p>
            <a:pPr algn="just">
              <a:lnSpc>
                <a:spcPts val="2803"/>
              </a:lnSpc>
              <a:spcBef>
                <a:spcPct val="0"/>
              </a:spcBef>
            </a:pPr>
            <a:endParaRPr lang="en-US" sz="2165">
              <a:solidFill>
                <a:srgbClr val="000000"/>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1304925" y="2982116"/>
            <a:ext cx="95250" cy="95250"/>
          </a:xfrm>
          <a:custGeom>
            <a:avLst/>
            <a:gdLst/>
            <a:ahLst/>
            <a:cxnLst/>
            <a:rect l="l" t="t" r="r" b="b"/>
            <a:pathLst>
              <a:path w="95250" h="95250">
                <a:moveTo>
                  <a:pt x="0" y="0"/>
                </a:moveTo>
                <a:lnTo>
                  <a:pt x="95250" y="0"/>
                </a:lnTo>
                <a:lnTo>
                  <a:pt x="95250" y="95250"/>
                </a:lnTo>
                <a:lnTo>
                  <a:pt x="0" y="952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352550" y="4418712"/>
            <a:ext cx="95250" cy="95250"/>
          </a:xfrm>
          <a:custGeom>
            <a:avLst/>
            <a:gdLst/>
            <a:ahLst/>
            <a:cxnLst/>
            <a:rect l="l" t="t" r="r" b="b"/>
            <a:pathLst>
              <a:path w="95250" h="95250">
                <a:moveTo>
                  <a:pt x="0" y="0"/>
                </a:moveTo>
                <a:lnTo>
                  <a:pt x="95250" y="0"/>
                </a:lnTo>
                <a:lnTo>
                  <a:pt x="95250" y="95250"/>
                </a:lnTo>
                <a:lnTo>
                  <a:pt x="0" y="9525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832104" y="965197"/>
            <a:ext cx="965244" cy="891464"/>
          </a:xfrm>
          <a:custGeom>
            <a:avLst/>
            <a:gdLst/>
            <a:ahLst/>
            <a:cxnLst/>
            <a:rect l="l" t="t" r="r" b="b"/>
            <a:pathLst>
              <a:path w="965244" h="891464">
                <a:moveTo>
                  <a:pt x="0" y="0"/>
                </a:moveTo>
                <a:lnTo>
                  <a:pt x="965244" y="0"/>
                </a:lnTo>
                <a:lnTo>
                  <a:pt x="965244" y="891464"/>
                </a:lnTo>
                <a:lnTo>
                  <a:pt x="0" y="89146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890712" y="5728400"/>
            <a:ext cx="104775" cy="104775"/>
          </a:xfrm>
          <a:custGeom>
            <a:avLst/>
            <a:gdLst/>
            <a:ahLst/>
            <a:cxnLst/>
            <a:rect l="l" t="t" r="r" b="b"/>
            <a:pathLst>
              <a:path w="104775" h="104775">
                <a:moveTo>
                  <a:pt x="0" y="0"/>
                </a:moveTo>
                <a:lnTo>
                  <a:pt x="104776" y="0"/>
                </a:lnTo>
                <a:lnTo>
                  <a:pt x="104776" y="104775"/>
                </a:lnTo>
                <a:lnTo>
                  <a:pt x="0" y="10477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a:off x="1890712" y="6604700"/>
            <a:ext cx="104775" cy="104775"/>
          </a:xfrm>
          <a:custGeom>
            <a:avLst/>
            <a:gdLst/>
            <a:ahLst/>
            <a:cxnLst/>
            <a:rect l="l" t="t" r="r" b="b"/>
            <a:pathLst>
              <a:path w="104775" h="104775">
                <a:moveTo>
                  <a:pt x="0" y="0"/>
                </a:moveTo>
                <a:lnTo>
                  <a:pt x="104776" y="0"/>
                </a:lnTo>
                <a:lnTo>
                  <a:pt x="104776" y="104775"/>
                </a:lnTo>
                <a:lnTo>
                  <a:pt x="0" y="104775"/>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10963251" y="2978742"/>
            <a:ext cx="6869589" cy="5708866"/>
          </a:xfrm>
          <a:custGeom>
            <a:avLst/>
            <a:gdLst/>
            <a:ahLst/>
            <a:cxnLst/>
            <a:rect l="l" t="t" r="r" b="b"/>
            <a:pathLst>
              <a:path w="6869589" h="5708866">
                <a:moveTo>
                  <a:pt x="0" y="0"/>
                </a:moveTo>
                <a:lnTo>
                  <a:pt x="6869590" y="0"/>
                </a:lnTo>
                <a:lnTo>
                  <a:pt x="6869590" y="5708866"/>
                </a:lnTo>
                <a:lnTo>
                  <a:pt x="0" y="5708866"/>
                </a:lnTo>
                <a:lnTo>
                  <a:pt x="0" y="0"/>
                </a:lnTo>
                <a:close/>
              </a:path>
            </a:pathLst>
          </a:custGeom>
          <a:blipFill>
            <a:blip r:embed="rId8"/>
            <a:stretch>
              <a:fillRect/>
            </a:stretch>
          </a:blipFill>
        </p:spPr>
      </p:sp>
      <p:sp>
        <p:nvSpPr>
          <p:cNvPr id="10" name="TextBox 10"/>
          <p:cNvSpPr txBox="1"/>
          <p:nvPr/>
        </p:nvSpPr>
        <p:spPr>
          <a:xfrm>
            <a:off x="1028700" y="2349627"/>
            <a:ext cx="1871796" cy="419081"/>
          </a:xfrm>
          <a:prstGeom prst="rect">
            <a:avLst/>
          </a:prstGeom>
        </p:spPr>
        <p:txBody>
          <a:bodyPr lIns="0" tIns="0" rIns="0" bIns="0" rtlCol="0" anchor="t">
            <a:spAutoFit/>
          </a:bodyPr>
          <a:lstStyle/>
          <a:p>
            <a:pPr algn="l">
              <a:lnSpc>
                <a:spcPts val="3451"/>
              </a:lnSpc>
            </a:pPr>
            <a:r>
              <a:rPr lang="en-US" sz="2490" b="1">
                <a:solidFill>
                  <a:srgbClr val="293C63"/>
                </a:solidFill>
                <a:latin typeface="Montserrat Bold"/>
                <a:ea typeface="Montserrat Bold"/>
                <a:cs typeface="Montserrat Bold"/>
                <a:sym typeface="Montserrat Bold"/>
              </a:rPr>
              <a:t>Chi-Square</a:t>
            </a:r>
          </a:p>
        </p:txBody>
      </p:sp>
      <p:sp>
        <p:nvSpPr>
          <p:cNvPr id="11" name="TextBox 11"/>
          <p:cNvSpPr txBox="1"/>
          <p:nvPr/>
        </p:nvSpPr>
        <p:spPr>
          <a:xfrm>
            <a:off x="1566415" y="2786510"/>
            <a:ext cx="1366818" cy="419081"/>
          </a:xfrm>
          <a:prstGeom prst="rect">
            <a:avLst/>
          </a:prstGeom>
        </p:spPr>
        <p:txBody>
          <a:bodyPr lIns="0" tIns="0" rIns="0" bIns="0" rtlCol="0" anchor="t">
            <a:spAutoFit/>
          </a:bodyPr>
          <a:lstStyle/>
          <a:p>
            <a:pPr algn="l">
              <a:lnSpc>
                <a:spcPts val="3451"/>
              </a:lnSpc>
            </a:pPr>
            <a:r>
              <a:rPr lang="en-US" sz="2490" dirty="0">
                <a:solidFill>
                  <a:srgbClr val="293C63"/>
                </a:solidFill>
                <a:latin typeface="Montserrat"/>
                <a:ea typeface="Montserrat"/>
                <a:cs typeface="Montserrat"/>
                <a:sym typeface="Montserrat"/>
              </a:rPr>
              <a:t>Hasil Uji:</a:t>
            </a:r>
          </a:p>
        </p:txBody>
      </p:sp>
      <p:sp>
        <p:nvSpPr>
          <p:cNvPr id="12" name="TextBox 12"/>
          <p:cNvSpPr txBox="1"/>
          <p:nvPr/>
        </p:nvSpPr>
        <p:spPr>
          <a:xfrm>
            <a:off x="1566415" y="3224660"/>
            <a:ext cx="5781189" cy="855581"/>
          </a:xfrm>
          <a:prstGeom prst="rect">
            <a:avLst/>
          </a:prstGeom>
        </p:spPr>
        <p:txBody>
          <a:bodyPr lIns="0" tIns="0" rIns="0" bIns="0" rtlCol="0" anchor="t">
            <a:spAutoFit/>
          </a:bodyPr>
          <a:lstStyle/>
          <a:p>
            <a:pPr algn="l">
              <a:lnSpc>
                <a:spcPts val="3451"/>
              </a:lnSpc>
            </a:pPr>
            <a:r>
              <a:rPr lang="en-US" sz="2490">
                <a:solidFill>
                  <a:srgbClr val="293C63"/>
                </a:solidFill>
                <a:latin typeface="Montserrat"/>
                <a:ea typeface="Montserrat"/>
                <a:cs typeface="Montserrat"/>
                <a:sym typeface="Montserrat"/>
              </a:rPr>
              <a:t>Pvalue:0.0000000000000000032 </a:t>
            </a:r>
          </a:p>
          <a:p>
            <a:pPr algn="l">
              <a:lnSpc>
                <a:spcPts val="3451"/>
              </a:lnSpc>
            </a:pPr>
            <a:endParaRPr lang="en-US" sz="2490">
              <a:solidFill>
                <a:srgbClr val="293C63"/>
              </a:solidFill>
              <a:latin typeface="Montserrat"/>
              <a:ea typeface="Montserrat"/>
              <a:cs typeface="Montserrat"/>
              <a:sym typeface="Montserrat"/>
            </a:endParaRPr>
          </a:p>
        </p:txBody>
      </p:sp>
      <p:sp>
        <p:nvSpPr>
          <p:cNvPr id="13" name="TextBox 13"/>
          <p:cNvSpPr txBox="1"/>
          <p:nvPr/>
        </p:nvSpPr>
        <p:spPr>
          <a:xfrm>
            <a:off x="1614040" y="4223116"/>
            <a:ext cx="1510160" cy="419846"/>
          </a:xfrm>
          <a:prstGeom prst="rect">
            <a:avLst/>
          </a:prstGeom>
        </p:spPr>
        <p:txBody>
          <a:bodyPr wrap="square" lIns="0" tIns="0" rIns="0" bIns="0" rtlCol="0" anchor="t">
            <a:spAutoFit/>
          </a:bodyPr>
          <a:lstStyle/>
          <a:p>
            <a:pPr algn="l">
              <a:lnSpc>
                <a:spcPts val="3451"/>
              </a:lnSpc>
            </a:pPr>
            <a:r>
              <a:rPr lang="en-US" sz="2490">
                <a:solidFill>
                  <a:srgbClr val="293C63"/>
                </a:solidFill>
                <a:latin typeface="Montserrat"/>
                <a:ea typeface="Montserrat"/>
                <a:cs typeface="Montserrat"/>
                <a:sym typeface="Montserrat"/>
              </a:rPr>
              <a:t>Hasil Uji:</a:t>
            </a:r>
          </a:p>
        </p:txBody>
      </p:sp>
      <p:sp>
        <p:nvSpPr>
          <p:cNvPr id="14" name="TextBox 14"/>
          <p:cNvSpPr txBox="1"/>
          <p:nvPr/>
        </p:nvSpPr>
        <p:spPr>
          <a:xfrm>
            <a:off x="1919307" y="896903"/>
            <a:ext cx="7970997" cy="963949"/>
          </a:xfrm>
          <a:prstGeom prst="rect">
            <a:avLst/>
          </a:prstGeom>
        </p:spPr>
        <p:txBody>
          <a:bodyPr lIns="0" tIns="0" rIns="0" bIns="0" rtlCol="0" anchor="t">
            <a:spAutoFit/>
          </a:bodyPr>
          <a:lstStyle/>
          <a:p>
            <a:pPr algn="l">
              <a:lnSpc>
                <a:spcPts val="6718"/>
              </a:lnSpc>
            </a:pPr>
            <a:r>
              <a:rPr lang="en-US" sz="4799" b="1">
                <a:solidFill>
                  <a:srgbClr val="374A71"/>
                </a:solidFill>
                <a:latin typeface="Cooper Hewitt Bold"/>
                <a:ea typeface="Cooper Hewitt Bold"/>
                <a:cs typeface="Cooper Hewitt Bold"/>
                <a:sym typeface="Cooper Hewitt Bold"/>
              </a:rPr>
              <a:t>Analisis Statistik Inferensial</a:t>
            </a:r>
          </a:p>
        </p:txBody>
      </p:sp>
      <p:sp>
        <p:nvSpPr>
          <p:cNvPr id="15" name="TextBox 15"/>
          <p:cNvSpPr txBox="1"/>
          <p:nvPr/>
        </p:nvSpPr>
        <p:spPr>
          <a:xfrm>
            <a:off x="1614040" y="4848453"/>
            <a:ext cx="8735297" cy="1510241"/>
          </a:xfrm>
          <a:prstGeom prst="rect">
            <a:avLst/>
          </a:prstGeom>
        </p:spPr>
        <p:txBody>
          <a:bodyPr lIns="0" tIns="0" rIns="0" bIns="0" rtlCol="0" anchor="t">
            <a:spAutoFit/>
          </a:bodyPr>
          <a:lstStyle/>
          <a:p>
            <a:pPr algn="just">
              <a:lnSpc>
                <a:spcPts val="3042"/>
              </a:lnSpc>
              <a:spcBef>
                <a:spcPct val="0"/>
              </a:spcBef>
            </a:pPr>
            <a:r>
              <a:rPr lang="en-US" sz="2195" dirty="0">
                <a:solidFill>
                  <a:srgbClr val="000000"/>
                </a:solidFill>
                <a:latin typeface="Montserrat"/>
                <a:ea typeface="Montserrat"/>
                <a:cs typeface="Montserrat"/>
                <a:sym typeface="Montserrat"/>
              </a:rPr>
              <a:t>Hasil chi squared test :  P- value </a:t>
            </a:r>
            <a:r>
              <a:rPr lang="en-US" sz="2195" dirty="0" err="1">
                <a:solidFill>
                  <a:srgbClr val="000000"/>
                </a:solidFill>
                <a:latin typeface="Montserrat"/>
                <a:ea typeface="Montserrat"/>
                <a:cs typeface="Montserrat"/>
                <a:sym typeface="Montserrat"/>
              </a:rPr>
              <a:t>lebih</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kecil</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dari</a:t>
            </a:r>
            <a:r>
              <a:rPr lang="en-US" sz="2195" dirty="0">
                <a:solidFill>
                  <a:srgbClr val="000000"/>
                </a:solidFill>
                <a:latin typeface="Montserrat"/>
                <a:ea typeface="Montserrat"/>
                <a:cs typeface="Montserrat"/>
                <a:sym typeface="Montserrat"/>
              </a:rPr>
              <a:t> alpha 0.05  </a:t>
            </a:r>
            <a:r>
              <a:rPr lang="en-US" sz="2195" dirty="0" err="1">
                <a:solidFill>
                  <a:srgbClr val="000000"/>
                </a:solidFill>
                <a:latin typeface="Montserrat"/>
                <a:ea typeface="Montserrat"/>
                <a:cs typeface="Montserrat"/>
                <a:sym typeface="Montserrat"/>
              </a:rPr>
              <a:t>menandakan</a:t>
            </a:r>
            <a:r>
              <a:rPr lang="en-US" sz="2195" dirty="0">
                <a:solidFill>
                  <a:srgbClr val="000000"/>
                </a:solidFill>
                <a:latin typeface="Montserrat"/>
                <a:ea typeface="Montserrat"/>
                <a:cs typeface="Montserrat"/>
                <a:sym typeface="Montserrat"/>
              </a:rPr>
              <a:t>  H0 </a:t>
            </a:r>
            <a:r>
              <a:rPr lang="en-US" sz="2195" dirty="0" err="1">
                <a:solidFill>
                  <a:srgbClr val="000000"/>
                </a:solidFill>
                <a:latin typeface="Montserrat"/>
                <a:ea typeface="Montserrat"/>
                <a:cs typeface="Montserrat"/>
                <a:sym typeface="Montserrat"/>
              </a:rPr>
              <a:t>ditolak</a:t>
            </a:r>
            <a:r>
              <a:rPr lang="en-US" sz="2195" dirty="0">
                <a:solidFill>
                  <a:srgbClr val="000000"/>
                </a:solidFill>
                <a:latin typeface="Montserrat"/>
                <a:ea typeface="Montserrat"/>
                <a:cs typeface="Montserrat"/>
                <a:sym typeface="Montserrat"/>
              </a:rPr>
              <a:t> dan H1 </a:t>
            </a:r>
            <a:r>
              <a:rPr lang="en-US" sz="2195" dirty="0" err="1">
                <a:solidFill>
                  <a:srgbClr val="000000"/>
                </a:solidFill>
                <a:latin typeface="Montserrat"/>
                <a:ea typeface="Montserrat"/>
                <a:cs typeface="Montserrat"/>
                <a:sym typeface="Montserrat"/>
              </a:rPr>
              <a:t>gagal</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ditolak</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berarti</a:t>
            </a:r>
            <a:r>
              <a:rPr lang="en-US" sz="2195" dirty="0">
                <a:solidFill>
                  <a:srgbClr val="000000"/>
                </a:solidFill>
                <a:latin typeface="Montserrat"/>
                <a:ea typeface="Montserrat"/>
                <a:cs typeface="Montserrat"/>
                <a:sym typeface="Montserrat"/>
              </a:rPr>
              <a:t> Data </a:t>
            </a:r>
            <a:r>
              <a:rPr lang="en-US" sz="2195" dirty="0" err="1">
                <a:solidFill>
                  <a:srgbClr val="000000"/>
                </a:solidFill>
                <a:latin typeface="Montserrat"/>
                <a:ea typeface="Montserrat"/>
                <a:cs typeface="Montserrat"/>
                <a:sym typeface="Montserrat"/>
              </a:rPr>
              <a:t>antara</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tahun</a:t>
            </a:r>
            <a:r>
              <a:rPr lang="en-US" sz="2195" dirty="0">
                <a:solidFill>
                  <a:srgbClr val="000000"/>
                </a:solidFill>
                <a:latin typeface="Montserrat"/>
                <a:ea typeface="Montserrat"/>
                <a:cs typeface="Montserrat"/>
                <a:sym typeface="Montserrat"/>
              </a:rPr>
              <a:t> dan </a:t>
            </a:r>
            <a:r>
              <a:rPr lang="en-US" sz="2195" dirty="0" err="1">
                <a:solidFill>
                  <a:srgbClr val="000000"/>
                </a:solidFill>
                <a:latin typeface="Montserrat"/>
                <a:ea typeface="Montserrat"/>
                <a:cs typeface="Montserrat"/>
                <a:sym typeface="Montserrat"/>
              </a:rPr>
              <a:t>jenis</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konten</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terdapat</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hubungan</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sehingga</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hasil</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perilisan</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konten</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tiap</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tahun</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tidaklah</a:t>
            </a:r>
            <a:r>
              <a:rPr lang="en-US" sz="2195" dirty="0">
                <a:solidFill>
                  <a:srgbClr val="000000"/>
                </a:solidFill>
                <a:latin typeface="Montserrat"/>
                <a:ea typeface="Montserrat"/>
                <a:cs typeface="Montserrat"/>
                <a:sym typeface="Montserrat"/>
              </a:rPr>
              <a:t> </a:t>
            </a:r>
            <a:r>
              <a:rPr lang="en-US" sz="2195" dirty="0" err="1">
                <a:solidFill>
                  <a:srgbClr val="000000"/>
                </a:solidFill>
                <a:latin typeface="Montserrat"/>
                <a:ea typeface="Montserrat"/>
                <a:cs typeface="Montserrat"/>
                <a:sym typeface="Montserrat"/>
              </a:rPr>
              <a:t>acak</a:t>
            </a:r>
            <a:endParaRPr lang="en-US" sz="2195" dirty="0">
              <a:solidFill>
                <a:srgbClr val="000000"/>
              </a:solidFill>
              <a:latin typeface="Montserrat"/>
              <a:ea typeface="Montserrat"/>
              <a:cs typeface="Montserrat"/>
              <a:sym typeface="Montserrat"/>
            </a:endParaRPr>
          </a:p>
        </p:txBody>
      </p:sp>
      <p:sp>
        <p:nvSpPr>
          <p:cNvPr id="16" name="TextBox 16"/>
          <p:cNvSpPr txBox="1"/>
          <p:nvPr/>
        </p:nvSpPr>
        <p:spPr>
          <a:xfrm>
            <a:off x="1614040" y="6456529"/>
            <a:ext cx="8901536" cy="3415132"/>
          </a:xfrm>
          <a:prstGeom prst="rect">
            <a:avLst/>
          </a:prstGeom>
        </p:spPr>
        <p:txBody>
          <a:bodyPr lIns="0" tIns="0" rIns="0" bIns="0" rtlCol="0" anchor="t">
            <a:spAutoFit/>
          </a:bodyPr>
          <a:lstStyle/>
          <a:p>
            <a:pPr algn="just">
              <a:lnSpc>
                <a:spcPts val="3049"/>
              </a:lnSpc>
              <a:spcBef>
                <a:spcPct val="0"/>
              </a:spcBef>
            </a:pPr>
            <a:r>
              <a:rPr lang="en-US" sz="2199" dirty="0">
                <a:solidFill>
                  <a:srgbClr val="000000"/>
                </a:solidFill>
                <a:latin typeface="Montserrat"/>
                <a:ea typeface="Montserrat"/>
                <a:cs typeface="Montserrat"/>
                <a:sym typeface="Montserrat"/>
              </a:rPr>
              <a:t>Insight = Hasil uji chi squared test </a:t>
            </a:r>
            <a:r>
              <a:rPr lang="en-US" sz="2199" dirty="0" err="1">
                <a:solidFill>
                  <a:srgbClr val="000000"/>
                </a:solidFill>
                <a:latin typeface="Montserrat"/>
                <a:ea typeface="Montserrat"/>
                <a:cs typeface="Montserrat"/>
                <a:sym typeface="Montserrat"/>
              </a:rPr>
              <a:t>menunjukkan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bahwa</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jumlah</a:t>
            </a:r>
            <a:r>
              <a:rPr lang="en-US" sz="2199" dirty="0">
                <a:solidFill>
                  <a:srgbClr val="000000"/>
                </a:solidFill>
                <a:latin typeface="Montserrat"/>
                <a:ea typeface="Montserrat"/>
                <a:cs typeface="Montserrat"/>
                <a:sym typeface="Montserrat"/>
              </a:rPr>
              <a:t> movie dan TV Show </a:t>
            </a:r>
            <a:r>
              <a:rPr lang="en-US" sz="2199" dirty="0" err="1">
                <a:solidFill>
                  <a:srgbClr val="000000"/>
                </a:solidFill>
                <a:latin typeface="Montserrat"/>
                <a:ea typeface="Montserrat"/>
                <a:cs typeface="Montserrat"/>
                <a:sym typeface="Montserrat"/>
              </a:rPr>
              <a:t>berubah</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ubah</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dari</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tahun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ke</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tahun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sehingga</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perilisan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konten</a:t>
            </a:r>
            <a:r>
              <a:rPr lang="en-US" sz="2199" dirty="0">
                <a:solidFill>
                  <a:srgbClr val="000000"/>
                </a:solidFill>
                <a:latin typeface="Montserrat"/>
                <a:ea typeface="Montserrat"/>
                <a:cs typeface="Montserrat"/>
                <a:sym typeface="Montserrat"/>
              </a:rPr>
              <a:t> movie dan TV Show </a:t>
            </a:r>
            <a:r>
              <a:rPr lang="en-US" sz="2199" dirty="0" err="1">
                <a:solidFill>
                  <a:srgbClr val="000000"/>
                </a:solidFill>
                <a:latin typeface="Montserrat"/>
                <a:ea typeface="Montserrat"/>
                <a:cs typeface="Montserrat"/>
                <a:sym typeface="Montserrat"/>
              </a:rPr>
              <a:t>tiap</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tahunnya</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tidak</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tetap</a:t>
            </a:r>
            <a:r>
              <a:rPr lang="en-US" sz="2199" dirty="0">
                <a:solidFill>
                  <a:srgbClr val="000000"/>
                </a:solidFill>
                <a:latin typeface="Montserrat"/>
                <a:ea typeface="Montserrat"/>
                <a:cs typeface="Montserrat"/>
                <a:sym typeface="Montserrat"/>
              </a:rPr>
              <a:t>.</a:t>
            </a:r>
          </a:p>
          <a:p>
            <a:pPr algn="just">
              <a:lnSpc>
                <a:spcPts val="3049"/>
              </a:lnSpc>
              <a:spcBef>
                <a:spcPct val="0"/>
              </a:spcBef>
            </a:pPr>
            <a:r>
              <a:rPr lang="en-US" sz="2199" dirty="0">
                <a:solidFill>
                  <a:srgbClr val="000000"/>
                </a:solidFill>
                <a:latin typeface="Montserrat"/>
                <a:ea typeface="Montserrat"/>
                <a:cs typeface="Montserrat"/>
                <a:sym typeface="Montserrat"/>
              </a:rPr>
              <a:t>Wisdom = Disney + </a:t>
            </a:r>
            <a:r>
              <a:rPr lang="en-US" sz="2199" dirty="0" err="1">
                <a:solidFill>
                  <a:srgbClr val="000000"/>
                </a:solidFill>
                <a:latin typeface="Montserrat"/>
                <a:ea typeface="Montserrat"/>
                <a:cs typeface="Montserrat"/>
                <a:sym typeface="Montserrat"/>
              </a:rPr>
              <a:t>perlu</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menerapkan</a:t>
            </a:r>
            <a:r>
              <a:rPr lang="en-US" sz="2199" dirty="0">
                <a:solidFill>
                  <a:srgbClr val="000000"/>
                </a:solidFill>
                <a:latin typeface="Montserrat"/>
                <a:ea typeface="Montserrat"/>
                <a:cs typeface="Montserrat"/>
                <a:sym typeface="Montserrat"/>
              </a:rPr>
              <a:t> strategi </a:t>
            </a:r>
            <a:r>
              <a:rPr lang="en-US" sz="2199" dirty="0" err="1">
                <a:solidFill>
                  <a:srgbClr val="000000"/>
                </a:solidFill>
                <a:latin typeface="Montserrat"/>
                <a:ea typeface="Montserrat"/>
                <a:cs typeface="Montserrat"/>
                <a:sym typeface="Montserrat"/>
              </a:rPr>
              <a:t>perilisan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konten</a:t>
            </a:r>
            <a:r>
              <a:rPr lang="en-US" sz="2199" dirty="0">
                <a:solidFill>
                  <a:srgbClr val="000000"/>
                </a:solidFill>
                <a:latin typeface="Montserrat"/>
                <a:ea typeface="Montserrat"/>
                <a:cs typeface="Montserrat"/>
                <a:sym typeface="Montserrat"/>
              </a:rPr>
              <a:t> yang </a:t>
            </a:r>
            <a:r>
              <a:rPr lang="en-US" sz="2199" dirty="0" err="1">
                <a:solidFill>
                  <a:srgbClr val="000000"/>
                </a:solidFill>
                <a:latin typeface="Montserrat"/>
                <a:ea typeface="Montserrat"/>
                <a:cs typeface="Montserrat"/>
                <a:sym typeface="Montserrat"/>
              </a:rPr>
              <a:t>disesuaikan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setiap</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tahun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karena</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terdapat</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perubahan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pola</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perilisan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konten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antara</a:t>
            </a:r>
            <a:r>
              <a:rPr lang="en-US" sz="2199" dirty="0">
                <a:solidFill>
                  <a:srgbClr val="000000"/>
                </a:solidFill>
                <a:latin typeface="Montserrat"/>
                <a:ea typeface="Montserrat"/>
                <a:cs typeface="Montserrat"/>
                <a:sym typeface="Montserrat"/>
              </a:rPr>
              <a:t> movie dan </a:t>
            </a:r>
            <a:r>
              <a:rPr lang="en-US" sz="2199" dirty="0" err="1">
                <a:solidFill>
                  <a:srgbClr val="000000"/>
                </a:solidFill>
                <a:latin typeface="Montserrat"/>
                <a:ea typeface="Montserrat"/>
                <a:cs typeface="Montserrat"/>
                <a:sym typeface="Montserrat"/>
              </a:rPr>
              <a:t>TvShow</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dari</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tahun</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ke</a:t>
            </a:r>
            <a:r>
              <a:rPr lang="en-US" sz="2199" dirty="0">
                <a:solidFill>
                  <a:srgbClr val="000000"/>
                </a:solidFill>
                <a:latin typeface="Montserrat"/>
                <a:ea typeface="Montserrat"/>
                <a:cs typeface="Montserrat"/>
                <a:sym typeface="Montserrat"/>
              </a:rPr>
              <a:t> </a:t>
            </a:r>
            <a:r>
              <a:rPr lang="en-US" sz="2199" dirty="0" err="1">
                <a:solidFill>
                  <a:srgbClr val="000000"/>
                </a:solidFill>
                <a:latin typeface="Montserrat"/>
                <a:ea typeface="Montserrat"/>
                <a:cs typeface="Montserrat"/>
                <a:sym typeface="Montserrat"/>
              </a:rPr>
              <a:t>tahun</a:t>
            </a:r>
            <a:endParaRPr lang="en-US" sz="2199" dirty="0">
              <a:solidFill>
                <a:srgbClr val="000000"/>
              </a:solidFill>
              <a:latin typeface="Montserrat"/>
              <a:ea typeface="Montserrat"/>
              <a:cs typeface="Montserrat"/>
              <a:sym typeface="Montserrat"/>
            </a:endParaRPr>
          </a:p>
          <a:p>
            <a:pPr algn="just">
              <a:lnSpc>
                <a:spcPts val="3049"/>
              </a:lnSpc>
              <a:spcBef>
                <a:spcPct val="0"/>
              </a:spcBef>
            </a:pPr>
            <a:endParaRPr lang="en-US" sz="2199" dirty="0">
              <a:solidFill>
                <a:srgbClr val="000000"/>
              </a:solidFill>
              <a:latin typeface="Montserrat"/>
              <a:ea typeface="Montserrat"/>
              <a:cs typeface="Montserrat"/>
              <a:sym typeface="Montserrat"/>
            </a:endParaRPr>
          </a:p>
          <a:p>
            <a:pPr algn="just">
              <a:lnSpc>
                <a:spcPts val="3049"/>
              </a:lnSpc>
              <a:spcBef>
                <a:spcPct val="0"/>
              </a:spcBef>
            </a:pPr>
            <a:endParaRPr lang="en-US" sz="2199" dirty="0">
              <a:solidFill>
                <a:srgbClr val="000000"/>
              </a:solidFill>
              <a:latin typeface="Montserrat"/>
              <a:ea typeface="Montserrat"/>
              <a:cs typeface="Montserrat"/>
              <a:sym typeface="Montserrat"/>
            </a:endParaRPr>
          </a:p>
        </p:txBody>
      </p:sp>
      <p:sp>
        <p:nvSpPr>
          <p:cNvPr id="17" name="TextBox 17"/>
          <p:cNvSpPr txBox="1"/>
          <p:nvPr/>
        </p:nvSpPr>
        <p:spPr>
          <a:xfrm>
            <a:off x="1794890" y="1690004"/>
            <a:ext cx="14359510" cy="808149"/>
          </a:xfrm>
          <a:prstGeom prst="rect">
            <a:avLst/>
          </a:prstGeom>
        </p:spPr>
        <p:txBody>
          <a:bodyPr wrap="square" lIns="0" tIns="0" rIns="0" bIns="0" rtlCol="0" anchor="t">
            <a:spAutoFit/>
          </a:bodyPr>
          <a:lstStyle/>
          <a:p>
            <a:pPr algn="l">
              <a:lnSpc>
                <a:spcPts val="3225"/>
              </a:lnSpc>
            </a:pPr>
            <a:r>
              <a:rPr lang="en-US" sz="2490" b="1" dirty="0" err="1">
                <a:solidFill>
                  <a:srgbClr val="293C63"/>
                </a:solidFill>
                <a:latin typeface="Montserrat Bold"/>
                <a:ea typeface="Montserrat Bold"/>
                <a:cs typeface="Montserrat Bold"/>
                <a:sym typeface="Montserrat Bold"/>
              </a:rPr>
              <a:t>Apakah</a:t>
            </a:r>
            <a:r>
              <a:rPr lang="en-US" sz="2490" b="1" dirty="0">
                <a:solidFill>
                  <a:srgbClr val="293C63"/>
                </a:solidFill>
                <a:latin typeface="Montserrat Bold"/>
                <a:ea typeface="Montserrat Bold"/>
                <a:cs typeface="Montserrat Bold"/>
                <a:sym typeface="Montserrat Bold"/>
              </a:rPr>
              <a:t> </a:t>
            </a:r>
            <a:r>
              <a:rPr lang="en-US" sz="2490" b="1" dirty="0" err="1">
                <a:solidFill>
                  <a:srgbClr val="293C63"/>
                </a:solidFill>
                <a:latin typeface="Montserrat Bold"/>
                <a:ea typeface="Montserrat Bold"/>
                <a:cs typeface="Montserrat Bold"/>
                <a:sym typeface="Montserrat Bold"/>
              </a:rPr>
              <a:t>terdapat</a:t>
            </a:r>
            <a:r>
              <a:rPr lang="en-US" sz="2490" b="1" dirty="0">
                <a:solidFill>
                  <a:srgbClr val="293C63"/>
                </a:solidFill>
                <a:latin typeface="Montserrat Bold"/>
                <a:ea typeface="Montserrat Bold"/>
                <a:cs typeface="Montserrat Bold"/>
                <a:sym typeface="Montserrat Bold"/>
              </a:rPr>
              <a:t> </a:t>
            </a:r>
            <a:r>
              <a:rPr lang="en-US" sz="2490" b="1" dirty="0" err="1">
                <a:solidFill>
                  <a:srgbClr val="293C63"/>
                </a:solidFill>
                <a:latin typeface="Montserrat Bold"/>
                <a:ea typeface="Montserrat Bold"/>
                <a:cs typeface="Montserrat Bold"/>
                <a:sym typeface="Montserrat Bold"/>
              </a:rPr>
              <a:t>hubungan</a:t>
            </a:r>
            <a:r>
              <a:rPr lang="en-US" sz="2490" b="1" dirty="0">
                <a:solidFill>
                  <a:srgbClr val="293C63"/>
                </a:solidFill>
                <a:latin typeface="Montserrat Bold"/>
                <a:ea typeface="Montserrat Bold"/>
                <a:cs typeface="Montserrat Bold"/>
                <a:sym typeface="Montserrat Bold"/>
              </a:rPr>
              <a:t> </a:t>
            </a:r>
            <a:r>
              <a:rPr lang="en-US" sz="2490" b="1" dirty="0" err="1">
                <a:solidFill>
                  <a:srgbClr val="293C63"/>
                </a:solidFill>
                <a:latin typeface="Montserrat Bold"/>
                <a:ea typeface="Montserrat Bold"/>
                <a:cs typeface="Montserrat Bold"/>
                <a:sym typeface="Montserrat Bold"/>
              </a:rPr>
              <a:t>antara</a:t>
            </a:r>
            <a:r>
              <a:rPr lang="en-US" sz="2490" b="1" dirty="0">
                <a:solidFill>
                  <a:srgbClr val="293C63"/>
                </a:solidFill>
                <a:latin typeface="Montserrat Bold"/>
                <a:ea typeface="Montserrat Bold"/>
                <a:cs typeface="Montserrat Bold"/>
                <a:sym typeface="Montserrat Bold"/>
              </a:rPr>
              <a:t> </a:t>
            </a:r>
            <a:r>
              <a:rPr lang="en-US" sz="2490" b="1" dirty="0" err="1">
                <a:solidFill>
                  <a:srgbClr val="293C63"/>
                </a:solidFill>
                <a:latin typeface="Montserrat Bold"/>
                <a:ea typeface="Montserrat Bold"/>
                <a:cs typeface="Montserrat Bold"/>
                <a:sym typeface="Montserrat Bold"/>
              </a:rPr>
              <a:t>tahun</a:t>
            </a:r>
            <a:r>
              <a:rPr lang="en-US" sz="2490" b="1" dirty="0">
                <a:solidFill>
                  <a:srgbClr val="293C63"/>
                </a:solidFill>
                <a:latin typeface="Montserrat Bold"/>
                <a:ea typeface="Montserrat Bold"/>
                <a:cs typeface="Montserrat Bold"/>
                <a:sym typeface="Montserrat Bold"/>
              </a:rPr>
              <a:t> </a:t>
            </a:r>
            <a:r>
              <a:rPr lang="en-US" sz="2490" b="1" dirty="0" err="1">
                <a:solidFill>
                  <a:srgbClr val="293C63"/>
                </a:solidFill>
                <a:latin typeface="Montserrat Bold"/>
                <a:ea typeface="Montserrat Bold"/>
                <a:cs typeface="Montserrat Bold"/>
                <a:sym typeface="Montserrat Bold"/>
              </a:rPr>
              <a:t>perilisan</a:t>
            </a:r>
            <a:r>
              <a:rPr lang="en-US" sz="2490" b="1" dirty="0">
                <a:solidFill>
                  <a:srgbClr val="293C63"/>
                </a:solidFill>
                <a:latin typeface="Montserrat Bold"/>
                <a:ea typeface="Montserrat Bold"/>
                <a:cs typeface="Montserrat Bold"/>
                <a:sym typeface="Montserrat Bold"/>
              </a:rPr>
              <a:t> dan </a:t>
            </a:r>
            <a:r>
              <a:rPr lang="en-US" sz="2490" b="1" dirty="0" err="1">
                <a:solidFill>
                  <a:srgbClr val="293C63"/>
                </a:solidFill>
                <a:latin typeface="Montserrat Bold"/>
                <a:ea typeface="Montserrat Bold"/>
                <a:cs typeface="Montserrat Bold"/>
                <a:sym typeface="Montserrat Bold"/>
              </a:rPr>
              <a:t>jenis</a:t>
            </a:r>
            <a:r>
              <a:rPr lang="en-US" sz="2490" b="1" dirty="0">
                <a:solidFill>
                  <a:srgbClr val="293C63"/>
                </a:solidFill>
                <a:latin typeface="Montserrat Bold"/>
                <a:ea typeface="Montserrat Bold"/>
                <a:cs typeface="Montserrat Bold"/>
                <a:sym typeface="Montserrat Bold"/>
              </a:rPr>
              <a:t> </a:t>
            </a:r>
            <a:r>
              <a:rPr lang="en-US" sz="2490" b="1" dirty="0" err="1">
                <a:solidFill>
                  <a:srgbClr val="293C63"/>
                </a:solidFill>
                <a:latin typeface="Montserrat Bold"/>
                <a:ea typeface="Montserrat Bold"/>
                <a:cs typeface="Montserrat Bold"/>
                <a:sym typeface="Montserrat Bold"/>
              </a:rPr>
              <a:t>konten</a:t>
            </a:r>
            <a:r>
              <a:rPr lang="en-US" sz="2490" b="1" dirty="0">
                <a:solidFill>
                  <a:srgbClr val="293C63"/>
                </a:solidFill>
                <a:latin typeface="Montserrat Bold"/>
                <a:ea typeface="Montserrat Bold"/>
                <a:cs typeface="Montserrat Bold"/>
                <a:sym typeface="Montserrat Bold"/>
              </a:rPr>
              <a:t> di Disney+? why</a:t>
            </a:r>
          </a:p>
          <a:p>
            <a:pPr algn="l">
              <a:lnSpc>
                <a:spcPts val="3225"/>
              </a:lnSpc>
            </a:pPr>
            <a:endParaRPr lang="en-US" sz="2490" b="1" dirty="0">
              <a:solidFill>
                <a:srgbClr val="293C63"/>
              </a:solidFill>
              <a:latin typeface="Montserrat Bold"/>
              <a:ea typeface="Montserrat Bold"/>
              <a:cs typeface="Montserrat Bold"/>
              <a:sym typeface="Montserrat Bold"/>
            </a:endParaRPr>
          </a:p>
        </p:txBody>
      </p:sp>
      <p:sp>
        <p:nvSpPr>
          <p:cNvPr id="18" name="TextBox 18"/>
          <p:cNvSpPr txBox="1"/>
          <p:nvPr/>
        </p:nvSpPr>
        <p:spPr>
          <a:xfrm>
            <a:off x="7009688" y="2368677"/>
            <a:ext cx="3615647" cy="2064258"/>
          </a:xfrm>
          <a:prstGeom prst="rect">
            <a:avLst/>
          </a:prstGeom>
        </p:spPr>
        <p:txBody>
          <a:bodyPr lIns="0" tIns="0" rIns="0" bIns="0" rtlCol="0" anchor="t">
            <a:spAutoFit/>
          </a:bodyPr>
          <a:lstStyle/>
          <a:p>
            <a:pPr algn="l">
              <a:lnSpc>
                <a:spcPts val="2331"/>
              </a:lnSpc>
              <a:spcBef>
                <a:spcPct val="0"/>
              </a:spcBef>
            </a:pPr>
            <a:r>
              <a:rPr lang="en-US" sz="1800">
                <a:solidFill>
                  <a:srgbClr val="000000"/>
                </a:solidFill>
                <a:latin typeface="Montserrat"/>
                <a:ea typeface="Montserrat"/>
                <a:cs typeface="Montserrat"/>
                <a:sym typeface="Montserrat"/>
              </a:rPr>
              <a:t>H0: Tidak terdapat hubungan antara tahun dan jenis konten.  </a:t>
            </a:r>
          </a:p>
          <a:p>
            <a:pPr algn="l">
              <a:lnSpc>
                <a:spcPts val="2331"/>
              </a:lnSpc>
              <a:spcBef>
                <a:spcPct val="0"/>
              </a:spcBef>
            </a:pPr>
            <a:r>
              <a:rPr lang="en-US" sz="1800">
                <a:solidFill>
                  <a:srgbClr val="000000"/>
                </a:solidFill>
                <a:latin typeface="Montserrat"/>
                <a:ea typeface="Montserrat"/>
                <a:cs typeface="Montserrat"/>
                <a:sym typeface="Montserrat"/>
              </a:rPr>
              <a:t>H1: Terdapat hubungan antara tahun dan jenis konten.</a:t>
            </a:r>
          </a:p>
          <a:p>
            <a:pPr algn="l">
              <a:lnSpc>
                <a:spcPts val="2331"/>
              </a:lnSpc>
              <a:spcBef>
                <a:spcPct val="0"/>
              </a:spcBef>
            </a:pPr>
            <a:endParaRPr lang="en-US" sz="1800">
              <a:solidFill>
                <a:srgbClr val="000000"/>
              </a:solidFill>
              <a:latin typeface="Montserrat"/>
              <a:ea typeface="Montserrat"/>
              <a:cs typeface="Montserrat"/>
              <a:sym typeface="Montserrat"/>
            </a:endParaRPr>
          </a:p>
          <a:p>
            <a:pPr algn="l">
              <a:lnSpc>
                <a:spcPts val="2331"/>
              </a:lnSpc>
              <a:spcBef>
                <a:spcPct val="0"/>
              </a:spcBef>
            </a:pPr>
            <a:r>
              <a:rPr lang="en-US" sz="1800">
                <a:solidFill>
                  <a:srgbClr val="000000"/>
                </a:solidFill>
                <a:latin typeface="Montserrat"/>
                <a:ea typeface="Montserrat"/>
                <a:cs typeface="Montserrat"/>
                <a:sym typeface="Montserrat"/>
              </a:rPr>
              <a:t>a : 0.05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grpSp>
        <p:nvGrpSpPr>
          <p:cNvPr id="4" name="Group 4"/>
          <p:cNvGrpSpPr/>
          <p:nvPr/>
        </p:nvGrpSpPr>
        <p:grpSpPr>
          <a:xfrm>
            <a:off x="97031" y="32442"/>
            <a:ext cx="55540" cy="55550"/>
            <a:chOff x="0" y="0"/>
            <a:chExt cx="55537" cy="55550"/>
          </a:xfrm>
        </p:grpSpPr>
        <p:sp>
          <p:nvSpPr>
            <p:cNvPr id="5" name="Freeform 5"/>
            <p:cNvSpPr/>
            <p:nvPr/>
          </p:nvSpPr>
          <p:spPr>
            <a:xfrm>
              <a:off x="4" y="4"/>
              <a:ext cx="55588" cy="55479"/>
            </a:xfrm>
            <a:custGeom>
              <a:avLst/>
              <a:gdLst/>
              <a:ahLst/>
              <a:cxnLst/>
              <a:rect l="l" t="t" r="r" b="b"/>
              <a:pathLst>
                <a:path w="55588" h="55479">
                  <a:moveTo>
                    <a:pt x="10663" y="49656"/>
                  </a:moveTo>
                  <a:cubicBezTo>
                    <a:pt x="-1528" y="40385"/>
                    <a:pt x="-3560" y="22604"/>
                    <a:pt x="6092" y="10411"/>
                  </a:cubicBezTo>
                  <a:cubicBezTo>
                    <a:pt x="15743" y="-1782"/>
                    <a:pt x="33648" y="-3433"/>
                    <a:pt x="45458" y="6346"/>
                  </a:cubicBezTo>
                  <a:cubicBezTo>
                    <a:pt x="57269" y="16126"/>
                    <a:pt x="58920" y="33526"/>
                    <a:pt x="49522" y="45211"/>
                  </a:cubicBezTo>
                  <a:cubicBezTo>
                    <a:pt x="40125" y="56896"/>
                    <a:pt x="22727" y="58928"/>
                    <a:pt x="10663" y="49656"/>
                  </a:cubicBezTo>
                </a:path>
              </a:pathLst>
            </a:custGeom>
            <a:solidFill>
              <a:srgbClr val="FFFFFF"/>
            </a:solidFill>
          </p:spPr>
        </p:sp>
      </p:grpSp>
      <p:grpSp>
        <p:nvGrpSpPr>
          <p:cNvPr id="6" name="Group 6"/>
          <p:cNvGrpSpPr/>
          <p:nvPr/>
        </p:nvGrpSpPr>
        <p:grpSpPr>
          <a:xfrm>
            <a:off x="2657094" y="61408"/>
            <a:ext cx="30594" cy="30604"/>
            <a:chOff x="0" y="0"/>
            <a:chExt cx="30594" cy="30607"/>
          </a:xfrm>
        </p:grpSpPr>
        <p:sp>
          <p:nvSpPr>
            <p:cNvPr id="7" name="Freeform 7"/>
            <p:cNvSpPr/>
            <p:nvPr/>
          </p:nvSpPr>
          <p:spPr>
            <a:xfrm>
              <a:off x="-28" y="-18"/>
              <a:ext cx="30586" cy="30633"/>
            </a:xfrm>
            <a:custGeom>
              <a:avLst/>
              <a:gdLst/>
              <a:ahLst/>
              <a:cxnLst/>
              <a:rect l="l" t="t" r="r" b="b"/>
              <a:pathLst>
                <a:path w="30586" h="30633">
                  <a:moveTo>
                    <a:pt x="3203" y="24786"/>
                  </a:moveTo>
                  <a:cubicBezTo>
                    <a:pt x="-1877" y="18181"/>
                    <a:pt x="-861" y="8655"/>
                    <a:pt x="5869" y="3320"/>
                  </a:cubicBezTo>
                  <a:cubicBezTo>
                    <a:pt x="12599" y="-2014"/>
                    <a:pt x="22123" y="-744"/>
                    <a:pt x="27329" y="5861"/>
                  </a:cubicBezTo>
                  <a:cubicBezTo>
                    <a:pt x="32536" y="12465"/>
                    <a:pt x="31393" y="22245"/>
                    <a:pt x="24663" y="27453"/>
                  </a:cubicBezTo>
                  <a:cubicBezTo>
                    <a:pt x="17933" y="32660"/>
                    <a:pt x="8409" y="31263"/>
                    <a:pt x="3203" y="24786"/>
                  </a:cubicBezTo>
                </a:path>
              </a:pathLst>
            </a:custGeom>
            <a:solidFill>
              <a:srgbClr val="FFFFFF"/>
            </a:solidFill>
          </p:spPr>
        </p:sp>
      </p:grpSp>
      <p:grpSp>
        <p:nvGrpSpPr>
          <p:cNvPr id="8" name="Group 8"/>
          <p:cNvGrpSpPr/>
          <p:nvPr/>
        </p:nvGrpSpPr>
        <p:grpSpPr>
          <a:xfrm>
            <a:off x="2827582" y="342414"/>
            <a:ext cx="55540" cy="55531"/>
            <a:chOff x="0" y="0"/>
            <a:chExt cx="55537" cy="55524"/>
          </a:xfrm>
        </p:grpSpPr>
        <p:sp>
          <p:nvSpPr>
            <p:cNvPr id="9" name="Freeform 9"/>
            <p:cNvSpPr/>
            <p:nvPr/>
          </p:nvSpPr>
          <p:spPr>
            <a:xfrm>
              <a:off x="-25" y="100"/>
              <a:ext cx="55526" cy="55319"/>
            </a:xfrm>
            <a:custGeom>
              <a:avLst/>
              <a:gdLst/>
              <a:ahLst/>
              <a:cxnLst/>
              <a:rect l="l" t="t" r="r" b="b"/>
              <a:pathLst>
                <a:path w="55526" h="55319">
                  <a:moveTo>
                    <a:pt x="2692" y="39902"/>
                  </a:moveTo>
                  <a:cubicBezTo>
                    <a:pt x="-3785" y="26314"/>
                    <a:pt x="1803" y="9805"/>
                    <a:pt x="15392" y="2948"/>
                  </a:cubicBezTo>
                  <a:cubicBezTo>
                    <a:pt x="28981" y="-3910"/>
                    <a:pt x="46000" y="1551"/>
                    <a:pt x="52731" y="15647"/>
                  </a:cubicBezTo>
                  <a:cubicBezTo>
                    <a:pt x="59462" y="29742"/>
                    <a:pt x="53620" y="46378"/>
                    <a:pt x="39650" y="52728"/>
                  </a:cubicBezTo>
                  <a:cubicBezTo>
                    <a:pt x="25679" y="59077"/>
                    <a:pt x="9296" y="53362"/>
                    <a:pt x="2692" y="39902"/>
                  </a:cubicBezTo>
                </a:path>
              </a:pathLst>
            </a:custGeom>
            <a:solidFill>
              <a:srgbClr val="FFFFFF"/>
            </a:solidFill>
          </p:spPr>
        </p:sp>
      </p:grpSp>
      <p:grpSp>
        <p:nvGrpSpPr>
          <p:cNvPr id="10" name="Group 10"/>
          <p:cNvGrpSpPr/>
          <p:nvPr/>
        </p:nvGrpSpPr>
        <p:grpSpPr>
          <a:xfrm>
            <a:off x="2931404" y="655577"/>
            <a:ext cx="80524" cy="80572"/>
            <a:chOff x="0" y="0"/>
            <a:chExt cx="80518" cy="80569"/>
          </a:xfrm>
        </p:grpSpPr>
        <p:sp>
          <p:nvSpPr>
            <p:cNvPr id="11" name="Freeform 11"/>
            <p:cNvSpPr/>
            <p:nvPr/>
          </p:nvSpPr>
          <p:spPr>
            <a:xfrm>
              <a:off x="34" y="15"/>
              <a:ext cx="80489" cy="80510"/>
            </a:xfrm>
            <a:custGeom>
              <a:avLst/>
              <a:gdLst/>
              <a:ahLst/>
              <a:cxnLst/>
              <a:rect l="l" t="t" r="r" b="b"/>
              <a:pathLst>
                <a:path w="80489" h="80510">
                  <a:moveTo>
                    <a:pt x="1109" y="49767"/>
                  </a:moveTo>
                  <a:cubicBezTo>
                    <a:pt x="-3971" y="28813"/>
                    <a:pt x="8856" y="7224"/>
                    <a:pt x="30317" y="1382"/>
                  </a:cubicBezTo>
                  <a:cubicBezTo>
                    <a:pt x="51779" y="-4460"/>
                    <a:pt x="74003" y="8748"/>
                    <a:pt x="79337" y="30972"/>
                  </a:cubicBezTo>
                  <a:cubicBezTo>
                    <a:pt x="84671" y="53196"/>
                    <a:pt x="70955" y="75040"/>
                    <a:pt x="49113" y="79612"/>
                  </a:cubicBezTo>
                  <a:cubicBezTo>
                    <a:pt x="27270" y="84184"/>
                    <a:pt x="6062" y="70849"/>
                    <a:pt x="1109" y="49767"/>
                  </a:cubicBezTo>
                </a:path>
              </a:pathLst>
            </a:custGeom>
            <a:solidFill>
              <a:srgbClr val="FFFFFF"/>
            </a:solidFill>
          </p:spPr>
        </p:sp>
      </p:grpSp>
      <p:grpSp>
        <p:nvGrpSpPr>
          <p:cNvPr id="12" name="Group 12"/>
          <p:cNvGrpSpPr/>
          <p:nvPr/>
        </p:nvGrpSpPr>
        <p:grpSpPr>
          <a:xfrm>
            <a:off x="2921879" y="1318660"/>
            <a:ext cx="130521" cy="130569"/>
            <a:chOff x="0" y="0"/>
            <a:chExt cx="130518" cy="130569"/>
          </a:xfrm>
        </p:grpSpPr>
        <p:sp>
          <p:nvSpPr>
            <p:cNvPr id="13" name="Freeform 13"/>
            <p:cNvSpPr/>
            <p:nvPr/>
          </p:nvSpPr>
          <p:spPr>
            <a:xfrm>
              <a:off x="8" y="39"/>
              <a:ext cx="130504" cy="130514"/>
            </a:xfrm>
            <a:custGeom>
              <a:avLst/>
              <a:gdLst/>
              <a:ahLst/>
              <a:cxnLst/>
              <a:rect l="l" t="t" r="r" b="b"/>
              <a:pathLst>
                <a:path w="130504" h="130514">
                  <a:moveTo>
                    <a:pt x="51552" y="128737"/>
                  </a:moveTo>
                  <a:cubicBezTo>
                    <a:pt x="16502" y="120228"/>
                    <a:pt x="-5342" y="86320"/>
                    <a:pt x="1135" y="52665"/>
                  </a:cubicBezTo>
                  <a:cubicBezTo>
                    <a:pt x="7612" y="19011"/>
                    <a:pt x="40504" y="-4484"/>
                    <a:pt x="76190" y="723"/>
                  </a:cubicBezTo>
                  <a:cubicBezTo>
                    <a:pt x="111876" y="5803"/>
                    <a:pt x="136386" y="40219"/>
                    <a:pt x="129274" y="77303"/>
                  </a:cubicBezTo>
                  <a:cubicBezTo>
                    <a:pt x="122035" y="114387"/>
                    <a:pt x="86603" y="137246"/>
                    <a:pt x="51679" y="128737"/>
                  </a:cubicBezTo>
                </a:path>
              </a:pathLst>
            </a:custGeom>
            <a:solidFill>
              <a:srgbClr val="FFFFFF"/>
            </a:solidFill>
          </p:spPr>
        </p:sp>
      </p:grpSp>
      <p:grpSp>
        <p:nvGrpSpPr>
          <p:cNvPr id="14" name="Group 14"/>
          <p:cNvGrpSpPr/>
          <p:nvPr/>
        </p:nvGrpSpPr>
        <p:grpSpPr>
          <a:xfrm>
            <a:off x="2963275" y="986161"/>
            <a:ext cx="105556" cy="105594"/>
            <a:chOff x="0" y="0"/>
            <a:chExt cx="105562" cy="105600"/>
          </a:xfrm>
        </p:grpSpPr>
        <p:sp>
          <p:nvSpPr>
            <p:cNvPr id="15" name="Freeform 15"/>
            <p:cNvSpPr/>
            <p:nvPr/>
          </p:nvSpPr>
          <p:spPr>
            <a:xfrm>
              <a:off x="-9" y="30"/>
              <a:ext cx="105561" cy="105518"/>
            </a:xfrm>
            <a:custGeom>
              <a:avLst/>
              <a:gdLst/>
              <a:ahLst/>
              <a:cxnLst/>
              <a:rect l="l" t="t" r="r" b="b"/>
              <a:pathLst>
                <a:path w="105561" h="105518">
                  <a:moveTo>
                    <a:pt x="9" y="53947"/>
                  </a:moveTo>
                  <a:cubicBezTo>
                    <a:pt x="-499" y="26006"/>
                    <a:pt x="21727" y="1875"/>
                    <a:pt x="50684" y="97"/>
                  </a:cubicBezTo>
                  <a:cubicBezTo>
                    <a:pt x="79640" y="-1681"/>
                    <a:pt x="104914" y="21307"/>
                    <a:pt x="105549" y="51661"/>
                  </a:cubicBezTo>
                  <a:cubicBezTo>
                    <a:pt x="106184" y="81761"/>
                    <a:pt x="82180" y="106018"/>
                    <a:pt x="53097" y="105510"/>
                  </a:cubicBezTo>
                  <a:cubicBezTo>
                    <a:pt x="24013" y="105002"/>
                    <a:pt x="644" y="82015"/>
                    <a:pt x="9" y="53947"/>
                  </a:cubicBezTo>
                </a:path>
              </a:pathLst>
            </a:custGeom>
            <a:solidFill>
              <a:srgbClr val="FFFFFF"/>
            </a:solidFill>
          </p:spPr>
        </p:sp>
      </p:grpSp>
      <p:grpSp>
        <p:nvGrpSpPr>
          <p:cNvPr id="16" name="Group 16"/>
          <p:cNvGrpSpPr/>
          <p:nvPr/>
        </p:nvGrpSpPr>
        <p:grpSpPr>
          <a:xfrm>
            <a:off x="3194828" y="153695"/>
            <a:ext cx="69723" cy="69799"/>
            <a:chOff x="0" y="0"/>
            <a:chExt cx="69723" cy="69799"/>
          </a:xfrm>
        </p:grpSpPr>
        <p:sp>
          <p:nvSpPr>
            <p:cNvPr id="17" name="Freeform 17"/>
            <p:cNvSpPr/>
            <p:nvPr/>
          </p:nvSpPr>
          <p:spPr>
            <a:xfrm>
              <a:off x="23" y="6"/>
              <a:ext cx="69640" cy="69832"/>
            </a:xfrm>
            <a:custGeom>
              <a:avLst/>
              <a:gdLst/>
              <a:ahLst/>
              <a:cxnLst/>
              <a:rect l="l" t="t" r="r" b="b"/>
              <a:pathLst>
                <a:path w="69640" h="69832">
                  <a:moveTo>
                    <a:pt x="3406" y="50160"/>
                  </a:moveTo>
                  <a:cubicBezTo>
                    <a:pt x="-4722" y="33269"/>
                    <a:pt x="2136" y="12440"/>
                    <a:pt x="19282" y="3804"/>
                  </a:cubicBezTo>
                  <a:cubicBezTo>
                    <a:pt x="36427" y="-5086"/>
                    <a:pt x="57637" y="2153"/>
                    <a:pt x="66146" y="19806"/>
                  </a:cubicBezTo>
                  <a:cubicBezTo>
                    <a:pt x="74656" y="37460"/>
                    <a:pt x="67035" y="58415"/>
                    <a:pt x="49636" y="66543"/>
                  </a:cubicBezTo>
                  <a:cubicBezTo>
                    <a:pt x="32236" y="74672"/>
                    <a:pt x="11534" y="67178"/>
                    <a:pt x="3406" y="50160"/>
                  </a:cubicBezTo>
                </a:path>
              </a:pathLst>
            </a:custGeom>
            <a:solidFill>
              <a:srgbClr val="FFFFFF"/>
            </a:solidFill>
          </p:spPr>
        </p:sp>
      </p:grpSp>
      <p:grpSp>
        <p:nvGrpSpPr>
          <p:cNvPr id="18" name="Group 18"/>
          <p:cNvGrpSpPr/>
          <p:nvPr/>
        </p:nvGrpSpPr>
        <p:grpSpPr>
          <a:xfrm>
            <a:off x="3325149" y="546916"/>
            <a:ext cx="101156" cy="101117"/>
            <a:chOff x="0" y="0"/>
            <a:chExt cx="101156" cy="101117"/>
          </a:xfrm>
        </p:grpSpPr>
        <p:sp>
          <p:nvSpPr>
            <p:cNvPr id="19" name="Freeform 19"/>
            <p:cNvSpPr/>
            <p:nvPr/>
          </p:nvSpPr>
          <p:spPr>
            <a:xfrm>
              <a:off x="17" y="68"/>
              <a:ext cx="101089" cy="101110"/>
            </a:xfrm>
            <a:custGeom>
              <a:avLst/>
              <a:gdLst/>
              <a:ahLst/>
              <a:cxnLst/>
              <a:rect l="l" t="t" r="r" b="b"/>
              <a:pathLst>
                <a:path w="101089" h="101110">
                  <a:moveTo>
                    <a:pt x="1380" y="62414"/>
                  </a:moveTo>
                  <a:cubicBezTo>
                    <a:pt x="-4970" y="35999"/>
                    <a:pt x="11159" y="8949"/>
                    <a:pt x="38084" y="1710"/>
                  </a:cubicBezTo>
                  <a:cubicBezTo>
                    <a:pt x="65008" y="-5529"/>
                    <a:pt x="93076" y="10854"/>
                    <a:pt x="99680" y="38793"/>
                  </a:cubicBezTo>
                  <a:cubicBezTo>
                    <a:pt x="106284" y="66732"/>
                    <a:pt x="89012" y="94290"/>
                    <a:pt x="61706" y="100005"/>
                  </a:cubicBezTo>
                  <a:cubicBezTo>
                    <a:pt x="34401" y="105719"/>
                    <a:pt x="7730" y="88702"/>
                    <a:pt x="1380" y="62414"/>
                  </a:cubicBezTo>
                </a:path>
              </a:pathLst>
            </a:custGeom>
            <a:solidFill>
              <a:srgbClr val="FFFFFF"/>
            </a:solidFill>
          </p:spPr>
        </p:sp>
      </p:grpSp>
      <p:grpSp>
        <p:nvGrpSpPr>
          <p:cNvPr id="20" name="Group 20"/>
          <p:cNvGrpSpPr/>
          <p:nvPr/>
        </p:nvGrpSpPr>
        <p:grpSpPr>
          <a:xfrm>
            <a:off x="3365173" y="961882"/>
            <a:ext cx="132531" cy="132626"/>
            <a:chOff x="0" y="0"/>
            <a:chExt cx="132525" cy="132626"/>
          </a:xfrm>
        </p:grpSpPr>
        <p:sp>
          <p:nvSpPr>
            <p:cNvPr id="21" name="Freeform 21"/>
            <p:cNvSpPr/>
            <p:nvPr/>
          </p:nvSpPr>
          <p:spPr>
            <a:xfrm>
              <a:off x="-15" y="1"/>
              <a:ext cx="132485" cy="132721"/>
            </a:xfrm>
            <a:custGeom>
              <a:avLst/>
              <a:gdLst/>
              <a:ahLst/>
              <a:cxnLst/>
              <a:rect l="l" t="t" r="r" b="b"/>
              <a:pathLst>
                <a:path w="132485" h="132721">
                  <a:moveTo>
                    <a:pt x="15" y="67818"/>
                  </a:moveTo>
                  <a:cubicBezTo>
                    <a:pt x="-747" y="32638"/>
                    <a:pt x="27192" y="2412"/>
                    <a:pt x="63767" y="126"/>
                  </a:cubicBezTo>
                  <a:cubicBezTo>
                    <a:pt x="100341" y="-2160"/>
                    <a:pt x="131709" y="26923"/>
                    <a:pt x="132471" y="65024"/>
                  </a:cubicBezTo>
                  <a:cubicBezTo>
                    <a:pt x="133233" y="102997"/>
                    <a:pt x="103262" y="133223"/>
                    <a:pt x="66561" y="132715"/>
                  </a:cubicBezTo>
                  <a:cubicBezTo>
                    <a:pt x="29859" y="132207"/>
                    <a:pt x="904" y="102997"/>
                    <a:pt x="15" y="67818"/>
                  </a:cubicBezTo>
                </a:path>
              </a:pathLst>
            </a:custGeom>
            <a:solidFill>
              <a:srgbClr val="FFFFFF"/>
            </a:solidFill>
          </p:spPr>
        </p:sp>
      </p:grpSp>
      <p:grpSp>
        <p:nvGrpSpPr>
          <p:cNvPr id="22" name="Group 22"/>
          <p:cNvGrpSpPr/>
          <p:nvPr/>
        </p:nvGrpSpPr>
        <p:grpSpPr>
          <a:xfrm>
            <a:off x="3665430" y="-87239"/>
            <a:ext cx="87954" cy="87916"/>
            <a:chOff x="0" y="0"/>
            <a:chExt cx="87948" cy="87909"/>
          </a:xfrm>
        </p:grpSpPr>
        <p:sp>
          <p:nvSpPr>
            <p:cNvPr id="23" name="Freeform 23"/>
            <p:cNvSpPr/>
            <p:nvPr/>
          </p:nvSpPr>
          <p:spPr>
            <a:xfrm>
              <a:off x="36321" y="87246"/>
              <a:ext cx="15493" cy="635"/>
            </a:xfrm>
            <a:custGeom>
              <a:avLst/>
              <a:gdLst/>
              <a:ahLst/>
              <a:cxnLst/>
              <a:rect l="l" t="t" r="r" b="b"/>
              <a:pathLst>
                <a:path w="15493" h="635">
                  <a:moveTo>
                    <a:pt x="0" y="0"/>
                  </a:moveTo>
                  <a:cubicBezTo>
                    <a:pt x="2539" y="381"/>
                    <a:pt x="5079" y="635"/>
                    <a:pt x="7746" y="635"/>
                  </a:cubicBezTo>
                  <a:cubicBezTo>
                    <a:pt x="10413" y="635"/>
                    <a:pt x="12826" y="381"/>
                    <a:pt x="15493" y="0"/>
                  </a:cubicBezTo>
                  <a:close/>
                </a:path>
              </a:pathLst>
            </a:custGeom>
            <a:solidFill>
              <a:srgbClr val="FFFFFF"/>
            </a:solidFill>
          </p:spPr>
        </p:sp>
      </p:grpSp>
      <p:grpSp>
        <p:nvGrpSpPr>
          <p:cNvPr id="24" name="Group 24"/>
          <p:cNvGrpSpPr/>
          <p:nvPr/>
        </p:nvGrpSpPr>
        <p:grpSpPr>
          <a:xfrm>
            <a:off x="3829822" y="408375"/>
            <a:ext cx="127483" cy="127587"/>
            <a:chOff x="0" y="0"/>
            <a:chExt cx="127483" cy="127597"/>
          </a:xfrm>
        </p:grpSpPr>
        <p:sp>
          <p:nvSpPr>
            <p:cNvPr id="25" name="Freeform 25"/>
            <p:cNvSpPr/>
            <p:nvPr/>
          </p:nvSpPr>
          <p:spPr>
            <a:xfrm>
              <a:off x="39" y="-35"/>
              <a:ext cx="127527" cy="127689"/>
            </a:xfrm>
            <a:custGeom>
              <a:avLst/>
              <a:gdLst/>
              <a:ahLst/>
              <a:cxnLst/>
              <a:rect l="l" t="t" r="r" b="b"/>
              <a:pathLst>
                <a:path w="127527" h="127689">
                  <a:moveTo>
                    <a:pt x="1739" y="78905"/>
                  </a:moveTo>
                  <a:cubicBezTo>
                    <a:pt x="-6262" y="45757"/>
                    <a:pt x="14058" y="11465"/>
                    <a:pt x="47968" y="2194"/>
                  </a:cubicBezTo>
                  <a:cubicBezTo>
                    <a:pt x="81877" y="-7077"/>
                    <a:pt x="117184" y="13879"/>
                    <a:pt x="125693" y="49186"/>
                  </a:cubicBezTo>
                  <a:cubicBezTo>
                    <a:pt x="134202" y="84494"/>
                    <a:pt x="112231" y="119039"/>
                    <a:pt x="77686" y="126278"/>
                  </a:cubicBezTo>
                  <a:cubicBezTo>
                    <a:pt x="43269" y="133517"/>
                    <a:pt x="9613" y="112181"/>
                    <a:pt x="1739" y="78905"/>
                  </a:cubicBezTo>
                </a:path>
              </a:pathLst>
            </a:custGeom>
            <a:solidFill>
              <a:srgbClr val="FFFFFF"/>
            </a:solidFill>
          </p:spPr>
        </p:sp>
      </p:grpSp>
      <p:grpSp>
        <p:nvGrpSpPr>
          <p:cNvPr id="26" name="Group 26"/>
          <p:cNvGrpSpPr/>
          <p:nvPr/>
        </p:nvGrpSpPr>
        <p:grpSpPr>
          <a:xfrm>
            <a:off x="3880266" y="931764"/>
            <a:ext cx="167059" cy="167135"/>
            <a:chOff x="0" y="0"/>
            <a:chExt cx="167068" cy="167145"/>
          </a:xfrm>
        </p:grpSpPr>
        <p:sp>
          <p:nvSpPr>
            <p:cNvPr id="27" name="Freeform 27"/>
            <p:cNvSpPr/>
            <p:nvPr/>
          </p:nvSpPr>
          <p:spPr>
            <a:xfrm>
              <a:off x="-17" y="-36"/>
              <a:ext cx="167178" cy="167055"/>
            </a:xfrm>
            <a:custGeom>
              <a:avLst/>
              <a:gdLst/>
              <a:ahLst/>
              <a:cxnLst/>
              <a:rect l="l" t="t" r="r" b="b"/>
              <a:pathLst>
                <a:path w="167178" h="167055">
                  <a:moveTo>
                    <a:pt x="17" y="85383"/>
                  </a:moveTo>
                  <a:cubicBezTo>
                    <a:pt x="-872" y="41058"/>
                    <a:pt x="34181" y="2830"/>
                    <a:pt x="80410" y="163"/>
                  </a:cubicBezTo>
                  <a:cubicBezTo>
                    <a:pt x="126386" y="-2758"/>
                    <a:pt x="166011" y="33819"/>
                    <a:pt x="167154" y="81700"/>
                  </a:cubicBezTo>
                  <a:cubicBezTo>
                    <a:pt x="168297" y="129580"/>
                    <a:pt x="130196" y="167682"/>
                    <a:pt x="84093" y="167047"/>
                  </a:cubicBezTo>
                  <a:cubicBezTo>
                    <a:pt x="37864" y="166412"/>
                    <a:pt x="1033" y="129834"/>
                    <a:pt x="17" y="85383"/>
                  </a:cubicBezTo>
                </a:path>
              </a:pathLst>
            </a:custGeom>
            <a:solidFill>
              <a:srgbClr val="FFFFFF"/>
            </a:solidFill>
          </p:spPr>
        </p:sp>
      </p:grpSp>
      <p:grpSp>
        <p:nvGrpSpPr>
          <p:cNvPr id="28" name="Group 28"/>
          <p:cNvGrpSpPr/>
          <p:nvPr/>
        </p:nvGrpSpPr>
        <p:grpSpPr>
          <a:xfrm>
            <a:off x="4477903" y="230591"/>
            <a:ext cx="161382" cy="161458"/>
            <a:chOff x="0" y="0"/>
            <a:chExt cx="161392" cy="161455"/>
          </a:xfrm>
        </p:grpSpPr>
        <p:sp>
          <p:nvSpPr>
            <p:cNvPr id="29" name="Freeform 29"/>
            <p:cNvSpPr/>
            <p:nvPr/>
          </p:nvSpPr>
          <p:spPr>
            <a:xfrm>
              <a:off x="-10" y="-88"/>
              <a:ext cx="161436" cy="161509"/>
            </a:xfrm>
            <a:custGeom>
              <a:avLst/>
              <a:gdLst/>
              <a:ahLst/>
              <a:cxnLst/>
              <a:rect l="l" t="t" r="r" b="b"/>
              <a:pathLst>
                <a:path w="161436" h="161509">
                  <a:moveTo>
                    <a:pt x="2169" y="99908"/>
                  </a:moveTo>
                  <a:cubicBezTo>
                    <a:pt x="-7864" y="57872"/>
                    <a:pt x="17791" y="14439"/>
                    <a:pt x="60845" y="2755"/>
                  </a:cubicBezTo>
                  <a:cubicBezTo>
                    <a:pt x="103899" y="-8929"/>
                    <a:pt x="148478" y="17614"/>
                    <a:pt x="159146" y="62190"/>
                  </a:cubicBezTo>
                  <a:cubicBezTo>
                    <a:pt x="169814" y="106766"/>
                    <a:pt x="142128" y="150581"/>
                    <a:pt x="98565" y="159724"/>
                  </a:cubicBezTo>
                  <a:cubicBezTo>
                    <a:pt x="54876" y="168868"/>
                    <a:pt x="12329" y="141945"/>
                    <a:pt x="2169" y="99908"/>
                  </a:cubicBezTo>
                </a:path>
              </a:pathLst>
            </a:custGeom>
            <a:solidFill>
              <a:srgbClr val="FFFFFF"/>
            </a:solidFill>
          </p:spPr>
        </p:sp>
      </p:grpSp>
      <p:grpSp>
        <p:nvGrpSpPr>
          <p:cNvPr id="30" name="Group 30"/>
          <p:cNvGrpSpPr/>
          <p:nvPr/>
        </p:nvGrpSpPr>
        <p:grpSpPr>
          <a:xfrm>
            <a:off x="4541796" y="892969"/>
            <a:ext cx="211426" cy="211503"/>
            <a:chOff x="0" y="0"/>
            <a:chExt cx="211430" cy="211506"/>
          </a:xfrm>
        </p:grpSpPr>
        <p:sp>
          <p:nvSpPr>
            <p:cNvPr id="31" name="Freeform 31"/>
            <p:cNvSpPr/>
            <p:nvPr/>
          </p:nvSpPr>
          <p:spPr>
            <a:xfrm>
              <a:off x="-26" y="-44"/>
              <a:ext cx="211512" cy="211508"/>
            </a:xfrm>
            <a:custGeom>
              <a:avLst/>
              <a:gdLst/>
              <a:ahLst/>
              <a:cxnLst/>
              <a:rect l="l" t="t" r="r" b="b"/>
              <a:pathLst>
                <a:path w="211512" h="211508">
                  <a:moveTo>
                    <a:pt x="31777" y="180515"/>
                  </a:moveTo>
                  <a:cubicBezTo>
                    <a:pt x="12599" y="161719"/>
                    <a:pt x="661" y="136445"/>
                    <a:pt x="26" y="108124"/>
                  </a:cubicBezTo>
                  <a:cubicBezTo>
                    <a:pt x="-609" y="79802"/>
                    <a:pt x="10313" y="54020"/>
                    <a:pt x="28475" y="34462"/>
                  </a:cubicBezTo>
                  <a:cubicBezTo>
                    <a:pt x="46890" y="14903"/>
                    <a:pt x="72545" y="1695"/>
                    <a:pt x="101756" y="171"/>
                  </a:cubicBezTo>
                  <a:cubicBezTo>
                    <a:pt x="130840" y="-1480"/>
                    <a:pt x="158018" y="8934"/>
                    <a:pt x="177958" y="27731"/>
                  </a:cubicBezTo>
                  <a:cubicBezTo>
                    <a:pt x="197897" y="46527"/>
                    <a:pt x="210852" y="73325"/>
                    <a:pt x="211487" y="103424"/>
                  </a:cubicBezTo>
                  <a:cubicBezTo>
                    <a:pt x="212122" y="133524"/>
                    <a:pt x="200438" y="160957"/>
                    <a:pt x="181260" y="180515"/>
                  </a:cubicBezTo>
                  <a:cubicBezTo>
                    <a:pt x="162082" y="200074"/>
                    <a:pt x="135666" y="211758"/>
                    <a:pt x="106455" y="211504"/>
                  </a:cubicBezTo>
                  <a:cubicBezTo>
                    <a:pt x="77244" y="211250"/>
                    <a:pt x="50954" y="199185"/>
                    <a:pt x="31777" y="180515"/>
                  </a:cubicBezTo>
                </a:path>
              </a:pathLst>
            </a:custGeom>
            <a:solidFill>
              <a:srgbClr val="FFFFFF"/>
            </a:solidFill>
          </p:spPr>
        </p:sp>
      </p:grpSp>
      <p:sp>
        <p:nvSpPr>
          <p:cNvPr id="32" name="Freeform 32"/>
          <p:cNvSpPr/>
          <p:nvPr/>
        </p:nvSpPr>
        <p:spPr>
          <a:xfrm>
            <a:off x="4994672" y="8631298"/>
            <a:ext cx="11534965" cy="1658750"/>
          </a:xfrm>
          <a:custGeom>
            <a:avLst/>
            <a:gdLst/>
            <a:ahLst/>
            <a:cxnLst/>
            <a:rect l="l" t="t" r="r" b="b"/>
            <a:pathLst>
              <a:path w="11534965" h="1658750">
                <a:moveTo>
                  <a:pt x="0" y="0"/>
                </a:moveTo>
                <a:lnTo>
                  <a:pt x="11534965" y="0"/>
                </a:lnTo>
                <a:lnTo>
                  <a:pt x="11534965" y="1658750"/>
                </a:lnTo>
                <a:lnTo>
                  <a:pt x="0" y="16587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3" name="Freeform 33"/>
          <p:cNvSpPr/>
          <p:nvPr/>
        </p:nvSpPr>
        <p:spPr>
          <a:xfrm>
            <a:off x="-601008" y="1315755"/>
            <a:ext cx="6268202" cy="4297632"/>
          </a:xfrm>
          <a:custGeom>
            <a:avLst/>
            <a:gdLst/>
            <a:ahLst/>
            <a:cxnLst/>
            <a:rect l="l" t="t" r="r" b="b"/>
            <a:pathLst>
              <a:path w="6268202" h="4297632">
                <a:moveTo>
                  <a:pt x="0" y="0"/>
                </a:moveTo>
                <a:lnTo>
                  <a:pt x="6268202" y="0"/>
                </a:lnTo>
                <a:lnTo>
                  <a:pt x="6268202" y="4297632"/>
                </a:lnTo>
                <a:lnTo>
                  <a:pt x="0" y="4297632"/>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34" name="Group 34"/>
          <p:cNvGrpSpPr/>
          <p:nvPr/>
        </p:nvGrpSpPr>
        <p:grpSpPr>
          <a:xfrm>
            <a:off x="5297014" y="5867"/>
            <a:ext cx="204149" cy="204226"/>
            <a:chOff x="0" y="0"/>
            <a:chExt cx="204153" cy="204229"/>
          </a:xfrm>
        </p:grpSpPr>
        <p:sp>
          <p:nvSpPr>
            <p:cNvPr id="35" name="Freeform 35"/>
            <p:cNvSpPr/>
            <p:nvPr/>
          </p:nvSpPr>
          <p:spPr>
            <a:xfrm>
              <a:off x="50" y="78"/>
              <a:ext cx="204137" cy="204112"/>
            </a:xfrm>
            <a:custGeom>
              <a:avLst/>
              <a:gdLst/>
              <a:ahLst/>
              <a:cxnLst/>
              <a:rect l="l" t="t" r="r" b="b"/>
              <a:pathLst>
                <a:path w="204137" h="204112">
                  <a:moveTo>
                    <a:pt x="2744" y="126291"/>
                  </a:moveTo>
                  <a:cubicBezTo>
                    <a:pt x="-9956" y="72949"/>
                    <a:pt x="22556" y="18211"/>
                    <a:pt x="77040" y="3478"/>
                  </a:cubicBezTo>
                  <a:cubicBezTo>
                    <a:pt x="131523" y="-11254"/>
                    <a:pt x="187785" y="22148"/>
                    <a:pt x="201247" y="78537"/>
                  </a:cubicBezTo>
                  <a:cubicBezTo>
                    <a:pt x="214709" y="134927"/>
                    <a:pt x="179784" y="190300"/>
                    <a:pt x="124665" y="201858"/>
                  </a:cubicBezTo>
                  <a:cubicBezTo>
                    <a:pt x="69547" y="213415"/>
                    <a:pt x="15444" y="179378"/>
                    <a:pt x="2744" y="126291"/>
                  </a:cubicBezTo>
                </a:path>
              </a:pathLst>
            </a:custGeom>
            <a:solidFill>
              <a:srgbClr val="FFFFFF"/>
            </a:solidFill>
          </p:spPr>
        </p:sp>
      </p:grpSp>
      <p:grpSp>
        <p:nvGrpSpPr>
          <p:cNvPr id="36" name="Group 36"/>
          <p:cNvGrpSpPr/>
          <p:nvPr/>
        </p:nvGrpSpPr>
        <p:grpSpPr>
          <a:xfrm>
            <a:off x="5377834" y="843867"/>
            <a:ext cx="267519" cy="267672"/>
            <a:chOff x="0" y="0"/>
            <a:chExt cx="267513" cy="267665"/>
          </a:xfrm>
        </p:grpSpPr>
        <p:sp>
          <p:nvSpPr>
            <p:cNvPr id="37" name="Freeform 37"/>
            <p:cNvSpPr/>
            <p:nvPr/>
          </p:nvSpPr>
          <p:spPr>
            <a:xfrm>
              <a:off x="-30" y="49"/>
              <a:ext cx="267519" cy="267542"/>
            </a:xfrm>
            <a:custGeom>
              <a:avLst/>
              <a:gdLst/>
              <a:ahLst/>
              <a:cxnLst/>
              <a:rect l="l" t="t" r="r" b="b"/>
              <a:pathLst>
                <a:path w="267519" h="267542">
                  <a:moveTo>
                    <a:pt x="40289" y="228293"/>
                  </a:moveTo>
                  <a:cubicBezTo>
                    <a:pt x="16032" y="204671"/>
                    <a:pt x="792" y="172541"/>
                    <a:pt x="30" y="136855"/>
                  </a:cubicBezTo>
                  <a:cubicBezTo>
                    <a:pt x="-732" y="101168"/>
                    <a:pt x="12984" y="68403"/>
                    <a:pt x="36098" y="43511"/>
                  </a:cubicBezTo>
                  <a:cubicBezTo>
                    <a:pt x="59212" y="18874"/>
                    <a:pt x="91723" y="2237"/>
                    <a:pt x="128553" y="205"/>
                  </a:cubicBezTo>
                  <a:cubicBezTo>
                    <a:pt x="165383" y="-1827"/>
                    <a:pt x="199800" y="11381"/>
                    <a:pt x="225073" y="35002"/>
                  </a:cubicBezTo>
                  <a:cubicBezTo>
                    <a:pt x="250345" y="58624"/>
                    <a:pt x="266728" y="92786"/>
                    <a:pt x="267490" y="130886"/>
                  </a:cubicBezTo>
                  <a:cubicBezTo>
                    <a:pt x="268252" y="168985"/>
                    <a:pt x="253647" y="203782"/>
                    <a:pt x="229390" y="228420"/>
                  </a:cubicBezTo>
                  <a:cubicBezTo>
                    <a:pt x="205261" y="253185"/>
                    <a:pt x="171479" y="267916"/>
                    <a:pt x="134522" y="267535"/>
                  </a:cubicBezTo>
                  <a:cubicBezTo>
                    <a:pt x="97565" y="267154"/>
                    <a:pt x="64419" y="251915"/>
                    <a:pt x="40162" y="228293"/>
                  </a:cubicBezTo>
                </a:path>
              </a:pathLst>
            </a:custGeom>
            <a:solidFill>
              <a:srgbClr val="FFFFFF"/>
            </a:solidFill>
          </p:spPr>
        </p:sp>
      </p:grpSp>
      <p:grpSp>
        <p:nvGrpSpPr>
          <p:cNvPr id="38" name="Group 38"/>
          <p:cNvGrpSpPr/>
          <p:nvPr/>
        </p:nvGrpSpPr>
        <p:grpSpPr>
          <a:xfrm>
            <a:off x="9544383" y="0"/>
            <a:ext cx="8743617" cy="10287000"/>
            <a:chOff x="0" y="0"/>
            <a:chExt cx="11658156" cy="13716000"/>
          </a:xfrm>
        </p:grpSpPr>
        <p:sp>
          <p:nvSpPr>
            <p:cNvPr id="39" name="Freeform 39"/>
            <p:cNvSpPr/>
            <p:nvPr/>
          </p:nvSpPr>
          <p:spPr>
            <a:xfrm flipH="1">
              <a:off x="0" y="0"/>
              <a:ext cx="11658092" cy="13716000"/>
            </a:xfrm>
            <a:custGeom>
              <a:avLst/>
              <a:gdLst/>
              <a:ahLst/>
              <a:cxnLst/>
              <a:rect l="l" t="t" r="r" b="b"/>
              <a:pathLst>
                <a:path w="11658092" h="13716000">
                  <a:moveTo>
                    <a:pt x="7416673" y="0"/>
                  </a:moveTo>
                  <a:cubicBezTo>
                    <a:pt x="9946259" y="1423035"/>
                    <a:pt x="11658092" y="4157345"/>
                    <a:pt x="11658092" y="7296785"/>
                  </a:cubicBezTo>
                  <a:cubicBezTo>
                    <a:pt x="11658092" y="9878441"/>
                    <a:pt x="10500487" y="12186158"/>
                    <a:pt x="8682482" y="13716000"/>
                  </a:cubicBezTo>
                  <a:lnTo>
                    <a:pt x="0" y="13716000"/>
                  </a:lnTo>
                  <a:lnTo>
                    <a:pt x="0" y="0"/>
                  </a:lnTo>
                  <a:close/>
                </a:path>
              </a:pathLst>
            </a:custGeom>
            <a:blipFill>
              <a:blip r:embed="rId5"/>
              <a:stretch>
                <a:fillRect l="-17418" t="-7607" r="-96038" b="-13815"/>
              </a:stretch>
            </a:blipFill>
          </p:spPr>
        </p:sp>
      </p:grpSp>
      <p:sp>
        <p:nvSpPr>
          <p:cNvPr id="40" name="Freeform 40"/>
          <p:cNvSpPr/>
          <p:nvPr/>
        </p:nvSpPr>
        <p:spPr>
          <a:xfrm>
            <a:off x="4688357" y="8790346"/>
            <a:ext cx="1879321" cy="1563205"/>
          </a:xfrm>
          <a:custGeom>
            <a:avLst/>
            <a:gdLst/>
            <a:ahLst/>
            <a:cxnLst/>
            <a:rect l="l" t="t" r="r" b="b"/>
            <a:pathLst>
              <a:path w="1879321" h="1563205">
                <a:moveTo>
                  <a:pt x="0" y="0"/>
                </a:moveTo>
                <a:lnTo>
                  <a:pt x="1879321" y="0"/>
                </a:lnTo>
                <a:lnTo>
                  <a:pt x="1879321" y="1563205"/>
                </a:lnTo>
                <a:lnTo>
                  <a:pt x="0" y="156320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1" name="Freeform 41"/>
          <p:cNvSpPr/>
          <p:nvPr/>
        </p:nvSpPr>
        <p:spPr>
          <a:xfrm>
            <a:off x="-63503" y="-764086"/>
            <a:ext cx="20742916" cy="13524519"/>
          </a:xfrm>
          <a:custGeom>
            <a:avLst/>
            <a:gdLst/>
            <a:ahLst/>
            <a:cxnLst/>
            <a:rect l="l" t="t" r="r" b="b"/>
            <a:pathLst>
              <a:path w="20742916" h="13524519">
                <a:moveTo>
                  <a:pt x="0" y="0"/>
                </a:moveTo>
                <a:lnTo>
                  <a:pt x="20742916" y="0"/>
                </a:lnTo>
                <a:lnTo>
                  <a:pt x="20742916" y="13524519"/>
                </a:lnTo>
                <a:lnTo>
                  <a:pt x="0" y="13524519"/>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42" name="TextBox 42"/>
          <p:cNvSpPr txBox="1"/>
          <p:nvPr/>
        </p:nvSpPr>
        <p:spPr>
          <a:xfrm>
            <a:off x="1096775" y="2939510"/>
            <a:ext cx="8180927" cy="4714523"/>
          </a:xfrm>
          <a:prstGeom prst="rect">
            <a:avLst/>
          </a:prstGeom>
        </p:spPr>
        <p:txBody>
          <a:bodyPr lIns="0" tIns="0" rIns="0" bIns="0" rtlCol="0" anchor="t">
            <a:spAutoFit/>
          </a:bodyPr>
          <a:lstStyle/>
          <a:p>
            <a:pPr algn="l">
              <a:lnSpc>
                <a:spcPts val="12150"/>
              </a:lnSpc>
            </a:pPr>
            <a:r>
              <a:rPr lang="en-US" sz="8697" b="1">
                <a:solidFill>
                  <a:srgbClr val="0C3E80"/>
                </a:solidFill>
                <a:latin typeface="Poppins Bold"/>
                <a:ea typeface="Poppins Bold"/>
                <a:cs typeface="Poppins Bold"/>
                <a:sym typeface="Poppins Bold"/>
              </a:rPr>
              <a:t>KESIMPULAN DAN REKOMENDASI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48690"/>
            <a:ext cx="18288000" cy="12182475"/>
            <a:chOff x="0" y="0"/>
            <a:chExt cx="24384000" cy="16243300"/>
          </a:xfrm>
        </p:grpSpPr>
        <p:sp>
          <p:nvSpPr>
            <p:cNvPr id="3" name="Freeform 3"/>
            <p:cNvSpPr/>
            <p:nvPr/>
          </p:nvSpPr>
          <p:spPr>
            <a:xfrm>
              <a:off x="0" y="0"/>
              <a:ext cx="24384000" cy="16243300"/>
            </a:xfrm>
            <a:custGeom>
              <a:avLst/>
              <a:gdLst/>
              <a:ahLst/>
              <a:cxnLst/>
              <a:rect l="l" t="t" r="r" b="b"/>
              <a:pathLst>
                <a:path w="24384000" h="16243300">
                  <a:moveTo>
                    <a:pt x="0" y="0"/>
                  </a:moveTo>
                  <a:lnTo>
                    <a:pt x="24384000" y="0"/>
                  </a:lnTo>
                  <a:lnTo>
                    <a:pt x="24384000" y="16243300"/>
                  </a:lnTo>
                  <a:lnTo>
                    <a:pt x="0" y="16243300"/>
                  </a:lnTo>
                  <a:lnTo>
                    <a:pt x="0" y="0"/>
                  </a:lnTo>
                  <a:close/>
                </a:path>
              </a:pathLst>
            </a:custGeom>
            <a:blipFill>
              <a:blip r:embed="rId2">
                <a:alphaModFix amt="5999"/>
              </a:blip>
              <a:stretch>
                <a:fillRect/>
              </a:stretch>
            </a:blipFill>
          </p:spPr>
        </p:sp>
      </p:grpSp>
      <p:sp>
        <p:nvSpPr>
          <p:cNvPr id="4" name="Freeform 4"/>
          <p:cNvSpPr/>
          <p:nvPr/>
        </p:nvSpPr>
        <p:spPr>
          <a:xfrm>
            <a:off x="-3048" y="893045"/>
            <a:ext cx="9145886" cy="1356884"/>
          </a:xfrm>
          <a:custGeom>
            <a:avLst/>
            <a:gdLst/>
            <a:ahLst/>
            <a:cxnLst/>
            <a:rect l="l" t="t" r="r" b="b"/>
            <a:pathLst>
              <a:path w="9145886" h="1356884">
                <a:moveTo>
                  <a:pt x="0" y="0"/>
                </a:moveTo>
                <a:lnTo>
                  <a:pt x="9145886" y="0"/>
                </a:lnTo>
                <a:lnTo>
                  <a:pt x="9145886" y="1356884"/>
                </a:lnTo>
                <a:lnTo>
                  <a:pt x="0" y="135688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30045" y="0"/>
            <a:ext cx="18418045" cy="10420093"/>
          </a:xfrm>
          <a:custGeom>
            <a:avLst/>
            <a:gdLst/>
            <a:ahLst/>
            <a:cxnLst/>
            <a:rect l="l" t="t" r="r" b="b"/>
            <a:pathLst>
              <a:path w="18418045" h="10420093">
                <a:moveTo>
                  <a:pt x="0" y="0"/>
                </a:moveTo>
                <a:lnTo>
                  <a:pt x="18418045" y="0"/>
                </a:lnTo>
                <a:lnTo>
                  <a:pt x="18418045" y="10420093"/>
                </a:lnTo>
                <a:lnTo>
                  <a:pt x="0" y="10420093"/>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6" name="Group 6"/>
          <p:cNvGrpSpPr/>
          <p:nvPr/>
        </p:nvGrpSpPr>
        <p:grpSpPr>
          <a:xfrm>
            <a:off x="12321550" y="0"/>
            <a:ext cx="5966450" cy="6429937"/>
            <a:chOff x="0" y="0"/>
            <a:chExt cx="7955267" cy="8573249"/>
          </a:xfrm>
        </p:grpSpPr>
        <p:sp>
          <p:nvSpPr>
            <p:cNvPr id="7" name="Freeform 7"/>
            <p:cNvSpPr/>
            <p:nvPr/>
          </p:nvSpPr>
          <p:spPr>
            <a:xfrm>
              <a:off x="0" y="0"/>
              <a:ext cx="7955153" cy="8573135"/>
            </a:xfrm>
            <a:custGeom>
              <a:avLst/>
              <a:gdLst/>
              <a:ahLst/>
              <a:cxnLst/>
              <a:rect l="l" t="t" r="r" b="b"/>
              <a:pathLst>
                <a:path w="7955153" h="8573135">
                  <a:moveTo>
                    <a:pt x="1852930" y="0"/>
                  </a:moveTo>
                  <a:cubicBezTo>
                    <a:pt x="1818640" y="26670"/>
                    <a:pt x="1784604" y="53721"/>
                    <a:pt x="1751076" y="81280"/>
                  </a:cubicBezTo>
                  <a:cubicBezTo>
                    <a:pt x="1690497" y="131064"/>
                    <a:pt x="1631188" y="182245"/>
                    <a:pt x="1573022" y="234823"/>
                  </a:cubicBezTo>
                  <a:cubicBezTo>
                    <a:pt x="1514856" y="287401"/>
                    <a:pt x="1458214" y="341503"/>
                    <a:pt x="1402715" y="396875"/>
                  </a:cubicBezTo>
                  <a:cubicBezTo>
                    <a:pt x="1347216" y="452247"/>
                    <a:pt x="1293241" y="509016"/>
                    <a:pt x="1240663" y="567182"/>
                  </a:cubicBezTo>
                  <a:cubicBezTo>
                    <a:pt x="1188085" y="625348"/>
                    <a:pt x="1136777" y="684657"/>
                    <a:pt x="1087120" y="745236"/>
                  </a:cubicBezTo>
                  <a:cubicBezTo>
                    <a:pt x="1037463" y="805815"/>
                    <a:pt x="989203" y="867664"/>
                    <a:pt x="942467" y="930529"/>
                  </a:cubicBezTo>
                  <a:cubicBezTo>
                    <a:pt x="895731" y="993394"/>
                    <a:pt x="850646" y="1057529"/>
                    <a:pt x="807085" y="1122680"/>
                  </a:cubicBezTo>
                  <a:cubicBezTo>
                    <a:pt x="763524" y="1187831"/>
                    <a:pt x="721614" y="1253998"/>
                    <a:pt x="681355" y="1321308"/>
                  </a:cubicBezTo>
                  <a:cubicBezTo>
                    <a:pt x="641096" y="1388618"/>
                    <a:pt x="602488" y="1456690"/>
                    <a:pt x="565531" y="1525905"/>
                  </a:cubicBezTo>
                  <a:cubicBezTo>
                    <a:pt x="528574" y="1595120"/>
                    <a:pt x="493395" y="1664970"/>
                    <a:pt x="459867" y="1735836"/>
                  </a:cubicBezTo>
                  <a:cubicBezTo>
                    <a:pt x="426339" y="1806702"/>
                    <a:pt x="394589" y="1878330"/>
                    <a:pt x="364617" y="1950720"/>
                  </a:cubicBezTo>
                  <a:cubicBezTo>
                    <a:pt x="334645" y="2023110"/>
                    <a:pt x="306451" y="2096262"/>
                    <a:pt x="280035" y="2170049"/>
                  </a:cubicBezTo>
                  <a:cubicBezTo>
                    <a:pt x="253619" y="2243836"/>
                    <a:pt x="229108" y="2318258"/>
                    <a:pt x="206248" y="2393315"/>
                  </a:cubicBezTo>
                  <a:cubicBezTo>
                    <a:pt x="183388" y="2468372"/>
                    <a:pt x="162560" y="2543810"/>
                    <a:pt x="143510" y="2619883"/>
                  </a:cubicBezTo>
                  <a:cubicBezTo>
                    <a:pt x="124460" y="2695956"/>
                    <a:pt x="107315" y="2772410"/>
                    <a:pt x="91948" y="2849245"/>
                  </a:cubicBezTo>
                  <a:cubicBezTo>
                    <a:pt x="76581" y="2926080"/>
                    <a:pt x="63246" y="3003296"/>
                    <a:pt x="51816" y="3080893"/>
                  </a:cubicBezTo>
                  <a:cubicBezTo>
                    <a:pt x="40386" y="3158490"/>
                    <a:pt x="30734" y="3236214"/>
                    <a:pt x="22987" y="3314192"/>
                  </a:cubicBezTo>
                  <a:cubicBezTo>
                    <a:pt x="15240" y="3392170"/>
                    <a:pt x="9652" y="3470402"/>
                    <a:pt x="5715" y="3548634"/>
                  </a:cubicBezTo>
                  <a:cubicBezTo>
                    <a:pt x="1778" y="3626866"/>
                    <a:pt x="0" y="3705352"/>
                    <a:pt x="0" y="3783711"/>
                  </a:cubicBezTo>
                  <a:cubicBezTo>
                    <a:pt x="0" y="3862070"/>
                    <a:pt x="1905" y="3940429"/>
                    <a:pt x="5715" y="4018661"/>
                  </a:cubicBezTo>
                  <a:cubicBezTo>
                    <a:pt x="9525" y="4096893"/>
                    <a:pt x="15367" y="4175125"/>
                    <a:pt x="22987" y="4253103"/>
                  </a:cubicBezTo>
                  <a:cubicBezTo>
                    <a:pt x="30607" y="4331081"/>
                    <a:pt x="40259" y="4408932"/>
                    <a:pt x="51816" y="4486402"/>
                  </a:cubicBezTo>
                  <a:cubicBezTo>
                    <a:pt x="63373" y="4563872"/>
                    <a:pt x="76708" y="4641088"/>
                    <a:pt x="91948" y="4718050"/>
                  </a:cubicBezTo>
                  <a:cubicBezTo>
                    <a:pt x="107188" y="4795012"/>
                    <a:pt x="124460" y="4871339"/>
                    <a:pt x="143510" y="4947412"/>
                  </a:cubicBezTo>
                  <a:cubicBezTo>
                    <a:pt x="162560" y="5023485"/>
                    <a:pt x="183515" y="5098923"/>
                    <a:pt x="206248" y="5173980"/>
                  </a:cubicBezTo>
                  <a:cubicBezTo>
                    <a:pt x="228981" y="5249037"/>
                    <a:pt x="253619" y="5323459"/>
                    <a:pt x="280035" y="5397246"/>
                  </a:cubicBezTo>
                  <a:cubicBezTo>
                    <a:pt x="306451" y="5471033"/>
                    <a:pt x="334645" y="5544185"/>
                    <a:pt x="364617" y="5616575"/>
                  </a:cubicBezTo>
                  <a:cubicBezTo>
                    <a:pt x="394589" y="5688965"/>
                    <a:pt x="426339" y="5760593"/>
                    <a:pt x="459867" y="5831459"/>
                  </a:cubicBezTo>
                  <a:cubicBezTo>
                    <a:pt x="493395" y="5902325"/>
                    <a:pt x="528574" y="5972302"/>
                    <a:pt x="565531" y="6041390"/>
                  </a:cubicBezTo>
                  <a:cubicBezTo>
                    <a:pt x="602488" y="6110478"/>
                    <a:pt x="641096" y="6178677"/>
                    <a:pt x="681355" y="6245987"/>
                  </a:cubicBezTo>
                  <a:cubicBezTo>
                    <a:pt x="721614" y="6313297"/>
                    <a:pt x="763524" y="6379464"/>
                    <a:pt x="807085" y="6444615"/>
                  </a:cubicBezTo>
                  <a:cubicBezTo>
                    <a:pt x="850646" y="6509766"/>
                    <a:pt x="895731" y="6573901"/>
                    <a:pt x="942467" y="6636766"/>
                  </a:cubicBezTo>
                  <a:cubicBezTo>
                    <a:pt x="989203" y="6699631"/>
                    <a:pt x="1037336" y="6761480"/>
                    <a:pt x="1087120" y="6822059"/>
                  </a:cubicBezTo>
                  <a:cubicBezTo>
                    <a:pt x="1136904" y="6882638"/>
                    <a:pt x="1188085" y="6941947"/>
                    <a:pt x="1240663" y="7000113"/>
                  </a:cubicBezTo>
                  <a:cubicBezTo>
                    <a:pt x="1293241" y="7058279"/>
                    <a:pt x="1347343" y="7114921"/>
                    <a:pt x="1402715" y="7170420"/>
                  </a:cubicBezTo>
                  <a:cubicBezTo>
                    <a:pt x="1458087" y="7225919"/>
                    <a:pt x="1514856" y="7279894"/>
                    <a:pt x="1573022" y="7332472"/>
                  </a:cubicBezTo>
                  <a:cubicBezTo>
                    <a:pt x="1631188" y="7385050"/>
                    <a:pt x="1690497" y="7436358"/>
                    <a:pt x="1751076" y="7486015"/>
                  </a:cubicBezTo>
                  <a:cubicBezTo>
                    <a:pt x="1811655" y="7535672"/>
                    <a:pt x="1873504" y="7583932"/>
                    <a:pt x="1936369" y="7630668"/>
                  </a:cubicBezTo>
                  <a:cubicBezTo>
                    <a:pt x="1999234" y="7677404"/>
                    <a:pt x="2063369" y="7722489"/>
                    <a:pt x="2128520" y="7766050"/>
                  </a:cubicBezTo>
                  <a:cubicBezTo>
                    <a:pt x="2193671" y="7809611"/>
                    <a:pt x="2259838" y="7851521"/>
                    <a:pt x="2327148" y="7891780"/>
                  </a:cubicBezTo>
                  <a:cubicBezTo>
                    <a:pt x="2394458" y="7932039"/>
                    <a:pt x="2462530" y="7970647"/>
                    <a:pt x="2531745" y="8007604"/>
                  </a:cubicBezTo>
                  <a:cubicBezTo>
                    <a:pt x="2600960" y="8044561"/>
                    <a:pt x="2670810" y="8079740"/>
                    <a:pt x="2741676" y="8113268"/>
                  </a:cubicBezTo>
                  <a:cubicBezTo>
                    <a:pt x="2812542" y="8146796"/>
                    <a:pt x="2884170" y="8178546"/>
                    <a:pt x="2956560" y="8208518"/>
                  </a:cubicBezTo>
                  <a:cubicBezTo>
                    <a:pt x="3028950" y="8238490"/>
                    <a:pt x="3102102" y="8266684"/>
                    <a:pt x="3175889" y="8293100"/>
                  </a:cubicBezTo>
                  <a:cubicBezTo>
                    <a:pt x="3249676" y="8319516"/>
                    <a:pt x="3324098" y="8344027"/>
                    <a:pt x="3399155" y="8366887"/>
                  </a:cubicBezTo>
                  <a:cubicBezTo>
                    <a:pt x="3474212" y="8389747"/>
                    <a:pt x="3549650" y="8410575"/>
                    <a:pt x="3625723" y="8429625"/>
                  </a:cubicBezTo>
                  <a:cubicBezTo>
                    <a:pt x="3701796" y="8448675"/>
                    <a:pt x="3778250" y="8465820"/>
                    <a:pt x="3855085" y="8481187"/>
                  </a:cubicBezTo>
                  <a:cubicBezTo>
                    <a:pt x="3931920" y="8496554"/>
                    <a:pt x="4009136" y="8509889"/>
                    <a:pt x="4086733" y="8521319"/>
                  </a:cubicBezTo>
                  <a:cubicBezTo>
                    <a:pt x="4164330" y="8532749"/>
                    <a:pt x="4242054" y="8542401"/>
                    <a:pt x="4320032" y="8550148"/>
                  </a:cubicBezTo>
                  <a:cubicBezTo>
                    <a:pt x="4398010" y="8557895"/>
                    <a:pt x="4476242" y="8563610"/>
                    <a:pt x="4554474" y="8567420"/>
                  </a:cubicBezTo>
                  <a:cubicBezTo>
                    <a:pt x="4632706" y="8571230"/>
                    <a:pt x="4711065" y="8573135"/>
                    <a:pt x="4789551" y="8573135"/>
                  </a:cubicBezTo>
                  <a:cubicBezTo>
                    <a:pt x="4868037" y="8573135"/>
                    <a:pt x="4946269" y="8571230"/>
                    <a:pt x="5024501" y="8567420"/>
                  </a:cubicBezTo>
                  <a:cubicBezTo>
                    <a:pt x="5102733" y="8563610"/>
                    <a:pt x="5180965" y="8557768"/>
                    <a:pt x="5258943" y="8550148"/>
                  </a:cubicBezTo>
                  <a:cubicBezTo>
                    <a:pt x="5336921" y="8542528"/>
                    <a:pt x="5414772" y="8532876"/>
                    <a:pt x="5492242" y="8521319"/>
                  </a:cubicBezTo>
                  <a:cubicBezTo>
                    <a:pt x="5569712" y="8509762"/>
                    <a:pt x="5646928" y="8496427"/>
                    <a:pt x="5723890" y="8481187"/>
                  </a:cubicBezTo>
                  <a:cubicBezTo>
                    <a:pt x="5800852" y="8465947"/>
                    <a:pt x="5877179" y="8448675"/>
                    <a:pt x="5953252" y="8429625"/>
                  </a:cubicBezTo>
                  <a:cubicBezTo>
                    <a:pt x="6029325" y="8410575"/>
                    <a:pt x="6104763" y="8389620"/>
                    <a:pt x="6179820" y="8366887"/>
                  </a:cubicBezTo>
                  <a:cubicBezTo>
                    <a:pt x="6254877" y="8344154"/>
                    <a:pt x="6329172" y="8319516"/>
                    <a:pt x="6403086" y="8293100"/>
                  </a:cubicBezTo>
                  <a:cubicBezTo>
                    <a:pt x="6477000" y="8266684"/>
                    <a:pt x="6550025" y="8238490"/>
                    <a:pt x="6622415" y="8208518"/>
                  </a:cubicBezTo>
                  <a:cubicBezTo>
                    <a:pt x="6694805" y="8178546"/>
                    <a:pt x="6766433" y="8146796"/>
                    <a:pt x="6837299" y="8113268"/>
                  </a:cubicBezTo>
                  <a:cubicBezTo>
                    <a:pt x="6908165" y="8079740"/>
                    <a:pt x="6978142" y="8044561"/>
                    <a:pt x="7047230" y="8007604"/>
                  </a:cubicBezTo>
                  <a:cubicBezTo>
                    <a:pt x="7116318" y="7970647"/>
                    <a:pt x="7184517" y="7932039"/>
                    <a:pt x="7251827" y="7891780"/>
                  </a:cubicBezTo>
                  <a:cubicBezTo>
                    <a:pt x="7319137" y="7851521"/>
                    <a:pt x="7385304" y="7809611"/>
                    <a:pt x="7450455" y="7766050"/>
                  </a:cubicBezTo>
                  <a:cubicBezTo>
                    <a:pt x="7515606" y="7722489"/>
                    <a:pt x="7579741" y="7677404"/>
                    <a:pt x="7642606" y="7630668"/>
                  </a:cubicBezTo>
                  <a:cubicBezTo>
                    <a:pt x="7705471" y="7583932"/>
                    <a:pt x="7767320" y="7535799"/>
                    <a:pt x="7827899" y="7486015"/>
                  </a:cubicBezTo>
                  <a:cubicBezTo>
                    <a:pt x="7870952" y="7450709"/>
                    <a:pt x="7913370" y="7414641"/>
                    <a:pt x="7955153" y="7377811"/>
                  </a:cubicBezTo>
                  <a:lnTo>
                    <a:pt x="7955153" y="189484"/>
                  </a:lnTo>
                  <a:cubicBezTo>
                    <a:pt x="7913370" y="152654"/>
                    <a:pt x="7870952" y="116586"/>
                    <a:pt x="7827899" y="81280"/>
                  </a:cubicBezTo>
                  <a:cubicBezTo>
                    <a:pt x="7794244" y="53721"/>
                    <a:pt x="7760335" y="26543"/>
                    <a:pt x="7726045" y="0"/>
                  </a:cubicBezTo>
                  <a:close/>
                </a:path>
              </a:pathLst>
            </a:custGeom>
            <a:blipFill>
              <a:blip r:embed="rId5"/>
              <a:stretch>
                <a:fillRect l="-30159" t="-11732" r="-50544" b="-52"/>
              </a:stretch>
            </a:blipFill>
          </p:spPr>
        </p:sp>
      </p:grpSp>
      <p:sp>
        <p:nvSpPr>
          <p:cNvPr id="8" name="Freeform 8"/>
          <p:cNvSpPr/>
          <p:nvPr/>
        </p:nvSpPr>
        <p:spPr>
          <a:xfrm>
            <a:off x="12775778" y="5143500"/>
            <a:ext cx="5515270" cy="5146548"/>
          </a:xfrm>
          <a:custGeom>
            <a:avLst/>
            <a:gdLst/>
            <a:ahLst/>
            <a:cxnLst/>
            <a:rect l="l" t="t" r="r" b="b"/>
            <a:pathLst>
              <a:path w="5515270" h="5146548">
                <a:moveTo>
                  <a:pt x="0" y="0"/>
                </a:moveTo>
                <a:lnTo>
                  <a:pt x="5515270" y="0"/>
                </a:lnTo>
                <a:lnTo>
                  <a:pt x="5515270" y="5146548"/>
                </a:lnTo>
                <a:lnTo>
                  <a:pt x="0" y="5146548"/>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9" name="Group 9"/>
          <p:cNvGrpSpPr/>
          <p:nvPr/>
        </p:nvGrpSpPr>
        <p:grpSpPr>
          <a:xfrm>
            <a:off x="13227568" y="5595290"/>
            <a:ext cx="5060432" cy="4691710"/>
            <a:chOff x="0" y="0"/>
            <a:chExt cx="6747243" cy="6255614"/>
          </a:xfrm>
        </p:grpSpPr>
        <p:sp>
          <p:nvSpPr>
            <p:cNvPr id="10" name="Freeform 10"/>
            <p:cNvSpPr/>
            <p:nvPr/>
          </p:nvSpPr>
          <p:spPr>
            <a:xfrm>
              <a:off x="0" y="0"/>
              <a:ext cx="6747383" cy="6255512"/>
            </a:xfrm>
            <a:custGeom>
              <a:avLst/>
              <a:gdLst/>
              <a:ahLst/>
              <a:cxnLst/>
              <a:rect l="l" t="t" r="r" b="b"/>
              <a:pathLst>
                <a:path w="6747383" h="6255512">
                  <a:moveTo>
                    <a:pt x="3945255" y="0"/>
                  </a:moveTo>
                  <a:cubicBezTo>
                    <a:pt x="3816604" y="127"/>
                    <a:pt x="3688334" y="6350"/>
                    <a:pt x="3560318" y="19050"/>
                  </a:cubicBezTo>
                  <a:cubicBezTo>
                    <a:pt x="3431667" y="31750"/>
                    <a:pt x="3303905" y="50673"/>
                    <a:pt x="3177159" y="75946"/>
                  </a:cubicBezTo>
                  <a:cubicBezTo>
                    <a:pt x="3050413" y="101219"/>
                    <a:pt x="2925064" y="132588"/>
                    <a:pt x="2801366" y="170053"/>
                  </a:cubicBezTo>
                  <a:cubicBezTo>
                    <a:pt x="2677668" y="207518"/>
                    <a:pt x="2556129" y="251079"/>
                    <a:pt x="2436622" y="300609"/>
                  </a:cubicBezTo>
                  <a:cubicBezTo>
                    <a:pt x="2317115" y="350139"/>
                    <a:pt x="2200402" y="405257"/>
                    <a:pt x="2086483" y="466217"/>
                  </a:cubicBezTo>
                  <a:cubicBezTo>
                    <a:pt x="1972564" y="527177"/>
                    <a:pt x="1861693" y="593598"/>
                    <a:pt x="1754251" y="665353"/>
                  </a:cubicBezTo>
                  <a:cubicBezTo>
                    <a:pt x="1646809" y="737108"/>
                    <a:pt x="1543050" y="814070"/>
                    <a:pt x="1443101" y="896112"/>
                  </a:cubicBezTo>
                  <a:cubicBezTo>
                    <a:pt x="1343152" y="978154"/>
                    <a:pt x="1247521" y="1064895"/>
                    <a:pt x="1156081" y="1156208"/>
                  </a:cubicBezTo>
                  <a:cubicBezTo>
                    <a:pt x="1064641" y="1247521"/>
                    <a:pt x="977900" y="1343279"/>
                    <a:pt x="895985" y="1443228"/>
                  </a:cubicBezTo>
                  <a:cubicBezTo>
                    <a:pt x="814070" y="1543177"/>
                    <a:pt x="737108" y="1646936"/>
                    <a:pt x="665226" y="1754378"/>
                  </a:cubicBezTo>
                  <a:cubicBezTo>
                    <a:pt x="593344" y="1861820"/>
                    <a:pt x="527050" y="1972564"/>
                    <a:pt x="466090" y="2086610"/>
                  </a:cubicBezTo>
                  <a:cubicBezTo>
                    <a:pt x="405130" y="2200656"/>
                    <a:pt x="349885" y="2317369"/>
                    <a:pt x="300482" y="2436749"/>
                  </a:cubicBezTo>
                  <a:cubicBezTo>
                    <a:pt x="251079" y="2556129"/>
                    <a:pt x="207518" y="2677795"/>
                    <a:pt x="169926" y="2801493"/>
                  </a:cubicBezTo>
                  <a:cubicBezTo>
                    <a:pt x="132334" y="2925191"/>
                    <a:pt x="100965" y="3050413"/>
                    <a:pt x="75819" y="3177286"/>
                  </a:cubicBezTo>
                  <a:cubicBezTo>
                    <a:pt x="50673" y="3304159"/>
                    <a:pt x="31623" y="3431794"/>
                    <a:pt x="18923" y="3560445"/>
                  </a:cubicBezTo>
                  <a:cubicBezTo>
                    <a:pt x="6223" y="3689096"/>
                    <a:pt x="0" y="3818001"/>
                    <a:pt x="0" y="3947287"/>
                  </a:cubicBezTo>
                  <a:cubicBezTo>
                    <a:pt x="0" y="4076573"/>
                    <a:pt x="6350" y="4205478"/>
                    <a:pt x="19050" y="4334129"/>
                  </a:cubicBezTo>
                  <a:cubicBezTo>
                    <a:pt x="31750" y="4462780"/>
                    <a:pt x="50673" y="4590542"/>
                    <a:pt x="75946" y="4717288"/>
                  </a:cubicBezTo>
                  <a:cubicBezTo>
                    <a:pt x="101219" y="4844034"/>
                    <a:pt x="132588" y="4969383"/>
                    <a:pt x="170053" y="5093081"/>
                  </a:cubicBezTo>
                  <a:cubicBezTo>
                    <a:pt x="207518" y="5216779"/>
                    <a:pt x="251079" y="5338318"/>
                    <a:pt x="300609" y="5457825"/>
                  </a:cubicBezTo>
                  <a:cubicBezTo>
                    <a:pt x="350139" y="5577332"/>
                    <a:pt x="405257" y="5694045"/>
                    <a:pt x="466217" y="5807964"/>
                  </a:cubicBezTo>
                  <a:cubicBezTo>
                    <a:pt x="527177" y="5921883"/>
                    <a:pt x="593598" y="6032754"/>
                    <a:pt x="665353" y="6140196"/>
                  </a:cubicBezTo>
                  <a:cubicBezTo>
                    <a:pt x="691388" y="6179058"/>
                    <a:pt x="718058" y="6217539"/>
                    <a:pt x="745363" y="6255512"/>
                  </a:cubicBezTo>
                  <a:lnTo>
                    <a:pt x="6747383" y="6255512"/>
                  </a:lnTo>
                  <a:lnTo>
                    <a:pt x="6747383" y="1164971"/>
                  </a:lnTo>
                  <a:cubicBezTo>
                    <a:pt x="6744462" y="1162050"/>
                    <a:pt x="6741541" y="1159129"/>
                    <a:pt x="6738620" y="1156208"/>
                  </a:cubicBezTo>
                  <a:cubicBezTo>
                    <a:pt x="6647180" y="1064768"/>
                    <a:pt x="6551549" y="978027"/>
                    <a:pt x="6451600" y="896112"/>
                  </a:cubicBezTo>
                  <a:cubicBezTo>
                    <a:pt x="6351651" y="814197"/>
                    <a:pt x="6247892" y="737235"/>
                    <a:pt x="6140450" y="665353"/>
                  </a:cubicBezTo>
                  <a:cubicBezTo>
                    <a:pt x="6033008" y="593471"/>
                    <a:pt x="5922137" y="527050"/>
                    <a:pt x="5808091" y="466090"/>
                  </a:cubicBezTo>
                  <a:cubicBezTo>
                    <a:pt x="5694045" y="405130"/>
                    <a:pt x="5577332" y="349885"/>
                    <a:pt x="5457952" y="300482"/>
                  </a:cubicBezTo>
                  <a:cubicBezTo>
                    <a:pt x="5338572" y="251079"/>
                    <a:pt x="5216906" y="207518"/>
                    <a:pt x="5093208" y="169926"/>
                  </a:cubicBezTo>
                  <a:cubicBezTo>
                    <a:pt x="4969510" y="132334"/>
                    <a:pt x="4844288" y="100965"/>
                    <a:pt x="4717415" y="75819"/>
                  </a:cubicBezTo>
                  <a:cubicBezTo>
                    <a:pt x="4590542" y="50673"/>
                    <a:pt x="4462907" y="31623"/>
                    <a:pt x="4334256" y="18923"/>
                  </a:cubicBezTo>
                  <a:cubicBezTo>
                    <a:pt x="4205605" y="6223"/>
                    <a:pt x="4076573" y="0"/>
                    <a:pt x="3947287" y="0"/>
                  </a:cubicBezTo>
                  <a:close/>
                </a:path>
              </a:pathLst>
            </a:custGeom>
            <a:blipFill>
              <a:blip r:embed="rId7"/>
              <a:stretch>
                <a:fillRect l="-26437" r="-43484" b="-26261"/>
              </a:stretch>
            </a:blipFill>
          </p:spPr>
        </p:sp>
      </p:grpSp>
      <p:sp>
        <p:nvSpPr>
          <p:cNvPr id="11" name="TextBox 11"/>
          <p:cNvSpPr txBox="1"/>
          <p:nvPr/>
        </p:nvSpPr>
        <p:spPr>
          <a:xfrm>
            <a:off x="590952" y="2286544"/>
            <a:ext cx="10788168" cy="5428412"/>
          </a:xfrm>
          <a:prstGeom prst="rect">
            <a:avLst/>
          </a:prstGeom>
        </p:spPr>
        <p:txBody>
          <a:bodyPr lIns="0" tIns="0" rIns="0" bIns="0" rtlCol="0" anchor="t">
            <a:spAutoFit/>
          </a:bodyPr>
          <a:lstStyle/>
          <a:p>
            <a:pPr algn="just">
              <a:lnSpc>
                <a:spcPts val="2316"/>
              </a:lnSpc>
            </a:pPr>
            <a:r>
              <a:rPr lang="en-US" sz="1800">
                <a:solidFill>
                  <a:srgbClr val="000000"/>
                </a:solidFill>
                <a:latin typeface="Montserrat"/>
                <a:ea typeface="Montserrat"/>
                <a:cs typeface="Montserrat"/>
                <a:sym typeface="Montserrat"/>
              </a:rPr>
              <a:t>Berdasarkan hasil analisis data pada platform Disney+, diketahui bahwa perilisan konten didominasi oleh Movie dibandingkan TV Show, dengan jumlah yang lebih tinggi di hampir setiap periode. Pola perilisan konten menunjukkan adanya peningkatan pada waktu tertentu, khususnya pada bulan November, serta perubahan jumlah konten dari tahun ke tahun.</a:t>
            </a:r>
          </a:p>
          <a:p>
            <a:pPr algn="just">
              <a:lnSpc>
                <a:spcPts val="2316"/>
              </a:lnSpc>
            </a:pPr>
            <a:endParaRPr lang="en-US" sz="1800">
              <a:solidFill>
                <a:srgbClr val="000000"/>
              </a:solidFill>
              <a:latin typeface="Montserrat"/>
              <a:ea typeface="Montserrat"/>
              <a:cs typeface="Montserrat"/>
              <a:sym typeface="Montserrat"/>
            </a:endParaRPr>
          </a:p>
          <a:p>
            <a:pPr algn="just">
              <a:lnSpc>
                <a:spcPts val="2316"/>
              </a:lnSpc>
            </a:pPr>
            <a:r>
              <a:rPr lang="en-US" sz="1800">
                <a:solidFill>
                  <a:srgbClr val="000000"/>
                </a:solidFill>
                <a:latin typeface="Montserrat"/>
                <a:ea typeface="Montserrat"/>
                <a:cs typeface="Montserrat"/>
                <a:sym typeface="Montserrat"/>
              </a:rPr>
              <a:t>Selain itu, genre yang paling dominan adalah Family, diikuti oleh Animation dan Comedy, yang menunjukkan fokus Disney+ pada konten ramah keluarga. Dari sisi geografis, keterlibatan konten masih didominasi oleh United States, sehingga variasi negara produksi masih dapat dikembangkan.</a:t>
            </a:r>
          </a:p>
          <a:p>
            <a:pPr algn="just">
              <a:lnSpc>
                <a:spcPts val="2316"/>
              </a:lnSpc>
            </a:pPr>
            <a:endParaRPr lang="en-US" sz="1800">
              <a:solidFill>
                <a:srgbClr val="000000"/>
              </a:solidFill>
              <a:latin typeface="Montserrat"/>
              <a:ea typeface="Montserrat"/>
              <a:cs typeface="Montserrat"/>
              <a:sym typeface="Montserrat"/>
            </a:endParaRPr>
          </a:p>
          <a:p>
            <a:pPr algn="just">
              <a:lnSpc>
                <a:spcPts val="2316"/>
              </a:lnSpc>
            </a:pPr>
            <a:r>
              <a:rPr lang="en-US" sz="1800">
                <a:solidFill>
                  <a:srgbClr val="000000"/>
                </a:solidFill>
                <a:latin typeface="Montserrat"/>
                <a:ea typeface="Montserrat"/>
                <a:cs typeface="Montserrat"/>
                <a:sym typeface="Montserrat"/>
              </a:rPr>
              <a:t>Hasil analisis statistik deskriptif menunjukkan bahwa jumlah konten per tahun memiliki variasi yang cukup besar dan tidak konsisten, sedangkan hasil uji inferensial menunjukkan adanya hubungan antara tahun perilisan dan jenis konten.</a:t>
            </a:r>
          </a:p>
          <a:p>
            <a:pPr algn="just">
              <a:lnSpc>
                <a:spcPts val="2316"/>
              </a:lnSpc>
            </a:pPr>
            <a:endParaRPr lang="en-US" sz="1800">
              <a:solidFill>
                <a:srgbClr val="000000"/>
              </a:solidFill>
              <a:latin typeface="Montserrat"/>
              <a:ea typeface="Montserrat"/>
              <a:cs typeface="Montserrat"/>
              <a:sym typeface="Montserrat"/>
            </a:endParaRPr>
          </a:p>
          <a:p>
            <a:pPr algn="just">
              <a:lnSpc>
                <a:spcPts val="2316"/>
              </a:lnSpc>
            </a:pPr>
            <a:r>
              <a:rPr lang="en-US" sz="1800">
                <a:solidFill>
                  <a:srgbClr val="000000"/>
                </a:solidFill>
                <a:latin typeface="Montserrat"/>
                <a:ea typeface="Montserrat"/>
                <a:cs typeface="Montserrat"/>
                <a:sym typeface="Montserrat"/>
              </a:rPr>
              <a:t>Oleh karena itu, Disney+ dapat mengoptimalkan strategi perilisan konten dengan menyesuaikan waktu rilis, meningkatkan variasi genre dan negara produksi, serta menjaga keseimbangan antara Movie dan TV Show agar pengguna tetap aktif dan tertarik dalam jangka panjang.</a:t>
            </a:r>
          </a:p>
          <a:p>
            <a:pPr algn="just">
              <a:lnSpc>
                <a:spcPts val="2316"/>
              </a:lnSpc>
            </a:pPr>
            <a:endParaRPr lang="en-US" sz="1800">
              <a:solidFill>
                <a:srgbClr val="000000"/>
              </a:solidFill>
              <a:latin typeface="Montserrat"/>
              <a:ea typeface="Montserrat"/>
              <a:cs typeface="Montserrat"/>
              <a:sym typeface="Montserrat"/>
            </a:endParaRPr>
          </a:p>
        </p:txBody>
      </p:sp>
      <p:sp>
        <p:nvSpPr>
          <p:cNvPr id="12" name="TextBox 12"/>
          <p:cNvSpPr txBox="1"/>
          <p:nvPr/>
        </p:nvSpPr>
        <p:spPr>
          <a:xfrm>
            <a:off x="590952" y="1224562"/>
            <a:ext cx="9293268" cy="627174"/>
          </a:xfrm>
          <a:prstGeom prst="rect">
            <a:avLst/>
          </a:prstGeom>
        </p:spPr>
        <p:txBody>
          <a:bodyPr lIns="0" tIns="0" rIns="0" bIns="0" rtlCol="0" anchor="t">
            <a:spAutoFit/>
          </a:bodyPr>
          <a:lstStyle/>
          <a:p>
            <a:pPr algn="l">
              <a:lnSpc>
                <a:spcPts val="5162"/>
              </a:lnSpc>
            </a:pPr>
            <a:r>
              <a:rPr lang="en-US" sz="3687" b="1">
                <a:solidFill>
                  <a:srgbClr val="00357B"/>
                </a:solidFill>
                <a:latin typeface="Montserrat Bold"/>
                <a:ea typeface="Montserrat Bold"/>
                <a:cs typeface="Montserrat Bold"/>
                <a:sym typeface="Montserrat Bold"/>
              </a:rPr>
              <a:t>Conclusion And Recommendation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60120"/>
            <a:ext cx="18288000" cy="12211050"/>
            <a:chOff x="0" y="0"/>
            <a:chExt cx="24384000" cy="16281400"/>
          </a:xfrm>
        </p:grpSpPr>
        <p:sp>
          <p:nvSpPr>
            <p:cNvPr id="3" name="Freeform 3"/>
            <p:cNvSpPr/>
            <p:nvPr/>
          </p:nvSpPr>
          <p:spPr>
            <a:xfrm>
              <a:off x="0" y="0"/>
              <a:ext cx="24384000" cy="16281400"/>
            </a:xfrm>
            <a:custGeom>
              <a:avLst/>
              <a:gdLst/>
              <a:ahLst/>
              <a:cxnLst/>
              <a:rect l="l" t="t" r="r" b="b"/>
              <a:pathLst>
                <a:path w="24384000" h="16281400">
                  <a:moveTo>
                    <a:pt x="0" y="0"/>
                  </a:moveTo>
                  <a:lnTo>
                    <a:pt x="24384000" y="0"/>
                  </a:lnTo>
                  <a:lnTo>
                    <a:pt x="24384000" y="16281400"/>
                  </a:lnTo>
                  <a:lnTo>
                    <a:pt x="0" y="16281400"/>
                  </a:lnTo>
                  <a:lnTo>
                    <a:pt x="0" y="0"/>
                  </a:lnTo>
                  <a:close/>
                </a:path>
              </a:pathLst>
            </a:custGeom>
            <a:blipFill>
              <a:blip r:embed="rId2">
                <a:alphaModFix amt="9000"/>
              </a:blip>
              <a:stretch>
                <a:fillRect/>
              </a:stretch>
            </a:blipFill>
          </p:spPr>
        </p:sp>
      </p:grpSp>
      <p:sp>
        <p:nvSpPr>
          <p:cNvPr id="4" name="Freeform 4"/>
          <p:cNvSpPr/>
          <p:nvPr/>
        </p:nvSpPr>
        <p:spPr>
          <a:xfrm>
            <a:off x="-63503" y="362741"/>
            <a:ext cx="18418045" cy="9428055"/>
          </a:xfrm>
          <a:custGeom>
            <a:avLst/>
            <a:gdLst/>
            <a:ahLst/>
            <a:cxnLst/>
            <a:rect l="l" t="t" r="r" b="b"/>
            <a:pathLst>
              <a:path w="18418045" h="9428055">
                <a:moveTo>
                  <a:pt x="0" y="0"/>
                </a:moveTo>
                <a:lnTo>
                  <a:pt x="18418045" y="0"/>
                </a:lnTo>
                <a:lnTo>
                  <a:pt x="18418045" y="9428054"/>
                </a:lnTo>
                <a:lnTo>
                  <a:pt x="0" y="9428054"/>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2014111" y="1592780"/>
            <a:ext cx="6273889" cy="6967976"/>
            <a:chOff x="0" y="0"/>
            <a:chExt cx="8365185" cy="9290634"/>
          </a:xfrm>
        </p:grpSpPr>
        <p:sp>
          <p:nvSpPr>
            <p:cNvPr id="6" name="Freeform 6"/>
            <p:cNvSpPr/>
            <p:nvPr/>
          </p:nvSpPr>
          <p:spPr>
            <a:xfrm>
              <a:off x="0" y="0"/>
              <a:ext cx="8365363" cy="9290685"/>
            </a:xfrm>
            <a:custGeom>
              <a:avLst/>
              <a:gdLst/>
              <a:ahLst/>
              <a:cxnLst/>
              <a:rect l="l" t="t" r="r" b="b"/>
              <a:pathLst>
                <a:path w="8365363" h="9290685">
                  <a:moveTo>
                    <a:pt x="4645279" y="0"/>
                  </a:moveTo>
                  <a:cubicBezTo>
                    <a:pt x="4569206" y="0"/>
                    <a:pt x="4493260" y="1905"/>
                    <a:pt x="4417314" y="5588"/>
                  </a:cubicBezTo>
                  <a:cubicBezTo>
                    <a:pt x="4341368" y="9271"/>
                    <a:pt x="4265549" y="14859"/>
                    <a:pt x="4189984" y="22352"/>
                  </a:cubicBezTo>
                  <a:cubicBezTo>
                    <a:pt x="4114419" y="29845"/>
                    <a:pt x="4038854" y="39116"/>
                    <a:pt x="3963670" y="50292"/>
                  </a:cubicBezTo>
                  <a:cubicBezTo>
                    <a:pt x="3888486" y="61468"/>
                    <a:pt x="3813556" y="74422"/>
                    <a:pt x="3739007" y="89281"/>
                  </a:cubicBezTo>
                  <a:cubicBezTo>
                    <a:pt x="3664458" y="104140"/>
                    <a:pt x="3590290" y="120777"/>
                    <a:pt x="3516503" y="139192"/>
                  </a:cubicBezTo>
                  <a:cubicBezTo>
                    <a:pt x="3442716" y="157607"/>
                    <a:pt x="3369564" y="177927"/>
                    <a:pt x="3296793" y="200025"/>
                  </a:cubicBezTo>
                  <a:cubicBezTo>
                    <a:pt x="3224022" y="222123"/>
                    <a:pt x="3151886" y="245872"/>
                    <a:pt x="3080258" y="271526"/>
                  </a:cubicBezTo>
                  <a:cubicBezTo>
                    <a:pt x="3008630" y="297180"/>
                    <a:pt x="2937764" y="324485"/>
                    <a:pt x="2867533" y="353568"/>
                  </a:cubicBezTo>
                  <a:cubicBezTo>
                    <a:pt x="2797302" y="382651"/>
                    <a:pt x="2727833" y="413512"/>
                    <a:pt x="2659126" y="446024"/>
                  </a:cubicBezTo>
                  <a:cubicBezTo>
                    <a:pt x="2590419" y="478536"/>
                    <a:pt x="2522474" y="512699"/>
                    <a:pt x="2455418" y="548513"/>
                  </a:cubicBezTo>
                  <a:cubicBezTo>
                    <a:pt x="2388362" y="584327"/>
                    <a:pt x="2322195" y="621792"/>
                    <a:pt x="2257044" y="660908"/>
                  </a:cubicBezTo>
                  <a:cubicBezTo>
                    <a:pt x="2191893" y="700024"/>
                    <a:pt x="2127631" y="740664"/>
                    <a:pt x="2064385" y="782828"/>
                  </a:cubicBezTo>
                  <a:cubicBezTo>
                    <a:pt x="2001139" y="824992"/>
                    <a:pt x="1939036" y="868807"/>
                    <a:pt x="1877949" y="914146"/>
                  </a:cubicBezTo>
                  <a:cubicBezTo>
                    <a:pt x="1816862" y="959485"/>
                    <a:pt x="1756918" y="1006221"/>
                    <a:pt x="1698244" y="1054481"/>
                  </a:cubicBezTo>
                  <a:cubicBezTo>
                    <a:pt x="1639570" y="1102741"/>
                    <a:pt x="1581912" y="1152398"/>
                    <a:pt x="1525651" y="1203452"/>
                  </a:cubicBezTo>
                  <a:cubicBezTo>
                    <a:pt x="1469390" y="1254506"/>
                    <a:pt x="1414272" y="1306957"/>
                    <a:pt x="1360551" y="1360678"/>
                  </a:cubicBezTo>
                  <a:cubicBezTo>
                    <a:pt x="1306830" y="1414399"/>
                    <a:pt x="1254379" y="1469517"/>
                    <a:pt x="1203325" y="1525778"/>
                  </a:cubicBezTo>
                  <a:cubicBezTo>
                    <a:pt x="1152271" y="1582039"/>
                    <a:pt x="1102614" y="1639697"/>
                    <a:pt x="1054354" y="1698371"/>
                  </a:cubicBezTo>
                  <a:cubicBezTo>
                    <a:pt x="1006094" y="1757045"/>
                    <a:pt x="959358" y="1817116"/>
                    <a:pt x="914019" y="1878076"/>
                  </a:cubicBezTo>
                  <a:cubicBezTo>
                    <a:pt x="868680" y="1939036"/>
                    <a:pt x="824992" y="2001266"/>
                    <a:pt x="782701" y="2064512"/>
                  </a:cubicBezTo>
                  <a:cubicBezTo>
                    <a:pt x="740410" y="2127758"/>
                    <a:pt x="699770" y="2191893"/>
                    <a:pt x="660781" y="2257171"/>
                  </a:cubicBezTo>
                  <a:cubicBezTo>
                    <a:pt x="621792" y="2322449"/>
                    <a:pt x="584200" y="2388489"/>
                    <a:pt x="548386" y="2455545"/>
                  </a:cubicBezTo>
                  <a:cubicBezTo>
                    <a:pt x="512572" y="2522601"/>
                    <a:pt x="478409" y="2590419"/>
                    <a:pt x="445897" y="2659253"/>
                  </a:cubicBezTo>
                  <a:cubicBezTo>
                    <a:pt x="413385" y="2728087"/>
                    <a:pt x="382651" y="2797429"/>
                    <a:pt x="353441" y="2867660"/>
                  </a:cubicBezTo>
                  <a:cubicBezTo>
                    <a:pt x="324231" y="2937891"/>
                    <a:pt x="297053" y="3008757"/>
                    <a:pt x="271399" y="3080385"/>
                  </a:cubicBezTo>
                  <a:cubicBezTo>
                    <a:pt x="245745" y="3152013"/>
                    <a:pt x="221996" y="3224149"/>
                    <a:pt x="199898" y="3296920"/>
                  </a:cubicBezTo>
                  <a:cubicBezTo>
                    <a:pt x="177800" y="3369691"/>
                    <a:pt x="157607" y="3442970"/>
                    <a:pt x="139065" y="3516630"/>
                  </a:cubicBezTo>
                  <a:cubicBezTo>
                    <a:pt x="120523" y="3590290"/>
                    <a:pt x="103886" y="3664585"/>
                    <a:pt x="89154" y="3739134"/>
                  </a:cubicBezTo>
                  <a:cubicBezTo>
                    <a:pt x="74422" y="3813683"/>
                    <a:pt x="61341" y="3888613"/>
                    <a:pt x="50165" y="3963797"/>
                  </a:cubicBezTo>
                  <a:cubicBezTo>
                    <a:pt x="38989" y="4038981"/>
                    <a:pt x="29718" y="4114419"/>
                    <a:pt x="22225" y="4190111"/>
                  </a:cubicBezTo>
                  <a:cubicBezTo>
                    <a:pt x="14732" y="4265803"/>
                    <a:pt x="9271" y="4341495"/>
                    <a:pt x="5588" y="4417441"/>
                  </a:cubicBezTo>
                  <a:cubicBezTo>
                    <a:pt x="1905" y="4493387"/>
                    <a:pt x="0" y="4569333"/>
                    <a:pt x="0" y="4645279"/>
                  </a:cubicBezTo>
                  <a:cubicBezTo>
                    <a:pt x="0" y="4721225"/>
                    <a:pt x="1905" y="4797298"/>
                    <a:pt x="5588" y="4873244"/>
                  </a:cubicBezTo>
                  <a:cubicBezTo>
                    <a:pt x="9271" y="4949190"/>
                    <a:pt x="14859" y="5025009"/>
                    <a:pt x="22352" y="5100574"/>
                  </a:cubicBezTo>
                  <a:cubicBezTo>
                    <a:pt x="29845" y="5176139"/>
                    <a:pt x="39116" y="5251704"/>
                    <a:pt x="50292" y="5326888"/>
                  </a:cubicBezTo>
                  <a:cubicBezTo>
                    <a:pt x="61468" y="5402072"/>
                    <a:pt x="74422" y="5477002"/>
                    <a:pt x="89281" y="5551551"/>
                  </a:cubicBezTo>
                  <a:cubicBezTo>
                    <a:pt x="104140" y="5626100"/>
                    <a:pt x="120777" y="5700268"/>
                    <a:pt x="139192" y="5774055"/>
                  </a:cubicBezTo>
                  <a:cubicBezTo>
                    <a:pt x="157607" y="5847842"/>
                    <a:pt x="177927" y="5920994"/>
                    <a:pt x="200025" y="5993765"/>
                  </a:cubicBezTo>
                  <a:cubicBezTo>
                    <a:pt x="222123" y="6066536"/>
                    <a:pt x="245872" y="6138672"/>
                    <a:pt x="271526" y="6210300"/>
                  </a:cubicBezTo>
                  <a:cubicBezTo>
                    <a:pt x="297180" y="6281928"/>
                    <a:pt x="324485" y="6352794"/>
                    <a:pt x="353568" y="6423025"/>
                  </a:cubicBezTo>
                  <a:cubicBezTo>
                    <a:pt x="382651" y="6493256"/>
                    <a:pt x="413512" y="6562725"/>
                    <a:pt x="446024" y="6631432"/>
                  </a:cubicBezTo>
                  <a:cubicBezTo>
                    <a:pt x="478536" y="6700139"/>
                    <a:pt x="512699" y="6768084"/>
                    <a:pt x="548513" y="6835140"/>
                  </a:cubicBezTo>
                  <a:cubicBezTo>
                    <a:pt x="584327" y="6902196"/>
                    <a:pt x="621792" y="6968363"/>
                    <a:pt x="660908" y="7033514"/>
                  </a:cubicBezTo>
                  <a:cubicBezTo>
                    <a:pt x="700024" y="7098665"/>
                    <a:pt x="740664" y="7162927"/>
                    <a:pt x="782828" y="7226173"/>
                  </a:cubicBezTo>
                  <a:cubicBezTo>
                    <a:pt x="824992" y="7289419"/>
                    <a:pt x="868807" y="7351522"/>
                    <a:pt x="914146" y="7412609"/>
                  </a:cubicBezTo>
                  <a:cubicBezTo>
                    <a:pt x="959485" y="7473696"/>
                    <a:pt x="1006221" y="7533640"/>
                    <a:pt x="1054481" y="7592314"/>
                  </a:cubicBezTo>
                  <a:cubicBezTo>
                    <a:pt x="1102741" y="7650988"/>
                    <a:pt x="1152398" y="7708646"/>
                    <a:pt x="1203452" y="7764907"/>
                  </a:cubicBezTo>
                  <a:cubicBezTo>
                    <a:pt x="1254506" y="7821168"/>
                    <a:pt x="1306957" y="7876286"/>
                    <a:pt x="1360678" y="7930007"/>
                  </a:cubicBezTo>
                  <a:cubicBezTo>
                    <a:pt x="1414399" y="7983728"/>
                    <a:pt x="1469517" y="8036179"/>
                    <a:pt x="1525778" y="8087233"/>
                  </a:cubicBezTo>
                  <a:cubicBezTo>
                    <a:pt x="1582039" y="8138287"/>
                    <a:pt x="1639697" y="8187944"/>
                    <a:pt x="1698371" y="8236204"/>
                  </a:cubicBezTo>
                  <a:cubicBezTo>
                    <a:pt x="1757045" y="8284464"/>
                    <a:pt x="1816989" y="8331200"/>
                    <a:pt x="1878076" y="8376539"/>
                  </a:cubicBezTo>
                  <a:cubicBezTo>
                    <a:pt x="1939163" y="8421878"/>
                    <a:pt x="2001266" y="8465566"/>
                    <a:pt x="2064512" y="8507857"/>
                  </a:cubicBezTo>
                  <a:cubicBezTo>
                    <a:pt x="2127758" y="8550148"/>
                    <a:pt x="2191893" y="8590788"/>
                    <a:pt x="2257171" y="8629777"/>
                  </a:cubicBezTo>
                  <a:cubicBezTo>
                    <a:pt x="2322449" y="8668766"/>
                    <a:pt x="2388489" y="8706358"/>
                    <a:pt x="2455545" y="8742172"/>
                  </a:cubicBezTo>
                  <a:cubicBezTo>
                    <a:pt x="2522601" y="8777986"/>
                    <a:pt x="2590419" y="8812149"/>
                    <a:pt x="2659253" y="8844661"/>
                  </a:cubicBezTo>
                  <a:cubicBezTo>
                    <a:pt x="2728087" y="8877173"/>
                    <a:pt x="2797429" y="8907907"/>
                    <a:pt x="2867660" y="8937117"/>
                  </a:cubicBezTo>
                  <a:cubicBezTo>
                    <a:pt x="2937891" y="8966327"/>
                    <a:pt x="3008757" y="8993505"/>
                    <a:pt x="3080385" y="9019159"/>
                  </a:cubicBezTo>
                  <a:cubicBezTo>
                    <a:pt x="3152013" y="9044813"/>
                    <a:pt x="3224149" y="9068562"/>
                    <a:pt x="3296920" y="9090660"/>
                  </a:cubicBezTo>
                  <a:cubicBezTo>
                    <a:pt x="3369691" y="9112758"/>
                    <a:pt x="3442970" y="9132951"/>
                    <a:pt x="3516630" y="9151493"/>
                  </a:cubicBezTo>
                  <a:cubicBezTo>
                    <a:pt x="3590290" y="9170035"/>
                    <a:pt x="3664585" y="9186672"/>
                    <a:pt x="3739134" y="9201404"/>
                  </a:cubicBezTo>
                  <a:cubicBezTo>
                    <a:pt x="3813683" y="9216136"/>
                    <a:pt x="3888613" y="9229217"/>
                    <a:pt x="3963797" y="9240393"/>
                  </a:cubicBezTo>
                  <a:cubicBezTo>
                    <a:pt x="4038981" y="9251569"/>
                    <a:pt x="4114419" y="9260840"/>
                    <a:pt x="4190111" y="9268333"/>
                  </a:cubicBezTo>
                  <a:cubicBezTo>
                    <a:pt x="4265803" y="9275826"/>
                    <a:pt x="4341622" y="9281414"/>
                    <a:pt x="4417441" y="9285097"/>
                  </a:cubicBezTo>
                  <a:cubicBezTo>
                    <a:pt x="4493260" y="9288780"/>
                    <a:pt x="4569333" y="9290685"/>
                    <a:pt x="4645406" y="9290685"/>
                  </a:cubicBezTo>
                  <a:cubicBezTo>
                    <a:pt x="4721479" y="9290685"/>
                    <a:pt x="4797425" y="9288780"/>
                    <a:pt x="4873371" y="9285097"/>
                  </a:cubicBezTo>
                  <a:cubicBezTo>
                    <a:pt x="4949317" y="9281414"/>
                    <a:pt x="5025136" y="9275826"/>
                    <a:pt x="5100701" y="9268333"/>
                  </a:cubicBezTo>
                  <a:cubicBezTo>
                    <a:pt x="5176266" y="9260840"/>
                    <a:pt x="5251831" y="9251569"/>
                    <a:pt x="5327015" y="9240393"/>
                  </a:cubicBezTo>
                  <a:cubicBezTo>
                    <a:pt x="5402199" y="9229217"/>
                    <a:pt x="5477129" y="9216263"/>
                    <a:pt x="5551678" y="9201404"/>
                  </a:cubicBezTo>
                  <a:cubicBezTo>
                    <a:pt x="5626227" y="9186545"/>
                    <a:pt x="5700395" y="9169908"/>
                    <a:pt x="5774182" y="9151493"/>
                  </a:cubicBezTo>
                  <a:cubicBezTo>
                    <a:pt x="5847969" y="9133078"/>
                    <a:pt x="5921121" y="9112758"/>
                    <a:pt x="5993892" y="9090660"/>
                  </a:cubicBezTo>
                  <a:cubicBezTo>
                    <a:pt x="6066663" y="9068562"/>
                    <a:pt x="6138799" y="9044813"/>
                    <a:pt x="6210427" y="9019159"/>
                  </a:cubicBezTo>
                  <a:cubicBezTo>
                    <a:pt x="6282055" y="8993505"/>
                    <a:pt x="6352921" y="8966200"/>
                    <a:pt x="6423152" y="8937117"/>
                  </a:cubicBezTo>
                  <a:cubicBezTo>
                    <a:pt x="6493383" y="8908034"/>
                    <a:pt x="6562852" y="8877173"/>
                    <a:pt x="6631559" y="8844661"/>
                  </a:cubicBezTo>
                  <a:cubicBezTo>
                    <a:pt x="6700266" y="8812149"/>
                    <a:pt x="6768211" y="8777986"/>
                    <a:pt x="6835267" y="8742172"/>
                  </a:cubicBezTo>
                  <a:cubicBezTo>
                    <a:pt x="6902323" y="8706358"/>
                    <a:pt x="6968490" y="8668893"/>
                    <a:pt x="7033641" y="8629777"/>
                  </a:cubicBezTo>
                  <a:cubicBezTo>
                    <a:pt x="7098792" y="8590661"/>
                    <a:pt x="7163054" y="8550021"/>
                    <a:pt x="7226300" y="8507857"/>
                  </a:cubicBezTo>
                  <a:cubicBezTo>
                    <a:pt x="7289546" y="8465693"/>
                    <a:pt x="7351649" y="8421878"/>
                    <a:pt x="7412736" y="8376539"/>
                  </a:cubicBezTo>
                  <a:cubicBezTo>
                    <a:pt x="7473823" y="8331200"/>
                    <a:pt x="7533767" y="8284464"/>
                    <a:pt x="7592441" y="8236204"/>
                  </a:cubicBezTo>
                  <a:cubicBezTo>
                    <a:pt x="7651115" y="8187944"/>
                    <a:pt x="7708773" y="8138287"/>
                    <a:pt x="7765034" y="8087233"/>
                  </a:cubicBezTo>
                  <a:cubicBezTo>
                    <a:pt x="7821295" y="8036179"/>
                    <a:pt x="7876413" y="7983728"/>
                    <a:pt x="7930134" y="7930007"/>
                  </a:cubicBezTo>
                  <a:cubicBezTo>
                    <a:pt x="7983855" y="7876286"/>
                    <a:pt x="8036306" y="7821168"/>
                    <a:pt x="8087360" y="7764907"/>
                  </a:cubicBezTo>
                  <a:cubicBezTo>
                    <a:pt x="8138414" y="7708646"/>
                    <a:pt x="8188071" y="7650988"/>
                    <a:pt x="8236331" y="7592314"/>
                  </a:cubicBezTo>
                  <a:cubicBezTo>
                    <a:pt x="8280527" y="7538466"/>
                    <a:pt x="8323580" y="7483602"/>
                    <a:pt x="8365363" y="7427722"/>
                  </a:cubicBezTo>
                  <a:lnTo>
                    <a:pt x="8365363" y="1862963"/>
                  </a:lnTo>
                  <a:cubicBezTo>
                    <a:pt x="8323580" y="1807083"/>
                    <a:pt x="8280654" y="1752219"/>
                    <a:pt x="8236331" y="1698371"/>
                  </a:cubicBezTo>
                  <a:cubicBezTo>
                    <a:pt x="8188071" y="1639570"/>
                    <a:pt x="8138414" y="1582039"/>
                    <a:pt x="8087360" y="1525778"/>
                  </a:cubicBezTo>
                  <a:cubicBezTo>
                    <a:pt x="8036306" y="1469517"/>
                    <a:pt x="7983855" y="1414399"/>
                    <a:pt x="7930134" y="1360678"/>
                  </a:cubicBezTo>
                  <a:cubicBezTo>
                    <a:pt x="7876413" y="1306957"/>
                    <a:pt x="7821295" y="1254506"/>
                    <a:pt x="7765034" y="1203452"/>
                  </a:cubicBezTo>
                  <a:cubicBezTo>
                    <a:pt x="7708773" y="1152398"/>
                    <a:pt x="7651115" y="1102741"/>
                    <a:pt x="7592441" y="1054481"/>
                  </a:cubicBezTo>
                  <a:cubicBezTo>
                    <a:pt x="7533767" y="1006221"/>
                    <a:pt x="7473696" y="959485"/>
                    <a:pt x="7412736" y="914146"/>
                  </a:cubicBezTo>
                  <a:cubicBezTo>
                    <a:pt x="7351776" y="868807"/>
                    <a:pt x="7289546" y="825119"/>
                    <a:pt x="7226300" y="782828"/>
                  </a:cubicBezTo>
                  <a:cubicBezTo>
                    <a:pt x="7163054" y="740537"/>
                    <a:pt x="7098919" y="699897"/>
                    <a:pt x="7033641" y="660908"/>
                  </a:cubicBezTo>
                  <a:cubicBezTo>
                    <a:pt x="6968363" y="621919"/>
                    <a:pt x="6902323" y="584327"/>
                    <a:pt x="6835267" y="548513"/>
                  </a:cubicBezTo>
                  <a:cubicBezTo>
                    <a:pt x="6768211" y="512699"/>
                    <a:pt x="6700393" y="478536"/>
                    <a:pt x="6631559" y="446024"/>
                  </a:cubicBezTo>
                  <a:cubicBezTo>
                    <a:pt x="6562725" y="413512"/>
                    <a:pt x="6493383" y="382778"/>
                    <a:pt x="6423152" y="353568"/>
                  </a:cubicBezTo>
                  <a:cubicBezTo>
                    <a:pt x="6352921" y="324358"/>
                    <a:pt x="6281801" y="297180"/>
                    <a:pt x="6210300" y="271526"/>
                  </a:cubicBezTo>
                  <a:cubicBezTo>
                    <a:pt x="6138799" y="245872"/>
                    <a:pt x="6066536" y="222123"/>
                    <a:pt x="5993765" y="200025"/>
                  </a:cubicBezTo>
                  <a:cubicBezTo>
                    <a:pt x="5920994" y="177927"/>
                    <a:pt x="5847715" y="157734"/>
                    <a:pt x="5774055" y="139192"/>
                  </a:cubicBezTo>
                  <a:cubicBezTo>
                    <a:pt x="5700395" y="120650"/>
                    <a:pt x="5626100" y="104140"/>
                    <a:pt x="5551551" y="89281"/>
                  </a:cubicBezTo>
                  <a:cubicBezTo>
                    <a:pt x="5477002" y="74422"/>
                    <a:pt x="5402072" y="61468"/>
                    <a:pt x="5326888" y="50292"/>
                  </a:cubicBezTo>
                  <a:cubicBezTo>
                    <a:pt x="5251704" y="39116"/>
                    <a:pt x="5176266" y="29845"/>
                    <a:pt x="5100574" y="22352"/>
                  </a:cubicBezTo>
                  <a:cubicBezTo>
                    <a:pt x="5024882" y="14859"/>
                    <a:pt x="4949190" y="9271"/>
                    <a:pt x="4873244" y="5588"/>
                  </a:cubicBezTo>
                  <a:cubicBezTo>
                    <a:pt x="4797298" y="1905"/>
                    <a:pt x="4721352" y="0"/>
                    <a:pt x="4645279" y="0"/>
                  </a:cubicBezTo>
                  <a:close/>
                </a:path>
              </a:pathLst>
            </a:custGeom>
            <a:blipFill>
              <a:blip r:embed="rId4"/>
              <a:stretch>
                <a:fillRect l="-27817" r="-38850" b="-45"/>
              </a:stretch>
            </a:blipFill>
          </p:spPr>
        </p:sp>
      </p:grpSp>
      <p:sp>
        <p:nvSpPr>
          <p:cNvPr id="7" name="Freeform 7"/>
          <p:cNvSpPr/>
          <p:nvPr/>
        </p:nvSpPr>
        <p:spPr>
          <a:xfrm>
            <a:off x="3451146" y="9727292"/>
            <a:ext cx="751903" cy="562756"/>
          </a:xfrm>
          <a:custGeom>
            <a:avLst/>
            <a:gdLst/>
            <a:ahLst/>
            <a:cxnLst/>
            <a:rect l="l" t="t" r="r" b="b"/>
            <a:pathLst>
              <a:path w="751903" h="562756">
                <a:moveTo>
                  <a:pt x="0" y="0"/>
                </a:moveTo>
                <a:lnTo>
                  <a:pt x="751903" y="0"/>
                </a:lnTo>
                <a:lnTo>
                  <a:pt x="751903" y="562756"/>
                </a:lnTo>
                <a:lnTo>
                  <a:pt x="0" y="56275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3048" y="6508518"/>
            <a:ext cx="6655413" cy="569766"/>
          </a:xfrm>
          <a:custGeom>
            <a:avLst/>
            <a:gdLst/>
            <a:ahLst/>
            <a:cxnLst/>
            <a:rect l="l" t="t" r="r" b="b"/>
            <a:pathLst>
              <a:path w="6655413" h="569766">
                <a:moveTo>
                  <a:pt x="0" y="0"/>
                </a:moveTo>
                <a:lnTo>
                  <a:pt x="6655413" y="0"/>
                </a:lnTo>
                <a:lnTo>
                  <a:pt x="6655413" y="569767"/>
                </a:lnTo>
                <a:lnTo>
                  <a:pt x="0" y="56976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6576231" y="-3048"/>
            <a:ext cx="751904" cy="642204"/>
          </a:xfrm>
          <a:custGeom>
            <a:avLst/>
            <a:gdLst/>
            <a:ahLst/>
            <a:cxnLst/>
            <a:rect l="l" t="t" r="r" b="b"/>
            <a:pathLst>
              <a:path w="751904" h="642204">
                <a:moveTo>
                  <a:pt x="0" y="0"/>
                </a:moveTo>
                <a:lnTo>
                  <a:pt x="751904" y="0"/>
                </a:lnTo>
                <a:lnTo>
                  <a:pt x="751904" y="642204"/>
                </a:lnTo>
                <a:lnTo>
                  <a:pt x="0" y="64220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0" name="Freeform 10"/>
          <p:cNvSpPr/>
          <p:nvPr/>
        </p:nvSpPr>
        <p:spPr>
          <a:xfrm>
            <a:off x="12688233" y="9351340"/>
            <a:ext cx="751903" cy="751904"/>
          </a:xfrm>
          <a:custGeom>
            <a:avLst/>
            <a:gdLst/>
            <a:ahLst/>
            <a:cxnLst/>
            <a:rect l="l" t="t" r="r" b="b"/>
            <a:pathLst>
              <a:path w="751903" h="751904">
                <a:moveTo>
                  <a:pt x="0" y="0"/>
                </a:moveTo>
                <a:lnTo>
                  <a:pt x="751904" y="0"/>
                </a:lnTo>
                <a:lnTo>
                  <a:pt x="751904" y="751904"/>
                </a:lnTo>
                <a:lnTo>
                  <a:pt x="0" y="751904"/>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1189130" y="2835021"/>
            <a:ext cx="8180346" cy="1951549"/>
          </a:xfrm>
          <a:prstGeom prst="rect">
            <a:avLst/>
          </a:prstGeom>
        </p:spPr>
        <p:txBody>
          <a:bodyPr lIns="0" tIns="0" rIns="0" bIns="0" rtlCol="0" anchor="t">
            <a:spAutoFit/>
          </a:bodyPr>
          <a:lstStyle/>
          <a:p>
            <a:pPr algn="l">
              <a:lnSpc>
                <a:spcPts val="15852"/>
              </a:lnSpc>
            </a:pPr>
            <a:r>
              <a:rPr lang="en-US" sz="11323" b="1">
                <a:solidFill>
                  <a:srgbClr val="9CFBED"/>
                </a:solidFill>
                <a:latin typeface="Montserrat Bold"/>
                <a:ea typeface="Montserrat Bold"/>
                <a:cs typeface="Montserrat Bold"/>
                <a:sym typeface="Montserrat Bold"/>
              </a:rPr>
              <a:t>Thank You</a:t>
            </a:r>
          </a:p>
        </p:txBody>
      </p:sp>
      <p:sp>
        <p:nvSpPr>
          <p:cNvPr id="12" name="TextBox 12"/>
          <p:cNvSpPr txBox="1"/>
          <p:nvPr/>
        </p:nvSpPr>
        <p:spPr>
          <a:xfrm>
            <a:off x="2639939" y="4641790"/>
            <a:ext cx="233429" cy="1185691"/>
          </a:xfrm>
          <a:prstGeom prst="rect">
            <a:avLst/>
          </a:prstGeom>
        </p:spPr>
        <p:txBody>
          <a:bodyPr lIns="0" tIns="0" rIns="0" bIns="0" rtlCol="0" anchor="t">
            <a:spAutoFit/>
          </a:bodyPr>
          <a:lstStyle/>
          <a:p>
            <a:pPr algn="l">
              <a:lnSpc>
                <a:spcPts val="9629"/>
              </a:lnSpc>
            </a:pPr>
            <a:r>
              <a:rPr lang="en-US" sz="6877">
                <a:solidFill>
                  <a:srgbClr val="FFFFFF"/>
                </a:solidFill>
                <a:latin typeface="Montserrat"/>
                <a:ea typeface="Montserrat"/>
                <a:cs typeface="Montserrat"/>
                <a:sym typeface="Montserrat"/>
              </a:rPr>
              <a:t> </a:t>
            </a:r>
          </a:p>
        </p:txBody>
      </p:sp>
      <p:sp>
        <p:nvSpPr>
          <p:cNvPr id="13" name="TextBox 13"/>
          <p:cNvSpPr txBox="1"/>
          <p:nvPr/>
        </p:nvSpPr>
        <p:spPr>
          <a:xfrm>
            <a:off x="1189130" y="4641790"/>
            <a:ext cx="8211683" cy="1185691"/>
          </a:xfrm>
          <a:prstGeom prst="rect">
            <a:avLst/>
          </a:prstGeom>
        </p:spPr>
        <p:txBody>
          <a:bodyPr lIns="0" tIns="0" rIns="0" bIns="0" rtlCol="0" anchor="t">
            <a:spAutoFit/>
          </a:bodyPr>
          <a:lstStyle/>
          <a:p>
            <a:pPr algn="l">
              <a:lnSpc>
                <a:spcPts val="9629"/>
              </a:lnSpc>
            </a:pPr>
            <a:r>
              <a:rPr lang="en-US" sz="6877">
                <a:solidFill>
                  <a:srgbClr val="FFFFFF"/>
                </a:solidFill>
                <a:latin typeface="Montserrat"/>
                <a:ea typeface="Montserrat"/>
                <a:cs typeface="Montserrat"/>
                <a:sym typeface="Montserrat"/>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368</TotalTime>
  <Words>1560</Words>
  <Application>Microsoft Office PowerPoint</Application>
  <PresentationFormat>Custom</PresentationFormat>
  <Paragraphs>127</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Nunito Sans Condensed Bold</vt:lpstr>
      <vt:lpstr>Montserrat Bold</vt:lpstr>
      <vt:lpstr>Poppins Bold</vt:lpstr>
      <vt:lpstr>Calibri</vt:lpstr>
      <vt:lpstr>Arimo</vt:lpstr>
      <vt:lpstr>Montserrat</vt:lpstr>
      <vt:lpstr>Cooper Hewitt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Contoh Template Presentasi.pdf</dc:title>
  <cp:lastModifiedBy>Genocider 1</cp:lastModifiedBy>
  <cp:revision>2</cp:revision>
  <dcterms:created xsi:type="dcterms:W3CDTF">2006-08-16T00:00:00Z</dcterms:created>
  <dcterms:modified xsi:type="dcterms:W3CDTF">2026-04-10T18:50:07Z</dcterms:modified>
  <dc:identifier>DAHGcgbfAHA</dc:identifier>
</cp:coreProperties>
</file>